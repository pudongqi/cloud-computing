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5" r:id="rId1"/>
  </p:sldMasterIdLst>
  <p:notesMasterIdLst>
    <p:notesMasterId r:id="rId119"/>
  </p:notesMasterIdLst>
  <p:handoutMasterIdLst>
    <p:handoutMasterId r:id="rId120"/>
  </p:handoutMasterIdLst>
  <p:sldIdLst>
    <p:sldId id="490" r:id="rId2"/>
    <p:sldId id="258" r:id="rId3"/>
    <p:sldId id="491" r:id="rId4"/>
    <p:sldId id="496" r:id="rId5"/>
    <p:sldId id="492" r:id="rId6"/>
    <p:sldId id="493" r:id="rId7"/>
    <p:sldId id="494" r:id="rId8"/>
    <p:sldId id="495" r:id="rId9"/>
    <p:sldId id="559" r:id="rId10"/>
    <p:sldId id="401" r:id="rId11"/>
    <p:sldId id="395" r:id="rId12"/>
    <p:sldId id="568" r:id="rId13"/>
    <p:sldId id="498" r:id="rId14"/>
    <p:sldId id="399" r:id="rId15"/>
    <p:sldId id="499" r:id="rId16"/>
    <p:sldId id="400" r:id="rId17"/>
    <p:sldId id="299" r:id="rId18"/>
    <p:sldId id="658" r:id="rId19"/>
    <p:sldId id="501" r:id="rId20"/>
    <p:sldId id="391" r:id="rId21"/>
    <p:sldId id="502" r:id="rId22"/>
    <p:sldId id="397" r:id="rId23"/>
    <p:sldId id="404" r:id="rId24"/>
    <p:sldId id="409" r:id="rId25"/>
    <p:sldId id="410" r:id="rId26"/>
    <p:sldId id="411" r:id="rId27"/>
    <p:sldId id="412" r:id="rId28"/>
    <p:sldId id="413" r:id="rId29"/>
    <p:sldId id="414" r:id="rId30"/>
    <p:sldId id="419" r:id="rId31"/>
    <p:sldId id="420" r:id="rId32"/>
    <p:sldId id="421" r:id="rId33"/>
    <p:sldId id="423" r:id="rId34"/>
    <p:sldId id="424" r:id="rId35"/>
    <p:sldId id="569" r:id="rId36"/>
    <p:sldId id="441" r:id="rId37"/>
    <p:sldId id="442" r:id="rId38"/>
    <p:sldId id="447" r:id="rId39"/>
    <p:sldId id="504" r:id="rId40"/>
    <p:sldId id="505" r:id="rId41"/>
    <p:sldId id="507" r:id="rId42"/>
    <p:sldId id="560" r:id="rId43"/>
    <p:sldId id="524" r:id="rId44"/>
    <p:sldId id="525" r:id="rId45"/>
    <p:sldId id="526" r:id="rId46"/>
    <p:sldId id="562" r:id="rId47"/>
    <p:sldId id="528" r:id="rId48"/>
    <p:sldId id="529" r:id="rId49"/>
    <p:sldId id="563" r:id="rId50"/>
    <p:sldId id="564" r:id="rId51"/>
    <p:sldId id="565" r:id="rId52"/>
    <p:sldId id="566" r:id="rId53"/>
    <p:sldId id="567" r:id="rId54"/>
    <p:sldId id="570" r:id="rId55"/>
    <p:sldId id="598" r:id="rId56"/>
    <p:sldId id="573" r:id="rId57"/>
    <p:sldId id="572" r:id="rId58"/>
    <p:sldId id="605" r:id="rId59"/>
    <p:sldId id="574" r:id="rId60"/>
    <p:sldId id="601" r:id="rId61"/>
    <p:sldId id="578" r:id="rId62"/>
    <p:sldId id="600" r:id="rId63"/>
    <p:sldId id="576" r:id="rId64"/>
    <p:sldId id="577" r:id="rId65"/>
    <p:sldId id="609" r:id="rId66"/>
    <p:sldId id="611" r:id="rId67"/>
    <p:sldId id="610" r:id="rId68"/>
    <p:sldId id="582" r:id="rId69"/>
    <p:sldId id="583" r:id="rId70"/>
    <p:sldId id="584" r:id="rId71"/>
    <p:sldId id="612" r:id="rId72"/>
    <p:sldId id="613" r:id="rId73"/>
    <p:sldId id="614" r:id="rId74"/>
    <p:sldId id="615" r:id="rId75"/>
    <p:sldId id="652" r:id="rId76"/>
    <p:sldId id="653" r:id="rId77"/>
    <p:sldId id="654" r:id="rId78"/>
    <p:sldId id="655" r:id="rId79"/>
    <p:sldId id="656" r:id="rId80"/>
    <p:sldId id="657" r:id="rId81"/>
    <p:sldId id="588" r:id="rId82"/>
    <p:sldId id="617" r:id="rId83"/>
    <p:sldId id="616" r:id="rId84"/>
    <p:sldId id="618" r:id="rId85"/>
    <p:sldId id="619" r:id="rId86"/>
    <p:sldId id="596" r:id="rId87"/>
    <p:sldId id="659" r:id="rId88"/>
    <p:sldId id="571" r:id="rId89"/>
    <p:sldId id="473" r:id="rId90"/>
    <p:sldId id="459" r:id="rId91"/>
    <p:sldId id="460" r:id="rId92"/>
    <p:sldId id="621" r:id="rId93"/>
    <p:sldId id="623" r:id="rId94"/>
    <p:sldId id="624" r:id="rId95"/>
    <p:sldId id="625" r:id="rId96"/>
    <p:sldId id="626" r:id="rId97"/>
    <p:sldId id="628" r:id="rId98"/>
    <p:sldId id="629" r:id="rId99"/>
    <p:sldId id="630" r:id="rId100"/>
    <p:sldId id="631" r:id="rId101"/>
    <p:sldId id="632" r:id="rId102"/>
    <p:sldId id="651" r:id="rId103"/>
    <p:sldId id="633" r:id="rId104"/>
    <p:sldId id="634" r:id="rId105"/>
    <p:sldId id="635" r:id="rId106"/>
    <p:sldId id="636" r:id="rId107"/>
    <p:sldId id="637" r:id="rId108"/>
    <p:sldId id="638" r:id="rId109"/>
    <p:sldId id="640" r:id="rId110"/>
    <p:sldId id="641" r:id="rId111"/>
    <p:sldId id="643" r:id="rId112"/>
    <p:sldId id="645" r:id="rId113"/>
    <p:sldId id="647" r:id="rId114"/>
    <p:sldId id="648" r:id="rId115"/>
    <p:sldId id="649" r:id="rId116"/>
    <p:sldId id="478" r:id="rId117"/>
    <p:sldId id="650" r:id="rId11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0000"/>
    <a:srgbClr val="FF3300"/>
    <a:srgbClr val="EFF9FF"/>
    <a:srgbClr val="EBFFFE"/>
    <a:srgbClr val="D5E1EF"/>
    <a:srgbClr val="92B1D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4" autoAdjust="0"/>
    <p:restoredTop sz="78885" autoAdjust="0"/>
  </p:normalViewPr>
  <p:slideViewPr>
    <p:cSldViewPr>
      <p:cViewPr>
        <p:scale>
          <a:sx n="66" d="100"/>
          <a:sy n="66" d="100"/>
        </p:scale>
        <p:origin x="2408" y="3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19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20" Type="http://schemas.openxmlformats.org/officeDocument/2006/relationships/handoutMaster" Target="handoutMasters/handoutMaster1.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00" Type="http://schemas.openxmlformats.org/officeDocument/2006/relationships/slide" Target="slides/slide99.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notesMaster" Target="notesMasters/notesMaster1.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zh-CN" altLang="en-US"/>
          </a:p>
        </p:txBody>
      </p:sp>
      <p:sp>
        <p:nvSpPr>
          <p:cNvPr id="8806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B2D3000B-868C-4E86-BFD0-AB35DA4A2654}" type="datetimeFigureOut">
              <a:rPr lang="zh-CN" altLang="en-US"/>
              <a:pPr>
                <a:defRPr/>
              </a:pPr>
              <a:t>2017/10/24</a:t>
            </a:fld>
            <a:endParaRPr lang="en-US" altLang="zh-CN"/>
          </a:p>
        </p:txBody>
      </p:sp>
      <p:sp>
        <p:nvSpPr>
          <p:cNvPr id="8806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r>
              <a:rPr lang="zh-CN" altLang="en-US"/>
              <a:t>Cloud Com</a:t>
            </a:r>
            <a:endParaRPr lang="en-US" altLang="zh-CN"/>
          </a:p>
        </p:txBody>
      </p:sp>
      <p:sp>
        <p:nvSpPr>
          <p:cNvPr id="8806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Arial" charset="0"/>
              </a:defRPr>
            </a:lvl1pPr>
          </a:lstStyle>
          <a:p>
            <a:pPr>
              <a:defRPr/>
            </a:pPr>
            <a:fld id="{6EE4EA03-E005-44CB-8272-D713CD12796F}" type="slidenum">
              <a:rPr lang="zh-CN" altLang="en-US"/>
              <a:pPr>
                <a:defRPr/>
              </a:pPr>
              <a:t>‹#›</a:t>
            </a:fld>
            <a:endParaRPr lang="en-US" altLang="zh-CN"/>
          </a:p>
        </p:txBody>
      </p:sp>
    </p:spTree>
    <p:extLst>
      <p:ext uri="{BB962C8B-B14F-4D97-AF65-F5344CB8AC3E}">
        <p14:creationId xmlns:p14="http://schemas.microsoft.com/office/powerpoint/2010/main" val="6315669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2F255310-E95C-476D-97E7-5C9A5951CEE0}" type="datetimeFigureOut">
              <a:rPr lang="zh-CN" altLang="en-US"/>
              <a:pPr>
                <a:defRPr/>
              </a:pPr>
              <a:t>2017/10/24</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endParaRPr lang="zh-CN" alt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pPr>
              <a:defRPr/>
            </a:pPr>
            <a:r>
              <a:rPr lang="zh-CN" altLang="en-US"/>
              <a:t>Cloud Com</a:t>
            </a:r>
            <a:endParaRPr lang="en-US"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C9175656-A89F-4349-B04F-A3A2FF7ACF5F}" type="slidenum">
              <a:rPr lang="zh-CN" altLang="en-US"/>
              <a:pPr>
                <a:defRPr/>
              </a:pPr>
              <a:t>‹#›</a:t>
            </a:fld>
            <a:endParaRPr lang="zh-CN" altLang="en-US"/>
          </a:p>
        </p:txBody>
      </p:sp>
    </p:spTree>
    <p:extLst>
      <p:ext uri="{BB962C8B-B14F-4D97-AF65-F5344CB8AC3E}">
        <p14:creationId xmlns:p14="http://schemas.microsoft.com/office/powerpoint/2010/main" val="10671191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p:spPr>
      </p:sp>
      <p:sp>
        <p:nvSpPr>
          <p:cNvPr id="121859" name="Notes Placeholder 2"/>
          <p:cNvSpPr>
            <a:spLocks noGrp="1"/>
          </p:cNvSpPr>
          <p:nvPr>
            <p:ph type="body" idx="1"/>
          </p:nvPr>
        </p:nvSpPr>
        <p:spPr bwMode="auto">
          <a:noFill/>
        </p:spPr>
        <p:txBody>
          <a:bodyPr/>
          <a:lstStyle/>
          <a:p>
            <a:pPr eaLnBrk="1" hangingPunct="1">
              <a:spcBef>
                <a:spcPct val="0"/>
              </a:spcBef>
            </a:pPr>
            <a:endParaRPr lang="zh-CN" altLang="en-US" smtClean="0"/>
          </a:p>
        </p:txBody>
      </p:sp>
      <p:sp>
        <p:nvSpPr>
          <p:cNvPr id="45060"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082B8209-7C95-47D8-AAFB-C18F21694A14}" type="slidenum">
              <a:rPr lang="zh-CN" altLang="en-US" sz="1200">
                <a:latin typeface="+mn-lt"/>
                <a:ea typeface="+mn-ea"/>
              </a:rPr>
              <a:pPr algn="r">
                <a:defRPr/>
              </a:pPr>
              <a:t>1</a:t>
            </a:fld>
            <a:endParaRPr lang="zh-CN" altLang="en-US" sz="1200">
              <a:latin typeface="+mn-lt"/>
              <a:ea typeface="+mn-ea"/>
            </a:endParaRPr>
          </a:p>
        </p:txBody>
      </p:sp>
    </p:spTree>
    <p:extLst>
      <p:ext uri="{BB962C8B-B14F-4D97-AF65-F5344CB8AC3E}">
        <p14:creationId xmlns:p14="http://schemas.microsoft.com/office/powerpoint/2010/main" val="1436122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bwMode="auto">
          <a:noFill/>
          <a:ln>
            <a:solidFill>
              <a:srgbClr val="000000"/>
            </a:solidFill>
            <a:miter lim="800000"/>
            <a:headEnd/>
            <a:tailEnd/>
          </a:ln>
        </p:spPr>
      </p:sp>
      <p:sp>
        <p:nvSpPr>
          <p:cNvPr id="122883" name="备注占位符 2"/>
          <p:cNvSpPr>
            <a:spLocks noGrp="1"/>
          </p:cNvSpPr>
          <p:nvPr>
            <p:ph type="body" idx="1"/>
          </p:nvPr>
        </p:nvSpPr>
        <p:spPr bwMode="auto">
          <a:noFill/>
        </p:spPr>
        <p:txBody>
          <a:bodyPr/>
          <a:lstStyle/>
          <a:p>
            <a:pPr eaLnBrk="1" hangingPunct="1"/>
            <a:endParaRPr lang="zh-CN" altLang="en-US" smtClean="0"/>
          </a:p>
        </p:txBody>
      </p:sp>
      <p:sp>
        <p:nvSpPr>
          <p:cNvPr id="4" name="灯片编号占位符 3"/>
          <p:cNvSpPr>
            <a:spLocks noGrp="1"/>
          </p:cNvSpPr>
          <p:nvPr>
            <p:ph type="sldNum" sz="quarter" idx="5"/>
          </p:nvPr>
        </p:nvSpPr>
        <p:spPr/>
        <p:txBody>
          <a:bodyPr/>
          <a:lstStyle/>
          <a:p>
            <a:pPr>
              <a:defRPr/>
            </a:pPr>
            <a:fld id="{D64A307F-D773-4A22-A825-F299E8BB028E}" type="slidenum">
              <a:rPr lang="zh-CN" altLang="en-US" smtClean="0"/>
              <a:pPr>
                <a:defRPr/>
              </a:pPr>
              <a:t>2</a:t>
            </a:fld>
            <a:endParaRPr lang="zh-CN" altLang="en-US"/>
          </a:p>
        </p:txBody>
      </p:sp>
    </p:spTree>
    <p:extLst>
      <p:ext uri="{BB962C8B-B14F-4D97-AF65-F5344CB8AC3E}">
        <p14:creationId xmlns:p14="http://schemas.microsoft.com/office/powerpoint/2010/main" val="133648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TextEdit="1"/>
          </p:cNvSpPr>
          <p:nvPr>
            <p:ph type="sldImg"/>
          </p:nvPr>
        </p:nvSpPr>
        <p:spPr bwMode="auto">
          <a:noFill/>
          <a:ln>
            <a:solidFill>
              <a:srgbClr val="000000"/>
            </a:solidFill>
            <a:miter lim="800000"/>
            <a:headEnd/>
            <a:tailEnd/>
          </a:ln>
        </p:spPr>
      </p:sp>
      <p:sp>
        <p:nvSpPr>
          <p:cNvPr id="123907" name="Rectangle 3"/>
          <p:cNvSpPr>
            <a:spLocks noGrp="1"/>
          </p:cNvSpPr>
          <p:nvPr>
            <p:ph type="body" idx="1"/>
          </p:nvPr>
        </p:nvSpPr>
        <p:spPr bwMode="auto">
          <a:noFill/>
        </p:spPr>
        <p:txBody>
          <a:bodyPr/>
          <a:lstStyle/>
          <a:p>
            <a:endParaRPr lang="zh-CN" altLang="en-US" smtClean="0"/>
          </a:p>
        </p:txBody>
      </p:sp>
    </p:spTree>
    <p:extLst>
      <p:ext uri="{BB962C8B-B14F-4D97-AF65-F5344CB8AC3E}">
        <p14:creationId xmlns:p14="http://schemas.microsoft.com/office/powerpoint/2010/main" val="1471118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bwMode="auto">
          <a:noFill/>
          <a:ln>
            <a:solidFill>
              <a:srgbClr val="000000"/>
            </a:solidFill>
            <a:miter lim="800000"/>
            <a:headEnd/>
            <a:tailEnd/>
          </a:ln>
        </p:spPr>
      </p:sp>
      <p:sp>
        <p:nvSpPr>
          <p:cNvPr id="124931" name="备注占位符 2"/>
          <p:cNvSpPr>
            <a:spLocks noGrp="1"/>
          </p:cNvSpPr>
          <p:nvPr>
            <p:ph type="body" idx="1"/>
          </p:nvPr>
        </p:nvSpPr>
        <p:spPr bwMode="auto">
          <a:noFill/>
        </p:spPr>
        <p:txBody>
          <a:bodyPr/>
          <a:lstStyle/>
          <a:p>
            <a:pPr eaLnBrk="1" hangingPunct="1"/>
            <a:endParaRPr lang="zh-CN" altLang="en-US" smtClean="0"/>
          </a:p>
        </p:txBody>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82ACC09A-CD8D-4ABE-BCF2-C24144361692}" type="slidenum">
              <a:rPr lang="zh-CN" altLang="en-US" sz="1200">
                <a:latin typeface="+mn-lt"/>
                <a:ea typeface="+mn-ea"/>
              </a:rPr>
              <a:pPr algn="r" fontAlgn="auto">
                <a:spcBef>
                  <a:spcPts val="0"/>
                </a:spcBef>
                <a:spcAft>
                  <a:spcPts val="0"/>
                </a:spcAft>
                <a:defRPr/>
              </a:pPr>
              <a:t>12</a:t>
            </a:fld>
            <a:endParaRPr lang="zh-CN" altLang="en-US" sz="1200">
              <a:latin typeface="+mn-lt"/>
              <a:ea typeface="+mn-ea"/>
            </a:endParaRPr>
          </a:p>
        </p:txBody>
      </p:sp>
    </p:spTree>
    <p:extLst>
      <p:ext uri="{BB962C8B-B14F-4D97-AF65-F5344CB8AC3E}">
        <p14:creationId xmlns:p14="http://schemas.microsoft.com/office/powerpoint/2010/main" val="1112695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headEnd/>
            <a:tailEnd/>
          </a:ln>
        </p:spPr>
      </p:sp>
      <p:sp>
        <p:nvSpPr>
          <p:cNvPr id="125955" name="备注占位符 2"/>
          <p:cNvSpPr>
            <a:spLocks noGrp="1"/>
          </p:cNvSpPr>
          <p:nvPr>
            <p:ph type="body" idx="1"/>
          </p:nvPr>
        </p:nvSpPr>
        <p:spPr bwMode="auto">
          <a:noFill/>
        </p:spPr>
        <p:txBody>
          <a:bodyPr/>
          <a:lstStyle/>
          <a:p>
            <a:r>
              <a:rPr lang="en-US" altLang="zh-CN" smtClean="0"/>
              <a:t>NFS</a:t>
            </a:r>
            <a:r>
              <a:rPr lang="zh-CN" altLang="en-US" smtClean="0"/>
              <a:t>从</a:t>
            </a:r>
            <a:r>
              <a:rPr lang="en-US" altLang="zh-CN" smtClean="0"/>
              <a:t>1985</a:t>
            </a:r>
            <a:r>
              <a:rPr lang="zh-CN" altLang="en-US" smtClean="0"/>
              <a:t>年出现至今，已经经历了四个版本的更新，被移植到了几乎所有主流的操作系统中，成为分布式文件系统事实上的标准。</a:t>
            </a:r>
            <a:r>
              <a:rPr lang="en-US" altLang="zh-CN" smtClean="0"/>
              <a:t>NFS</a:t>
            </a:r>
            <a:r>
              <a:rPr lang="zh-CN" altLang="en-US" smtClean="0"/>
              <a:t>利用</a:t>
            </a:r>
            <a:r>
              <a:rPr lang="en-US" altLang="zh-CN" smtClean="0"/>
              <a:t>Unix</a:t>
            </a:r>
            <a:r>
              <a:rPr lang="zh-CN" altLang="en-US" smtClean="0"/>
              <a:t>系统中的虚拟文件系统（</a:t>
            </a:r>
            <a:r>
              <a:rPr lang="en-US" altLang="zh-CN" smtClean="0"/>
              <a:t>Virtual File System</a:t>
            </a:r>
            <a:r>
              <a:rPr lang="zh-CN" altLang="en-US" smtClean="0"/>
              <a:t>，</a:t>
            </a:r>
            <a:r>
              <a:rPr lang="en-US" altLang="zh-CN" smtClean="0"/>
              <a:t>VFS</a:t>
            </a:r>
            <a:r>
              <a:rPr lang="zh-CN" altLang="en-US" smtClean="0"/>
              <a:t>）机制，将客户机对文件系统的请求，通过规范的文件访问协议和远程过程调用，转发到服务器端进行处理；服务器端在</a:t>
            </a:r>
            <a:r>
              <a:rPr lang="en-US" altLang="zh-CN" smtClean="0"/>
              <a:t>VFS</a:t>
            </a:r>
            <a:r>
              <a:rPr lang="zh-CN" altLang="en-US" smtClean="0"/>
              <a:t>之上，通过本地文件系统完成文件的处理，实现了全局的分布式文件系统。</a:t>
            </a:r>
            <a:r>
              <a:rPr lang="en-US" altLang="zh-CN" smtClean="0"/>
              <a:t>Sun</a:t>
            </a:r>
            <a:r>
              <a:rPr lang="zh-CN" altLang="en-US" smtClean="0"/>
              <a:t>公司公开了</a:t>
            </a:r>
            <a:r>
              <a:rPr lang="en-US" altLang="zh-CN" smtClean="0"/>
              <a:t>NFS</a:t>
            </a:r>
            <a:r>
              <a:rPr lang="zh-CN" altLang="en-US" smtClean="0"/>
              <a:t>的实施规范，互联网工程任务组（</a:t>
            </a:r>
            <a:r>
              <a:rPr lang="en-US" altLang="zh-CN" smtClean="0"/>
              <a:t>The Internet Engineering Task Force</a:t>
            </a:r>
            <a:r>
              <a:rPr lang="zh-CN" altLang="en-US" smtClean="0"/>
              <a:t>，</a:t>
            </a:r>
            <a:r>
              <a:rPr lang="en-US" altLang="zh-CN" smtClean="0"/>
              <a:t>IETF</a:t>
            </a:r>
            <a:r>
              <a:rPr lang="zh-CN" altLang="en-US" smtClean="0"/>
              <a:t>）将其列为征求意见稿（</a:t>
            </a:r>
            <a:r>
              <a:rPr lang="en-US" altLang="zh-CN" smtClean="0"/>
              <a:t>RFC-Request for Comments</a:t>
            </a:r>
            <a:r>
              <a:rPr lang="zh-CN" altLang="en-US" smtClean="0"/>
              <a:t>），这很大程度上促使</a:t>
            </a:r>
            <a:r>
              <a:rPr lang="en-US" altLang="zh-CN" smtClean="0"/>
              <a:t>NFS</a:t>
            </a:r>
            <a:r>
              <a:rPr lang="zh-CN" altLang="en-US" smtClean="0"/>
              <a:t>的很多设计实现方法成为标准，也促进了</a:t>
            </a:r>
            <a:r>
              <a:rPr lang="en-US" altLang="zh-CN" smtClean="0"/>
              <a:t>NFS</a:t>
            </a:r>
            <a:r>
              <a:rPr lang="zh-CN" altLang="en-US" smtClean="0"/>
              <a:t>的流行。</a:t>
            </a:r>
            <a:r>
              <a:rPr lang="en-US" altLang="zh-CN" smtClean="0"/>
              <a:t>NFS</a:t>
            </a:r>
            <a:r>
              <a:rPr lang="zh-CN" altLang="en-US" smtClean="0"/>
              <a:t>不断发展，在第四版中提供了基于租赁（</a:t>
            </a:r>
            <a:r>
              <a:rPr lang="en-US" altLang="zh-CN" smtClean="0"/>
              <a:t>Lease</a:t>
            </a:r>
            <a:r>
              <a:rPr lang="zh-CN" altLang="en-US" smtClean="0"/>
              <a:t>）的同步锁和基于会话（</a:t>
            </a:r>
            <a:r>
              <a:rPr lang="en-US" altLang="zh-CN" smtClean="0"/>
              <a:t>Session</a:t>
            </a:r>
            <a:r>
              <a:rPr lang="zh-CN" altLang="en-US" smtClean="0"/>
              <a:t>）语义的一致性等。 </a:t>
            </a:r>
          </a:p>
          <a:p>
            <a:r>
              <a:rPr lang="en-US" altLang="zh-CN" smtClean="0"/>
              <a:t>Carnegie Mellon</a:t>
            </a:r>
            <a:r>
              <a:rPr lang="zh-CN" altLang="en-US" smtClean="0"/>
              <a:t>大学在</a:t>
            </a:r>
            <a:r>
              <a:rPr lang="en-US" altLang="zh-CN" smtClean="0"/>
              <a:t>1983</a:t>
            </a:r>
            <a:r>
              <a:rPr lang="zh-CN" altLang="en-US" smtClean="0"/>
              <a:t>年设计开发的</a:t>
            </a:r>
            <a:r>
              <a:rPr lang="en-US" altLang="zh-CN" smtClean="0"/>
              <a:t>AFS</a:t>
            </a:r>
            <a:r>
              <a:rPr lang="zh-CN" altLang="en-US" smtClean="0"/>
              <a:t>将分布式文件系统的可扩展性放在了设计和实现的首要位置，并且着重考虑了在不安全的网络中实现安全访问的需求。因此，它在位置透明、用户迁移、与已有系统的兼容性等方面进行了特别设计。</a:t>
            </a:r>
            <a:r>
              <a:rPr lang="en-US" altLang="zh-CN" smtClean="0"/>
              <a:t>AFS</a:t>
            </a:r>
            <a:r>
              <a:rPr lang="zh-CN" altLang="en-US" smtClean="0"/>
              <a:t>具有很好的扩展性，能够很容易地支持数百个节点，甚至数千个节点的分布式环境。同时，在大规模的分布式文件系统中，</a:t>
            </a:r>
            <a:r>
              <a:rPr lang="en-US" altLang="zh-CN" smtClean="0"/>
              <a:t>AFS</a:t>
            </a:r>
            <a:r>
              <a:rPr lang="zh-CN" altLang="en-US" smtClean="0"/>
              <a:t>利用本地存储作为分布式文件的缓存，在远程文件无法访问时，依然可以部分工作，提高了系统可用性。后来的</a:t>
            </a:r>
            <a:r>
              <a:rPr lang="en-US" altLang="zh-CN" smtClean="0"/>
              <a:t>Coda File System</a:t>
            </a:r>
            <a:r>
              <a:rPr lang="zh-CN" altLang="en-US" smtClean="0"/>
              <a:t>、</a:t>
            </a:r>
            <a:r>
              <a:rPr lang="en-US" altLang="zh-CN" smtClean="0"/>
              <a:t>Inter-mezzo File System</a:t>
            </a:r>
            <a:r>
              <a:rPr lang="zh-CN" altLang="en-US" smtClean="0"/>
              <a:t>都受到</a:t>
            </a:r>
            <a:r>
              <a:rPr lang="en-US" altLang="zh-CN" smtClean="0"/>
              <a:t>AFS</a:t>
            </a:r>
            <a:r>
              <a:rPr lang="zh-CN" altLang="en-US" smtClean="0"/>
              <a:t>的影响，更加注重文件系统的高可用性（</a:t>
            </a:r>
            <a:r>
              <a:rPr lang="en-US" altLang="zh-CN" smtClean="0"/>
              <a:t>High Availability</a:t>
            </a:r>
            <a:r>
              <a:rPr lang="zh-CN" altLang="en-US" smtClean="0"/>
              <a:t>）和安全性，特别是</a:t>
            </a:r>
            <a:r>
              <a:rPr lang="en-US" altLang="zh-CN" smtClean="0"/>
              <a:t>Coda</a:t>
            </a:r>
            <a:r>
              <a:rPr lang="zh-CN" altLang="en-US" smtClean="0"/>
              <a:t>，在支持移动计算方面做了很多的研究工作。 </a:t>
            </a:r>
          </a:p>
          <a:p>
            <a:r>
              <a:rPr lang="zh-CN" altLang="en-US" smtClean="0"/>
              <a:t>早期的分布式文件系统一般以提供标准接口的远程文件访问为目的，在受网络环境、本地磁盘、处理器速度等方面限制的情况下，更多地关注访问的性能和数据的可靠性。</a:t>
            </a:r>
            <a:r>
              <a:rPr lang="en-US" altLang="zh-CN" smtClean="0"/>
              <a:t>AFS</a:t>
            </a:r>
            <a:r>
              <a:rPr lang="zh-CN" altLang="en-US" smtClean="0"/>
              <a:t>在系统结构方面进行了有意义的探索。它们所采用的协议和相关技术，为后来的分布式文件系统设计提供了很多借鉴。</a:t>
            </a:r>
          </a:p>
        </p:txBody>
      </p:sp>
      <p:sp>
        <p:nvSpPr>
          <p:cNvPr id="4" name="灯片编号占位符 3"/>
          <p:cNvSpPr>
            <a:spLocks noGrp="1"/>
          </p:cNvSpPr>
          <p:nvPr>
            <p:ph type="sldNum" sz="quarter" idx="5"/>
          </p:nvPr>
        </p:nvSpPr>
        <p:spPr/>
        <p:txBody>
          <a:bodyPr/>
          <a:lstStyle/>
          <a:p>
            <a:pPr>
              <a:defRPr/>
            </a:pPr>
            <a:fld id="{A0B26425-E115-4BE1-8CBE-04996A0650C9}" type="slidenum">
              <a:rPr lang="zh-CN" altLang="en-US" smtClean="0"/>
              <a:pPr>
                <a:defRPr/>
              </a:pPr>
              <a:t>17</a:t>
            </a:fld>
            <a:endParaRPr lang="zh-CN" altLang="en-US"/>
          </a:p>
        </p:txBody>
      </p:sp>
    </p:spTree>
    <p:extLst>
      <p:ext uri="{BB962C8B-B14F-4D97-AF65-F5344CB8AC3E}">
        <p14:creationId xmlns:p14="http://schemas.microsoft.com/office/powerpoint/2010/main" val="790057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headEnd/>
            <a:tailEnd/>
          </a:ln>
        </p:spPr>
      </p:sp>
      <p:sp>
        <p:nvSpPr>
          <p:cNvPr id="125955" name="备注占位符 2"/>
          <p:cNvSpPr>
            <a:spLocks noGrp="1"/>
          </p:cNvSpPr>
          <p:nvPr>
            <p:ph type="body" idx="1"/>
          </p:nvPr>
        </p:nvSpPr>
        <p:spPr bwMode="auto">
          <a:noFill/>
        </p:spPr>
        <p:txBody>
          <a:bodyPr/>
          <a:lstStyle/>
          <a:p>
            <a:r>
              <a:rPr lang="en-US" altLang="zh-CN" dirty="0" smtClean="0"/>
              <a:t>NFS</a:t>
            </a:r>
            <a:r>
              <a:rPr lang="zh-CN" altLang="en-US" dirty="0" smtClean="0"/>
              <a:t>从</a:t>
            </a:r>
            <a:r>
              <a:rPr lang="en-US" altLang="zh-CN" dirty="0" smtClean="0"/>
              <a:t>1985</a:t>
            </a:r>
            <a:r>
              <a:rPr lang="zh-CN" altLang="en-US" dirty="0" smtClean="0"/>
              <a:t>年出现至今，已经经历了四个版本的更新，被移植到了几乎所有主流的操作系统中，成为分布式文件系统事实上的标准。</a:t>
            </a:r>
            <a:r>
              <a:rPr lang="en-US" altLang="zh-CN" dirty="0" smtClean="0"/>
              <a:t>NFS</a:t>
            </a:r>
            <a:r>
              <a:rPr lang="zh-CN" altLang="en-US" dirty="0" smtClean="0"/>
              <a:t>利用</a:t>
            </a:r>
            <a:r>
              <a:rPr lang="en-US" altLang="zh-CN" dirty="0" smtClean="0"/>
              <a:t>Unix</a:t>
            </a:r>
            <a:r>
              <a:rPr lang="zh-CN" altLang="en-US" dirty="0" smtClean="0"/>
              <a:t>系统中的虚拟文件系统（</a:t>
            </a:r>
            <a:r>
              <a:rPr lang="en-US" altLang="zh-CN" dirty="0" smtClean="0"/>
              <a:t>Virtual File System</a:t>
            </a:r>
            <a:r>
              <a:rPr lang="zh-CN" altLang="en-US" dirty="0" smtClean="0"/>
              <a:t>，</a:t>
            </a:r>
            <a:r>
              <a:rPr lang="en-US" altLang="zh-CN" dirty="0" smtClean="0"/>
              <a:t>VFS</a:t>
            </a:r>
            <a:r>
              <a:rPr lang="zh-CN" altLang="en-US" dirty="0" smtClean="0"/>
              <a:t>）机制，将客户机对文件系统的请求，通过规范的文件访问协议和远程过程调用，转发到服务器端进行处理；服务器端在</a:t>
            </a:r>
            <a:r>
              <a:rPr lang="en-US" altLang="zh-CN" dirty="0" smtClean="0"/>
              <a:t>VFS</a:t>
            </a:r>
            <a:r>
              <a:rPr lang="zh-CN" altLang="en-US" dirty="0" smtClean="0"/>
              <a:t>之上，通过本地文件系统完成文件的处理，实现了全局的分布式文件系统。</a:t>
            </a:r>
            <a:r>
              <a:rPr lang="en-US" altLang="zh-CN" dirty="0" smtClean="0"/>
              <a:t>Sun</a:t>
            </a:r>
            <a:r>
              <a:rPr lang="zh-CN" altLang="en-US" dirty="0" smtClean="0"/>
              <a:t>公司公开了</a:t>
            </a:r>
            <a:r>
              <a:rPr lang="en-US" altLang="zh-CN" dirty="0" smtClean="0"/>
              <a:t>NFS</a:t>
            </a:r>
            <a:r>
              <a:rPr lang="zh-CN" altLang="en-US" dirty="0" smtClean="0"/>
              <a:t>的实施规范，互联网工程任务组（</a:t>
            </a:r>
            <a:r>
              <a:rPr lang="en-US" altLang="zh-CN" dirty="0" smtClean="0"/>
              <a:t>The Internet Engineering Task Force</a:t>
            </a:r>
            <a:r>
              <a:rPr lang="zh-CN" altLang="en-US" dirty="0" smtClean="0"/>
              <a:t>，</a:t>
            </a:r>
            <a:r>
              <a:rPr lang="en-US" altLang="zh-CN" dirty="0" smtClean="0"/>
              <a:t>IETF</a:t>
            </a:r>
            <a:r>
              <a:rPr lang="zh-CN" altLang="en-US" dirty="0" smtClean="0"/>
              <a:t>）将其列为征求意见稿（</a:t>
            </a:r>
            <a:r>
              <a:rPr lang="en-US" altLang="zh-CN" dirty="0" smtClean="0"/>
              <a:t>RFC-Request for Comments</a:t>
            </a:r>
            <a:r>
              <a:rPr lang="zh-CN" altLang="en-US" dirty="0" smtClean="0"/>
              <a:t>），这很大程度上促使</a:t>
            </a:r>
            <a:r>
              <a:rPr lang="en-US" altLang="zh-CN" dirty="0" smtClean="0"/>
              <a:t>NFS</a:t>
            </a:r>
            <a:r>
              <a:rPr lang="zh-CN" altLang="en-US" dirty="0" smtClean="0"/>
              <a:t>的很多设计实现方法成为标准，也促进了</a:t>
            </a:r>
            <a:r>
              <a:rPr lang="en-US" altLang="zh-CN" dirty="0" smtClean="0"/>
              <a:t>NFS</a:t>
            </a:r>
            <a:r>
              <a:rPr lang="zh-CN" altLang="en-US" dirty="0" smtClean="0"/>
              <a:t>的流行。</a:t>
            </a:r>
            <a:r>
              <a:rPr lang="en-US" altLang="zh-CN" dirty="0" smtClean="0"/>
              <a:t>NFS</a:t>
            </a:r>
            <a:r>
              <a:rPr lang="zh-CN" altLang="en-US" dirty="0" smtClean="0"/>
              <a:t>不断发展，在第四版中提供了基于租赁（</a:t>
            </a:r>
            <a:r>
              <a:rPr lang="en-US" altLang="zh-CN" dirty="0" smtClean="0"/>
              <a:t>Lease</a:t>
            </a:r>
            <a:r>
              <a:rPr lang="zh-CN" altLang="en-US" dirty="0" smtClean="0"/>
              <a:t>）的同步锁和基于会话（</a:t>
            </a:r>
            <a:r>
              <a:rPr lang="en-US" altLang="zh-CN" dirty="0" smtClean="0"/>
              <a:t>Session</a:t>
            </a:r>
            <a:r>
              <a:rPr lang="zh-CN" altLang="en-US" dirty="0" smtClean="0"/>
              <a:t>）语义的一致性等。 </a:t>
            </a:r>
          </a:p>
          <a:p>
            <a:r>
              <a:rPr lang="en-US" altLang="zh-CN" dirty="0" smtClean="0"/>
              <a:t>Carnegie Mellon</a:t>
            </a:r>
            <a:r>
              <a:rPr lang="zh-CN" altLang="en-US" dirty="0" smtClean="0"/>
              <a:t>大学在</a:t>
            </a:r>
            <a:r>
              <a:rPr lang="en-US" altLang="zh-CN" dirty="0" smtClean="0"/>
              <a:t>1983</a:t>
            </a:r>
            <a:r>
              <a:rPr lang="zh-CN" altLang="en-US" dirty="0" smtClean="0"/>
              <a:t>年设计开发的</a:t>
            </a:r>
            <a:r>
              <a:rPr lang="en-US" altLang="zh-CN" dirty="0" smtClean="0"/>
              <a:t>AFS</a:t>
            </a:r>
            <a:r>
              <a:rPr lang="zh-CN" altLang="en-US" dirty="0" smtClean="0"/>
              <a:t>将分布式文件系统的可扩展性放在了设计和实现的首要位置，并且着重考虑了在不安全的网络中实现安全访问的需求。因此，它在位置透明、用户迁移、与已有系统的兼容性等方面进行了特别设计。</a:t>
            </a:r>
            <a:r>
              <a:rPr lang="en-US" altLang="zh-CN" dirty="0" smtClean="0"/>
              <a:t>AFS</a:t>
            </a:r>
            <a:r>
              <a:rPr lang="zh-CN" altLang="en-US" dirty="0" smtClean="0"/>
              <a:t>具有很好的扩展性，能够很容易地支持数百个节点，甚至数千个节点的分布式环境。同时，在大规模的分布式文件系统中，</a:t>
            </a:r>
            <a:r>
              <a:rPr lang="en-US" altLang="zh-CN" dirty="0" smtClean="0"/>
              <a:t>AFS</a:t>
            </a:r>
            <a:r>
              <a:rPr lang="zh-CN" altLang="en-US" dirty="0" smtClean="0"/>
              <a:t>利用本地存储作为分布式文件的缓存，在远程文件无法访问时，依然可以部分工作，提高了系统可用性。后来的</a:t>
            </a:r>
            <a:r>
              <a:rPr lang="en-US" altLang="zh-CN" dirty="0" smtClean="0"/>
              <a:t>Coda File System</a:t>
            </a:r>
            <a:r>
              <a:rPr lang="zh-CN" altLang="en-US" dirty="0" smtClean="0"/>
              <a:t>、</a:t>
            </a:r>
            <a:r>
              <a:rPr lang="en-US" altLang="zh-CN" dirty="0" smtClean="0"/>
              <a:t>Inter-mezzo File System</a:t>
            </a:r>
            <a:r>
              <a:rPr lang="zh-CN" altLang="en-US" dirty="0" smtClean="0"/>
              <a:t>都受到</a:t>
            </a:r>
            <a:r>
              <a:rPr lang="en-US" altLang="zh-CN" dirty="0" smtClean="0"/>
              <a:t>AFS</a:t>
            </a:r>
            <a:r>
              <a:rPr lang="zh-CN" altLang="en-US" dirty="0" smtClean="0"/>
              <a:t>的影响，更加注重文件系统的高可用性（</a:t>
            </a:r>
            <a:r>
              <a:rPr lang="en-US" altLang="zh-CN" dirty="0" smtClean="0"/>
              <a:t>High Availability</a:t>
            </a:r>
            <a:r>
              <a:rPr lang="zh-CN" altLang="en-US" dirty="0" smtClean="0"/>
              <a:t>）和安全性，特别是</a:t>
            </a:r>
            <a:r>
              <a:rPr lang="en-US" altLang="zh-CN" dirty="0" smtClean="0"/>
              <a:t>Coda</a:t>
            </a:r>
            <a:r>
              <a:rPr lang="zh-CN" altLang="en-US" dirty="0" smtClean="0"/>
              <a:t>，在支持移动计算方面做了很多的研究工作。 </a:t>
            </a:r>
          </a:p>
          <a:p>
            <a:r>
              <a:rPr lang="zh-CN" altLang="en-US" dirty="0" smtClean="0"/>
              <a:t>早期的分布式文件系统一般以提供标准接口的远程文件访问为目的，在受网络环境、本地磁盘、处理器速度等方面限制的情况下，更多地关注访问的性能和数据的可靠性。</a:t>
            </a:r>
            <a:r>
              <a:rPr lang="en-US" altLang="zh-CN" dirty="0" smtClean="0"/>
              <a:t>AFS</a:t>
            </a:r>
            <a:r>
              <a:rPr lang="zh-CN" altLang="en-US" dirty="0" smtClean="0"/>
              <a:t>在系统结构方面进行了有意义的探索。它们所采用的协议和相关技术，为后来的分布式文件系统设计提供了很多借鉴。</a:t>
            </a:r>
          </a:p>
        </p:txBody>
      </p:sp>
      <p:sp>
        <p:nvSpPr>
          <p:cNvPr id="4" name="灯片编号占位符 3"/>
          <p:cNvSpPr>
            <a:spLocks noGrp="1"/>
          </p:cNvSpPr>
          <p:nvPr>
            <p:ph type="sldNum" sz="quarter" idx="5"/>
          </p:nvPr>
        </p:nvSpPr>
        <p:spPr/>
        <p:txBody>
          <a:bodyPr/>
          <a:lstStyle/>
          <a:p>
            <a:pPr>
              <a:defRPr/>
            </a:pPr>
            <a:fld id="{A0B26425-E115-4BE1-8CBE-04996A0650C9}" type="slidenum">
              <a:rPr lang="zh-CN" altLang="en-US" smtClean="0"/>
              <a:pPr>
                <a:defRPr/>
              </a:pPr>
              <a:t>18</a:t>
            </a:fld>
            <a:endParaRPr lang="zh-CN" altLang="en-US"/>
          </a:p>
        </p:txBody>
      </p:sp>
    </p:spTree>
    <p:extLst>
      <p:ext uri="{BB962C8B-B14F-4D97-AF65-F5344CB8AC3E}">
        <p14:creationId xmlns:p14="http://schemas.microsoft.com/office/powerpoint/2010/main" val="597466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noFill/>
          <a:ln>
            <a:solidFill>
              <a:srgbClr val="000000"/>
            </a:solidFill>
            <a:miter lim="800000"/>
            <a:headEnd/>
            <a:tailEnd/>
          </a:ln>
        </p:spPr>
      </p:sp>
      <p:sp>
        <p:nvSpPr>
          <p:cNvPr id="126979" name="备注占位符 2"/>
          <p:cNvSpPr>
            <a:spLocks noGrp="1"/>
          </p:cNvSpPr>
          <p:nvPr>
            <p:ph type="body" idx="1"/>
          </p:nvPr>
        </p:nvSpPr>
        <p:spPr bwMode="auto">
          <a:noFill/>
        </p:spPr>
        <p:txBody>
          <a:bodyPr/>
          <a:lstStyle/>
          <a:p>
            <a:endParaRPr lang="zh-CN" altLang="en-US" smtClean="0"/>
          </a:p>
        </p:txBody>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4EAFC038-F8C5-48A5-9B08-4B02D74AE9A7}" type="slidenum">
              <a:rPr lang="zh-CN" altLang="en-US" sz="1200">
                <a:latin typeface="+mn-lt"/>
                <a:ea typeface="+mn-ea"/>
              </a:rPr>
              <a:pPr algn="r" fontAlgn="auto">
                <a:spcBef>
                  <a:spcPts val="0"/>
                </a:spcBef>
                <a:spcAft>
                  <a:spcPts val="0"/>
                </a:spcAft>
                <a:defRPr/>
              </a:pPr>
              <a:t>19</a:t>
            </a:fld>
            <a:endParaRPr lang="zh-CN" altLang="en-US" sz="1200">
              <a:latin typeface="+mn-lt"/>
              <a:ea typeface="+mn-ea"/>
            </a:endParaRPr>
          </a:p>
        </p:txBody>
      </p:sp>
    </p:spTree>
    <p:extLst>
      <p:ext uri="{BB962C8B-B14F-4D97-AF65-F5344CB8AC3E}">
        <p14:creationId xmlns:p14="http://schemas.microsoft.com/office/powerpoint/2010/main" val="2137718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TextEdit="1"/>
          </p:cNvSpPr>
          <p:nvPr>
            <p:ph type="sldImg"/>
          </p:nvPr>
        </p:nvSpPr>
        <p:spPr bwMode="auto">
          <a:noFill/>
          <a:ln>
            <a:solidFill>
              <a:srgbClr val="000000"/>
            </a:solidFill>
            <a:miter lim="800000"/>
            <a:headEnd/>
            <a:tailEnd/>
          </a:ln>
        </p:spPr>
      </p:sp>
      <p:sp>
        <p:nvSpPr>
          <p:cNvPr id="128003" name="Rectangle 3"/>
          <p:cNvSpPr>
            <a:spLocks noGrp="1"/>
          </p:cNvSpPr>
          <p:nvPr>
            <p:ph type="body" idx="1"/>
          </p:nvPr>
        </p:nvSpPr>
        <p:spPr bwMode="auto">
          <a:noFill/>
        </p:spPr>
        <p:txBody>
          <a:bodyPr/>
          <a:lstStyle/>
          <a:p>
            <a:r>
              <a:rPr lang="zh-CN" altLang="en-US" dirty="0" smtClean="0"/>
              <a:t>第三代：数据容量、性能和共享的需求使得这一时期的分布式文件系统管理的系统规模更大、系统更复杂，对物理设备的直接访问、磁盘布局和检索效率的优化、元数据的集</a:t>
            </a:r>
            <a:br>
              <a:rPr lang="zh-CN" altLang="en-US" dirty="0" smtClean="0"/>
            </a:br>
            <a:r>
              <a:rPr lang="zh-CN" altLang="en-US" dirty="0" smtClean="0"/>
              <a:t>中管理等都反映了对性能和容量的追求。规模的扩展使得系统的动态性，如在线增减设备、缓存的一致性、系统可靠性的需求逐渐增强，更多的先进技术应用到系统</a:t>
            </a:r>
            <a:br>
              <a:rPr lang="zh-CN" altLang="en-US" dirty="0" smtClean="0"/>
            </a:br>
            <a:r>
              <a:rPr lang="zh-CN" altLang="en-US" dirty="0" smtClean="0"/>
              <a:t>实现中，如分布式锁、缓存管理技术、</a:t>
            </a:r>
            <a:r>
              <a:rPr lang="en-US" altLang="zh-CN" dirty="0" err="1" smtClean="0"/>
              <a:t>SoftUpdates</a:t>
            </a:r>
            <a:r>
              <a:rPr lang="zh-CN" altLang="en-US" dirty="0" smtClean="0"/>
              <a:t>技术、文件级的负载平衡等。</a:t>
            </a:r>
          </a:p>
        </p:txBody>
      </p:sp>
    </p:spTree>
    <p:extLst>
      <p:ext uri="{BB962C8B-B14F-4D97-AF65-F5344CB8AC3E}">
        <p14:creationId xmlns:p14="http://schemas.microsoft.com/office/powerpoint/2010/main" val="1231179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TextEdit="1"/>
          </p:cNvSpPr>
          <p:nvPr>
            <p:ph type="sldImg"/>
          </p:nvPr>
        </p:nvSpPr>
        <p:spPr bwMode="auto">
          <a:noFill/>
          <a:ln>
            <a:solidFill>
              <a:srgbClr val="000000"/>
            </a:solidFill>
            <a:miter lim="800000"/>
            <a:headEnd/>
            <a:tailEnd/>
          </a:ln>
        </p:spPr>
      </p:sp>
      <p:sp>
        <p:nvSpPr>
          <p:cNvPr id="129027" name="Rectangle 3"/>
          <p:cNvSpPr>
            <a:spLocks noGrp="1"/>
          </p:cNvSpPr>
          <p:nvPr>
            <p:ph type="body" idx="1"/>
          </p:nvPr>
        </p:nvSpPr>
        <p:spPr bwMode="auto">
          <a:noFill/>
        </p:spPr>
        <p:txBody>
          <a:bodyPr/>
          <a:lstStyle/>
          <a:p>
            <a:endParaRPr lang="zh-CN" altLang="en-US" smtClean="0"/>
          </a:p>
        </p:txBody>
      </p:sp>
    </p:spTree>
    <p:extLst>
      <p:ext uri="{BB962C8B-B14F-4D97-AF65-F5344CB8AC3E}">
        <p14:creationId xmlns:p14="http://schemas.microsoft.com/office/powerpoint/2010/main" val="1434951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bwMode="auto">
          <a:noFill/>
          <a:ln>
            <a:solidFill>
              <a:srgbClr val="000000"/>
            </a:solidFill>
            <a:miter lim="800000"/>
            <a:headEnd/>
            <a:tailEnd/>
          </a:ln>
        </p:spPr>
      </p:sp>
      <p:sp>
        <p:nvSpPr>
          <p:cNvPr id="130051" name="备注占位符 2"/>
          <p:cNvSpPr>
            <a:spLocks noGrp="1"/>
          </p:cNvSpPr>
          <p:nvPr>
            <p:ph type="body" idx="1"/>
          </p:nvPr>
        </p:nvSpPr>
        <p:spPr bwMode="auto">
          <a:noFill/>
        </p:spPr>
        <p:txBody>
          <a:bodyPr/>
          <a:lstStyle/>
          <a:p>
            <a:pPr eaLnBrk="1" hangingPunct="1"/>
            <a:endParaRPr lang="zh-CN" altLang="en-US" smtClean="0"/>
          </a:p>
        </p:txBody>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E21EE522-F6C4-4D1F-A5A9-0C77DE6EA877}" type="slidenum">
              <a:rPr lang="zh-CN" altLang="en-US" sz="1200">
                <a:latin typeface="+mn-lt"/>
                <a:ea typeface="+mn-ea"/>
              </a:rPr>
              <a:pPr algn="r" fontAlgn="auto">
                <a:spcBef>
                  <a:spcPts val="0"/>
                </a:spcBef>
                <a:spcAft>
                  <a:spcPts val="0"/>
                </a:spcAft>
                <a:defRPr/>
              </a:pPr>
              <a:t>35</a:t>
            </a:fld>
            <a:endParaRPr lang="zh-CN" altLang="en-US" sz="1200">
              <a:latin typeface="+mn-lt"/>
              <a:ea typeface="+mn-ea"/>
            </a:endParaRPr>
          </a:p>
        </p:txBody>
      </p:sp>
    </p:spTree>
    <p:extLst>
      <p:ext uri="{BB962C8B-B14F-4D97-AF65-F5344CB8AC3E}">
        <p14:creationId xmlns:p14="http://schemas.microsoft.com/office/powerpoint/2010/main" val="986286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3B813ADA-1F23-4E83-8876-5710F582AC84}" type="slidenum">
              <a:rPr lang="zh-CN" altLang="en-US" sz="1200">
                <a:cs typeface="Arial" charset="0"/>
              </a:rPr>
              <a:pPr algn="r"/>
              <a:t>43</a:t>
            </a:fld>
            <a:endParaRPr lang="en-US" altLang="zh-CN" sz="1200">
              <a:cs typeface="Arial" charset="0"/>
            </a:endParaRPr>
          </a:p>
        </p:txBody>
      </p:sp>
      <p:sp>
        <p:nvSpPr>
          <p:cNvPr id="13107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1076" name="Rectangle 3"/>
          <p:cNvSpPr>
            <a:spLocks noGrp="1" noChangeArrowheads="1"/>
          </p:cNvSpPr>
          <p:nvPr>
            <p:ph type="body" idx="1"/>
          </p:nvPr>
        </p:nvSpPr>
        <p:spPr bwMode="auto">
          <a:noFill/>
        </p:spPr>
        <p:txBody>
          <a:bodyPr/>
          <a:lstStyle/>
          <a:p>
            <a:pPr eaLnBrk="1" hangingPunct="1"/>
            <a:endParaRPr lang="zh-CN" altLang="en-US" smtClean="0"/>
          </a:p>
        </p:txBody>
      </p:sp>
    </p:spTree>
    <p:extLst>
      <p:ext uri="{BB962C8B-B14F-4D97-AF65-F5344CB8AC3E}">
        <p14:creationId xmlns:p14="http://schemas.microsoft.com/office/powerpoint/2010/main" val="85320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11D40AE9-BE67-44CF-9AB7-7CB22F308B26}" type="slidenum">
              <a:rPr lang="zh-CN" altLang="en-US" sz="1200">
                <a:cs typeface="Arial" charset="0"/>
              </a:rPr>
              <a:pPr algn="r"/>
              <a:t>44</a:t>
            </a:fld>
            <a:endParaRPr lang="en-US" altLang="zh-CN" sz="1200">
              <a:cs typeface="Arial" charset="0"/>
            </a:endParaRPr>
          </a:p>
        </p:txBody>
      </p:sp>
      <p:sp>
        <p:nvSpPr>
          <p:cNvPr id="1320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2100" name="Rectangle 3"/>
          <p:cNvSpPr>
            <a:spLocks noGrp="1" noChangeArrowheads="1"/>
          </p:cNvSpPr>
          <p:nvPr>
            <p:ph type="body" idx="1"/>
          </p:nvPr>
        </p:nvSpPr>
        <p:spPr bwMode="auto">
          <a:noFill/>
        </p:spPr>
        <p:txBody>
          <a:bodyPr/>
          <a:lstStyle/>
          <a:p>
            <a:pPr eaLnBrk="1" hangingPunct="1"/>
            <a:endParaRPr lang="zh-CN" altLang="en-US" smtClean="0"/>
          </a:p>
        </p:txBody>
      </p:sp>
    </p:spTree>
    <p:extLst>
      <p:ext uri="{BB962C8B-B14F-4D97-AF65-F5344CB8AC3E}">
        <p14:creationId xmlns:p14="http://schemas.microsoft.com/office/powerpoint/2010/main" val="1614572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7B028939-09A8-4899-BC6D-6099E211BB3E}" type="slidenum">
              <a:rPr lang="zh-CN" altLang="en-US" sz="1200">
                <a:cs typeface="Arial" charset="0"/>
              </a:rPr>
              <a:pPr algn="r"/>
              <a:t>45</a:t>
            </a:fld>
            <a:endParaRPr lang="en-US" altLang="zh-CN" sz="1200">
              <a:cs typeface="Arial" charset="0"/>
            </a:endParaRPr>
          </a:p>
        </p:txBody>
      </p:sp>
      <p:sp>
        <p:nvSpPr>
          <p:cNvPr id="1331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3124" name="Rectangle 3"/>
          <p:cNvSpPr>
            <a:spLocks noGrp="1" noChangeArrowheads="1"/>
          </p:cNvSpPr>
          <p:nvPr>
            <p:ph type="body" idx="1"/>
          </p:nvPr>
        </p:nvSpPr>
        <p:spPr bwMode="auto">
          <a:noFill/>
        </p:spPr>
        <p:txBody>
          <a:bodyPr/>
          <a:lstStyle/>
          <a:p>
            <a:pPr eaLnBrk="1" hangingPunct="1"/>
            <a:endParaRPr lang="zh-CN" altLang="en-US" smtClean="0"/>
          </a:p>
        </p:txBody>
      </p:sp>
    </p:spTree>
    <p:extLst>
      <p:ext uri="{BB962C8B-B14F-4D97-AF65-F5344CB8AC3E}">
        <p14:creationId xmlns:p14="http://schemas.microsoft.com/office/powerpoint/2010/main" val="5088119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38734EB8-3D7D-45A7-B025-F1FAFBF4386E}" type="slidenum">
              <a:rPr lang="zh-CN" altLang="en-US" sz="1200">
                <a:cs typeface="Arial" charset="0"/>
              </a:rPr>
              <a:pPr algn="r"/>
              <a:t>46</a:t>
            </a:fld>
            <a:endParaRPr lang="en-US" altLang="zh-CN" sz="1200">
              <a:cs typeface="Arial" charset="0"/>
            </a:endParaRPr>
          </a:p>
        </p:txBody>
      </p:sp>
      <p:sp>
        <p:nvSpPr>
          <p:cNvPr id="1341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4148" name="Rectangle 3"/>
          <p:cNvSpPr>
            <a:spLocks noGrp="1" noChangeArrowheads="1"/>
          </p:cNvSpPr>
          <p:nvPr>
            <p:ph type="body" idx="1"/>
          </p:nvPr>
        </p:nvSpPr>
        <p:spPr bwMode="auto">
          <a:noFill/>
        </p:spPr>
        <p:txBody>
          <a:bodyPr/>
          <a:lstStyle/>
          <a:p>
            <a:pPr eaLnBrk="1" hangingPunct="1"/>
            <a:endParaRPr lang="zh-CN" altLang="en-US" smtClean="0"/>
          </a:p>
        </p:txBody>
      </p:sp>
    </p:spTree>
    <p:extLst>
      <p:ext uri="{BB962C8B-B14F-4D97-AF65-F5344CB8AC3E}">
        <p14:creationId xmlns:p14="http://schemas.microsoft.com/office/powerpoint/2010/main" val="322494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32C8A44-CE4F-436A-9084-DE70C609A750}" type="slidenum">
              <a:rPr lang="zh-CN" altLang="en-US" sz="1200">
                <a:cs typeface="Arial" charset="0"/>
              </a:rPr>
              <a:pPr algn="r"/>
              <a:t>47</a:t>
            </a:fld>
            <a:endParaRPr lang="en-US" altLang="zh-CN" sz="1200">
              <a:cs typeface="Arial" charset="0"/>
            </a:endParaRPr>
          </a:p>
        </p:txBody>
      </p:sp>
      <p:sp>
        <p:nvSpPr>
          <p:cNvPr id="1351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5172" name="Rectangle 3"/>
          <p:cNvSpPr>
            <a:spLocks noGrp="1" noChangeArrowheads="1"/>
          </p:cNvSpPr>
          <p:nvPr>
            <p:ph type="body" idx="1"/>
          </p:nvPr>
        </p:nvSpPr>
        <p:spPr bwMode="auto">
          <a:noFill/>
        </p:spPr>
        <p:txBody>
          <a:bodyPr/>
          <a:lstStyle/>
          <a:p>
            <a:pPr eaLnBrk="1" hangingPunct="1"/>
            <a:endParaRPr lang="zh-CN" altLang="en-US" smtClean="0"/>
          </a:p>
        </p:txBody>
      </p:sp>
    </p:spTree>
    <p:extLst>
      <p:ext uri="{BB962C8B-B14F-4D97-AF65-F5344CB8AC3E}">
        <p14:creationId xmlns:p14="http://schemas.microsoft.com/office/powerpoint/2010/main" val="2056559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95DCEE1-5018-4AF3-92CE-1CC40D51ABE7}" type="slidenum">
              <a:rPr lang="zh-CN" altLang="en-US" sz="1200">
                <a:cs typeface="Arial" charset="0"/>
              </a:rPr>
              <a:pPr algn="r"/>
              <a:t>48</a:t>
            </a:fld>
            <a:endParaRPr lang="en-US" altLang="zh-CN" sz="1200">
              <a:cs typeface="Arial" charset="0"/>
            </a:endParaRPr>
          </a:p>
        </p:txBody>
      </p:sp>
      <p:sp>
        <p:nvSpPr>
          <p:cNvPr id="1361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6196" name="Rectangle 3"/>
          <p:cNvSpPr>
            <a:spLocks noGrp="1" noChangeArrowheads="1"/>
          </p:cNvSpPr>
          <p:nvPr>
            <p:ph type="body" idx="1"/>
          </p:nvPr>
        </p:nvSpPr>
        <p:spPr bwMode="auto">
          <a:noFill/>
        </p:spPr>
        <p:txBody>
          <a:bodyPr/>
          <a:lstStyle/>
          <a:p>
            <a:pPr eaLnBrk="1" hangingPunct="1"/>
            <a:endParaRPr lang="zh-CN" altLang="en-US" smtClean="0"/>
          </a:p>
        </p:txBody>
      </p:sp>
    </p:spTree>
    <p:extLst>
      <p:ext uri="{BB962C8B-B14F-4D97-AF65-F5344CB8AC3E}">
        <p14:creationId xmlns:p14="http://schemas.microsoft.com/office/powerpoint/2010/main" val="846134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bwMode="auto">
          <a:noFill/>
          <a:ln>
            <a:solidFill>
              <a:srgbClr val="000000"/>
            </a:solidFill>
            <a:miter lim="800000"/>
            <a:headEnd/>
            <a:tailEnd/>
          </a:ln>
        </p:spPr>
      </p:sp>
      <p:sp>
        <p:nvSpPr>
          <p:cNvPr id="137219" name="备注占位符 2"/>
          <p:cNvSpPr>
            <a:spLocks noGrp="1"/>
          </p:cNvSpPr>
          <p:nvPr>
            <p:ph type="body" idx="1"/>
          </p:nvPr>
        </p:nvSpPr>
        <p:spPr bwMode="auto">
          <a:noFill/>
        </p:spPr>
        <p:txBody>
          <a:bodyPr/>
          <a:lstStyle/>
          <a:p>
            <a:pPr eaLnBrk="1" hangingPunct="1"/>
            <a:endParaRPr lang="zh-CN" altLang="en-US" smtClean="0"/>
          </a:p>
        </p:txBody>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E2EABCEE-393F-406F-B11C-E411ABEFD1C5}" type="slidenum">
              <a:rPr lang="zh-CN" altLang="en-US" sz="1200">
                <a:latin typeface="+mn-lt"/>
                <a:ea typeface="+mn-ea"/>
              </a:rPr>
              <a:pPr algn="r" fontAlgn="auto">
                <a:spcBef>
                  <a:spcPts val="0"/>
                </a:spcBef>
                <a:spcAft>
                  <a:spcPts val="0"/>
                </a:spcAft>
                <a:defRPr/>
              </a:pPr>
              <a:t>54</a:t>
            </a:fld>
            <a:endParaRPr lang="zh-CN" altLang="en-US" sz="1200">
              <a:latin typeface="+mn-lt"/>
              <a:ea typeface="+mn-ea"/>
            </a:endParaRPr>
          </a:p>
        </p:txBody>
      </p:sp>
    </p:spTree>
    <p:extLst>
      <p:ext uri="{BB962C8B-B14F-4D97-AF65-F5344CB8AC3E}">
        <p14:creationId xmlns:p14="http://schemas.microsoft.com/office/powerpoint/2010/main" val="7358528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TextEdit="1"/>
          </p:cNvSpPr>
          <p:nvPr>
            <p:ph type="sldImg"/>
          </p:nvPr>
        </p:nvSpPr>
        <p:spPr bwMode="auto">
          <a:noFill/>
          <a:ln>
            <a:solidFill>
              <a:srgbClr val="000000"/>
            </a:solidFill>
            <a:miter lim="800000"/>
            <a:headEnd/>
            <a:tailEnd/>
          </a:ln>
        </p:spPr>
      </p:sp>
      <p:sp>
        <p:nvSpPr>
          <p:cNvPr id="138243" name="Rectangle 3"/>
          <p:cNvSpPr>
            <a:spLocks noGrp="1"/>
          </p:cNvSpPr>
          <p:nvPr>
            <p:ph type="body" idx="1"/>
          </p:nvPr>
        </p:nvSpPr>
        <p:spPr bwMode="auto">
          <a:noFill/>
        </p:spPr>
        <p:txBody>
          <a:bodyPr/>
          <a:lstStyle/>
          <a:p>
            <a:endParaRPr lang="zh-CN" altLang="en-US" smtClean="0"/>
          </a:p>
        </p:txBody>
      </p:sp>
    </p:spTree>
    <p:extLst>
      <p:ext uri="{BB962C8B-B14F-4D97-AF65-F5344CB8AC3E}">
        <p14:creationId xmlns:p14="http://schemas.microsoft.com/office/powerpoint/2010/main" val="120594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wrap="none" anchor="b"/>
          <a:lstStyle/>
          <a:p>
            <a:pPr algn="r"/>
            <a:fld id="{E17E4725-EC7B-4C16-936A-FD4FBCD82A3E}" type="slidenum">
              <a:rPr lang="en-US" altLang="zh-CN" sz="1200">
                <a:latin typeface="Times New Roman" pitchFamily="18" charset="0"/>
              </a:rPr>
              <a:pPr algn="r"/>
              <a:t>56</a:t>
            </a:fld>
            <a:endParaRPr lang="en-US" altLang="zh-CN" sz="1200">
              <a:latin typeface="Times New Roman" pitchFamily="18" charset="0"/>
            </a:endParaRPr>
          </a:p>
        </p:txBody>
      </p:sp>
      <p:sp>
        <p:nvSpPr>
          <p:cNvPr id="1392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9268" name="Rectangle 3"/>
          <p:cNvSpPr>
            <a:spLocks noGrp="1" noChangeArrowheads="1"/>
          </p:cNvSpPr>
          <p:nvPr>
            <p:ph type="body" idx="1"/>
          </p:nvPr>
        </p:nvSpPr>
        <p:spPr bwMode="auto">
          <a:xfrm>
            <a:off x="914400" y="4343400"/>
            <a:ext cx="5029200" cy="4114800"/>
          </a:xfrm>
          <a:noFill/>
        </p:spPr>
        <p:txBody>
          <a:bodyPr wrap="none"/>
          <a:lstStyle/>
          <a:p>
            <a:endParaRPr lang="zh-CN" altLang="zh-CN" smtClean="0"/>
          </a:p>
        </p:txBody>
      </p:sp>
    </p:spTree>
    <p:extLst>
      <p:ext uri="{BB962C8B-B14F-4D97-AF65-F5344CB8AC3E}">
        <p14:creationId xmlns:p14="http://schemas.microsoft.com/office/powerpoint/2010/main" val="1748043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bwMode="auto">
          <a:noFill/>
          <a:ln>
            <a:solidFill>
              <a:srgbClr val="000000"/>
            </a:solidFill>
            <a:miter lim="800000"/>
            <a:headEnd/>
            <a:tailEnd/>
          </a:ln>
        </p:spPr>
      </p:sp>
      <p:sp>
        <p:nvSpPr>
          <p:cNvPr id="140291" name="备注占位符 2"/>
          <p:cNvSpPr>
            <a:spLocks noGrp="1"/>
          </p:cNvSpPr>
          <p:nvPr>
            <p:ph type="body" idx="1"/>
          </p:nvPr>
        </p:nvSpPr>
        <p:spPr bwMode="auto">
          <a:noFill/>
        </p:spPr>
        <p:txBody>
          <a:bodyPr/>
          <a:lstStyle/>
          <a:p>
            <a:endParaRPr lang="zh-CN" altLang="en-US" smtClean="0"/>
          </a:p>
        </p:txBody>
      </p:sp>
      <p:sp>
        <p:nvSpPr>
          <p:cNvPr id="140292" name="灯片编号占位符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B024D36-7983-4561-A17B-FC8EEC8AF9EE}" type="slidenum">
              <a:rPr lang="zh-CN" altLang="en-US" sz="1200">
                <a:latin typeface="Calibri" pitchFamily="34" charset="0"/>
              </a:rPr>
              <a:pPr algn="r"/>
              <a:t>58</a:t>
            </a:fld>
            <a:endParaRPr lang="en-US" altLang="zh-CN" sz="1200">
              <a:latin typeface="Calibri" pitchFamily="34" charset="0"/>
            </a:endParaRPr>
          </a:p>
        </p:txBody>
      </p:sp>
    </p:spTree>
    <p:extLst>
      <p:ext uri="{BB962C8B-B14F-4D97-AF65-F5344CB8AC3E}">
        <p14:creationId xmlns:p14="http://schemas.microsoft.com/office/powerpoint/2010/main" val="1792729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TextEdit="1"/>
          </p:cNvSpPr>
          <p:nvPr>
            <p:ph type="sldImg"/>
          </p:nvPr>
        </p:nvSpPr>
        <p:spPr bwMode="auto">
          <a:noFill/>
          <a:ln>
            <a:solidFill>
              <a:srgbClr val="000000"/>
            </a:solidFill>
            <a:miter lim="800000"/>
            <a:headEnd/>
            <a:tailEnd/>
          </a:ln>
        </p:spPr>
      </p:sp>
      <p:sp>
        <p:nvSpPr>
          <p:cNvPr id="141315" name="Rectangle 3"/>
          <p:cNvSpPr>
            <a:spLocks noGrp="1"/>
          </p:cNvSpPr>
          <p:nvPr>
            <p:ph type="body" idx="1"/>
          </p:nvPr>
        </p:nvSpPr>
        <p:spPr bwMode="auto">
          <a:noFill/>
        </p:spPr>
        <p:txBody>
          <a:bodyPr/>
          <a:lstStyle/>
          <a:p>
            <a:endParaRPr lang="zh-CN" altLang="en-US" smtClean="0"/>
          </a:p>
        </p:txBody>
      </p:sp>
    </p:spTree>
    <p:extLst>
      <p:ext uri="{BB962C8B-B14F-4D97-AF65-F5344CB8AC3E}">
        <p14:creationId xmlns:p14="http://schemas.microsoft.com/office/powerpoint/2010/main" val="1209777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noFill/>
          <a:ln>
            <a:solidFill>
              <a:srgbClr val="000000"/>
            </a:solidFill>
            <a:miter lim="800000"/>
            <a:headEnd/>
            <a:tailEnd/>
          </a:ln>
        </p:spPr>
      </p:sp>
      <p:sp>
        <p:nvSpPr>
          <p:cNvPr id="142339" name="备注占位符 2"/>
          <p:cNvSpPr>
            <a:spLocks noGrp="1"/>
          </p:cNvSpPr>
          <p:nvPr>
            <p:ph type="body" idx="1"/>
          </p:nvPr>
        </p:nvSpPr>
        <p:spPr bwMode="auto">
          <a:noFill/>
        </p:spPr>
        <p:txBody>
          <a:bodyPr/>
          <a:lstStyle/>
          <a:p>
            <a:endParaRPr lang="zh-CN" altLang="en-US" dirty="0" smtClean="0"/>
          </a:p>
        </p:txBody>
      </p:sp>
      <p:sp>
        <p:nvSpPr>
          <p:cNvPr id="142340" name="灯片编号占位符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0ADEC1FD-5684-46D5-826E-7E8F909E6EC6}" type="slidenum">
              <a:rPr lang="zh-CN" altLang="en-US" sz="1200">
                <a:latin typeface="Calibri" pitchFamily="34" charset="0"/>
              </a:rPr>
              <a:pPr algn="r"/>
              <a:t>84</a:t>
            </a:fld>
            <a:endParaRPr lang="en-US" altLang="zh-CN" sz="1200">
              <a:latin typeface="Calibri" pitchFamily="34" charset="0"/>
            </a:endParaRPr>
          </a:p>
        </p:txBody>
      </p:sp>
    </p:spTree>
    <p:extLst>
      <p:ext uri="{BB962C8B-B14F-4D97-AF65-F5344CB8AC3E}">
        <p14:creationId xmlns:p14="http://schemas.microsoft.com/office/powerpoint/2010/main" val="359575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TextEdit="1"/>
          </p:cNvSpPr>
          <p:nvPr>
            <p:ph type="sldImg"/>
          </p:nvPr>
        </p:nvSpPr>
        <p:spPr bwMode="auto">
          <a:noFill/>
          <a:ln>
            <a:solidFill>
              <a:srgbClr val="000000"/>
            </a:solidFill>
            <a:miter lim="800000"/>
            <a:headEnd/>
            <a:tailEnd/>
          </a:ln>
        </p:spPr>
      </p:sp>
      <p:sp>
        <p:nvSpPr>
          <p:cNvPr id="143363" name="Rectangle 3"/>
          <p:cNvSpPr>
            <a:spLocks noGrp="1"/>
          </p:cNvSpPr>
          <p:nvPr>
            <p:ph type="body" idx="1"/>
          </p:nvPr>
        </p:nvSpPr>
        <p:spPr bwMode="auto">
          <a:noFill/>
        </p:spPr>
        <p:txBody>
          <a:bodyPr/>
          <a:lstStyle/>
          <a:p>
            <a:r>
              <a:rPr lang="zh-CN" altLang="en-US" dirty="0" smtClean="0"/>
              <a:t>检验和，校验和</a:t>
            </a:r>
            <a:r>
              <a:rPr lang="en-US" altLang="zh-CN" dirty="0" smtClean="0"/>
              <a:t>(checksum)</a:t>
            </a:r>
            <a:r>
              <a:rPr lang="zh-CN" altLang="en-US" dirty="0" smtClean="0"/>
              <a:t>。在数据处理和数据通信领域中，用于校验目的的一组数据项的和。这些数据项可以是数字或在计算检验的过程中看作数字的其它字符串。</a:t>
            </a:r>
            <a:endParaRPr lang="en-US" altLang="zh-CN" dirty="0" smtClean="0"/>
          </a:p>
          <a:p>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奇偶校验是一种校验代码传输正确性的方法。根据被传输的一组二进制代码的数位中“</a:t>
            </a:r>
            <a:r>
              <a:rPr lang="en-US" altLang="zh-CN" dirty="0" smtClean="0"/>
              <a:t>1”</a:t>
            </a:r>
            <a:r>
              <a:rPr lang="zh-CN" altLang="en-US" dirty="0" smtClean="0"/>
              <a:t>的个数是奇数或偶数来进行校验。采用奇数的称为奇校验，反之，称为偶 校验。采用何种校验是事先规定好的。通常专门设置一个奇偶校验位，用它使这组代码中“</a:t>
            </a:r>
            <a:r>
              <a:rPr lang="en-US" altLang="zh-CN" dirty="0" smtClean="0"/>
              <a:t>1”</a:t>
            </a:r>
            <a:r>
              <a:rPr lang="zh-CN" altLang="en-US" dirty="0" smtClean="0"/>
              <a:t>的个数为奇数或偶数。若用奇校验，则当接收端收到这组代码时，校 验“</a:t>
            </a:r>
            <a:r>
              <a:rPr lang="en-US" altLang="zh-CN" dirty="0" smtClean="0"/>
              <a:t>1”</a:t>
            </a:r>
            <a:r>
              <a:rPr lang="zh-CN" altLang="en-US" smtClean="0"/>
              <a:t>的个数是否为奇数，从而确定传输代码的正确性。 </a:t>
            </a:r>
          </a:p>
          <a:p>
            <a:r>
              <a:rPr lang="zh-CN" altLang="en-US" smtClean="0"/>
              <a:t> </a:t>
            </a:r>
          </a:p>
        </p:txBody>
      </p:sp>
    </p:spTree>
    <p:extLst>
      <p:ext uri="{BB962C8B-B14F-4D97-AF65-F5344CB8AC3E}">
        <p14:creationId xmlns:p14="http://schemas.microsoft.com/office/powerpoint/2010/main" val="363017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TextEdit="1"/>
          </p:cNvSpPr>
          <p:nvPr>
            <p:ph type="sldImg"/>
          </p:nvPr>
        </p:nvSpPr>
        <p:spPr bwMode="auto">
          <a:noFill/>
          <a:ln>
            <a:solidFill>
              <a:srgbClr val="000000"/>
            </a:solidFill>
            <a:miter lim="800000"/>
            <a:headEnd/>
            <a:tailEnd/>
          </a:ln>
        </p:spPr>
      </p:sp>
      <p:sp>
        <p:nvSpPr>
          <p:cNvPr id="143363" name="Rectangle 3"/>
          <p:cNvSpPr>
            <a:spLocks noGrp="1"/>
          </p:cNvSpPr>
          <p:nvPr>
            <p:ph type="body" idx="1"/>
          </p:nvPr>
        </p:nvSpPr>
        <p:spPr bwMode="auto">
          <a:noFill/>
        </p:spPr>
        <p:txBody>
          <a:bodyPr/>
          <a:lstStyle/>
          <a:p>
            <a:r>
              <a:rPr lang="zh-CN" altLang="en-US" dirty="0" smtClean="0"/>
              <a:t>检验和，校验和</a:t>
            </a:r>
            <a:r>
              <a:rPr lang="en-US" altLang="zh-CN" dirty="0" smtClean="0"/>
              <a:t>(checksum)</a:t>
            </a:r>
            <a:r>
              <a:rPr lang="zh-CN" altLang="en-US" dirty="0" smtClean="0"/>
              <a:t>。在数据处理和数据通信领域中，用于校验目的的一组数据项的和。这些数据项可以是数字或在计算检验的过程中看作数字的其它字符串。</a:t>
            </a:r>
            <a:endParaRPr lang="en-US" altLang="zh-CN" dirty="0" smtClean="0"/>
          </a:p>
          <a:p>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奇偶校验是一种校验代码传输正确性的方法。根据被传输的一组二进制代码的数位中“</a:t>
            </a:r>
            <a:r>
              <a:rPr lang="en-US" altLang="zh-CN" dirty="0" smtClean="0"/>
              <a:t>1”</a:t>
            </a:r>
            <a:r>
              <a:rPr lang="zh-CN" altLang="en-US" dirty="0" smtClean="0"/>
              <a:t>的个数是奇数或偶数来进行校验。采用奇数的称为奇校验，反之，称为偶 校验。采用何种校验是事先规定好的。通常专门设置一个奇偶校验位，用它使这组代码中“</a:t>
            </a:r>
            <a:r>
              <a:rPr lang="en-US" altLang="zh-CN" dirty="0" smtClean="0"/>
              <a:t>1”</a:t>
            </a:r>
            <a:r>
              <a:rPr lang="zh-CN" altLang="en-US" dirty="0" smtClean="0"/>
              <a:t>的个数为奇数或偶数。若用奇校验，则当接收端收到这组代码时，校 验“</a:t>
            </a:r>
            <a:r>
              <a:rPr lang="en-US" altLang="zh-CN" dirty="0" smtClean="0"/>
              <a:t>1”</a:t>
            </a:r>
            <a:r>
              <a:rPr lang="zh-CN" altLang="en-US" dirty="0" smtClean="0"/>
              <a:t>的个数是否为奇数，从而确定传输代码的正确性。 </a:t>
            </a:r>
          </a:p>
          <a:p>
            <a:r>
              <a:rPr lang="zh-CN" altLang="en-US" dirty="0" smtClean="0"/>
              <a:t> </a:t>
            </a:r>
          </a:p>
        </p:txBody>
      </p:sp>
    </p:spTree>
    <p:extLst>
      <p:ext uri="{BB962C8B-B14F-4D97-AF65-F5344CB8AC3E}">
        <p14:creationId xmlns:p14="http://schemas.microsoft.com/office/powerpoint/2010/main" val="229274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bwMode="auto">
          <a:noFill/>
          <a:ln>
            <a:solidFill>
              <a:srgbClr val="000000"/>
            </a:solidFill>
            <a:miter lim="800000"/>
            <a:headEnd/>
            <a:tailEnd/>
          </a:ln>
        </p:spPr>
      </p:sp>
      <p:sp>
        <p:nvSpPr>
          <p:cNvPr id="144387" name="备注占位符 2"/>
          <p:cNvSpPr>
            <a:spLocks noGrp="1"/>
          </p:cNvSpPr>
          <p:nvPr>
            <p:ph type="body" idx="1"/>
          </p:nvPr>
        </p:nvSpPr>
        <p:spPr bwMode="auto">
          <a:noFill/>
        </p:spPr>
        <p:txBody>
          <a:bodyPr/>
          <a:lstStyle/>
          <a:p>
            <a:pPr eaLnBrk="1" hangingPunct="1"/>
            <a:endParaRPr lang="zh-CN" altLang="en-US" smtClean="0"/>
          </a:p>
        </p:txBody>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A2153E2D-4FE2-405B-8617-32158CDA3C58}" type="slidenum">
              <a:rPr lang="zh-CN" altLang="en-US" sz="1200">
                <a:latin typeface="+mn-lt"/>
                <a:ea typeface="+mn-ea"/>
              </a:rPr>
              <a:pPr algn="r" fontAlgn="auto">
                <a:spcBef>
                  <a:spcPts val="0"/>
                </a:spcBef>
                <a:spcAft>
                  <a:spcPts val="0"/>
                </a:spcAft>
                <a:defRPr/>
              </a:pPr>
              <a:t>88</a:t>
            </a:fld>
            <a:endParaRPr lang="zh-CN" altLang="en-US" sz="1200">
              <a:latin typeface="+mn-lt"/>
              <a:ea typeface="+mn-ea"/>
            </a:endParaRPr>
          </a:p>
        </p:txBody>
      </p:sp>
    </p:spTree>
    <p:extLst>
      <p:ext uri="{BB962C8B-B14F-4D97-AF65-F5344CB8AC3E}">
        <p14:creationId xmlns:p14="http://schemas.microsoft.com/office/powerpoint/2010/main" val="832052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TextEdit="1"/>
          </p:cNvSpPr>
          <p:nvPr>
            <p:ph type="sldImg"/>
          </p:nvPr>
        </p:nvSpPr>
        <p:spPr bwMode="auto">
          <a:noFill/>
          <a:ln>
            <a:solidFill>
              <a:srgbClr val="000000"/>
            </a:solidFill>
            <a:miter lim="800000"/>
            <a:headEnd/>
            <a:tailEnd/>
          </a:ln>
        </p:spPr>
      </p:sp>
      <p:sp>
        <p:nvSpPr>
          <p:cNvPr id="145411" name="Rectangle 3"/>
          <p:cNvSpPr>
            <a:spLocks noGrp="1"/>
          </p:cNvSpPr>
          <p:nvPr>
            <p:ph type="body" idx="1"/>
          </p:nvPr>
        </p:nvSpPr>
        <p:spPr bwMode="auto">
          <a:noFill/>
        </p:spPr>
        <p:txBody>
          <a:bodyPr/>
          <a:lstStyle/>
          <a:p>
            <a:endParaRPr lang="zh-CN" altLang="en-US" smtClean="0"/>
          </a:p>
        </p:txBody>
      </p:sp>
    </p:spTree>
    <p:extLst>
      <p:ext uri="{BB962C8B-B14F-4D97-AF65-F5344CB8AC3E}">
        <p14:creationId xmlns:p14="http://schemas.microsoft.com/office/powerpoint/2010/main" val="20332661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bwMode="auto">
          <a:noFill/>
          <a:ln>
            <a:solidFill>
              <a:srgbClr val="000000"/>
            </a:solidFill>
            <a:miter lim="800000"/>
            <a:headEnd/>
            <a:tailEnd/>
          </a:ln>
        </p:spPr>
      </p:sp>
      <p:sp>
        <p:nvSpPr>
          <p:cNvPr id="146435" name="备注占位符 2"/>
          <p:cNvSpPr>
            <a:spLocks noGrp="1"/>
          </p:cNvSpPr>
          <p:nvPr>
            <p:ph type="body" idx="1"/>
          </p:nvPr>
        </p:nvSpPr>
        <p:spPr bwMode="auto">
          <a:noFill/>
        </p:spPr>
        <p:txBody>
          <a:bodyPr/>
          <a:lstStyle/>
          <a:p>
            <a:pPr eaLnBrk="1" hangingPunct="1"/>
            <a:endParaRPr lang="zh-CN" altLang="en-US" smtClean="0"/>
          </a:p>
        </p:txBody>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E158519A-11A1-4CD4-B081-A3652298C516}" type="slidenum">
              <a:rPr lang="zh-CN" altLang="en-US" sz="1200">
                <a:latin typeface="+mn-lt"/>
                <a:ea typeface="+mn-ea"/>
              </a:rPr>
              <a:pPr algn="r" fontAlgn="auto">
                <a:spcBef>
                  <a:spcPts val="0"/>
                </a:spcBef>
                <a:spcAft>
                  <a:spcPts val="0"/>
                </a:spcAft>
                <a:defRPr/>
              </a:pPr>
              <a:t>117</a:t>
            </a:fld>
            <a:endParaRPr lang="zh-CN" altLang="en-US" sz="1200">
              <a:latin typeface="+mn-lt"/>
              <a:ea typeface="+mn-ea"/>
            </a:endParaRPr>
          </a:p>
        </p:txBody>
      </p:sp>
    </p:spTree>
    <p:extLst>
      <p:ext uri="{BB962C8B-B14F-4D97-AF65-F5344CB8AC3E}">
        <p14:creationId xmlns:p14="http://schemas.microsoft.com/office/powerpoint/2010/main" val="1575352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685800" y="2130425"/>
            <a:ext cx="7772400" cy="1470025"/>
          </a:xfrm>
        </p:spPr>
        <p:txBody>
          <a:bodyPr/>
          <a:lstStyle>
            <a:lvl1pPr algn="ctr">
              <a:defRPr/>
            </a:lvl1pPr>
          </a:lstStyle>
          <a:p>
            <a:r>
              <a:rPr lang="zh-CN" altLang="en-US"/>
              <a:t>单击此处编辑母版标题样式</a:t>
            </a:r>
          </a:p>
        </p:txBody>
      </p:sp>
      <p:sp>
        <p:nvSpPr>
          <p:cNvPr id="129028" name="Text Placeholder 8"/>
          <p:cNvSpPr>
            <a:spLocks noGrp="1"/>
          </p:cNvSpPr>
          <p:nvPr>
            <p:ph type="subTitle" idx="1"/>
          </p:nvPr>
        </p:nvSpPr>
        <p:spPr>
          <a:xfrm>
            <a:off x="1371600" y="3886200"/>
            <a:ext cx="6400800" cy="1752600"/>
          </a:xfrm>
        </p:spPr>
        <p:txBody>
          <a:bodyPr/>
          <a:lstStyle>
            <a:lvl1pPr marL="82550" indent="0" algn="ctr">
              <a:buFont typeface="Wingdings 2" pitchFamily="18" charset="2"/>
              <a:buNone/>
              <a:defRPr/>
            </a:lvl1pPr>
          </a:lstStyle>
          <a:p>
            <a:r>
              <a:rPr lang="zh-CN" altLang="en-US"/>
              <a:t>单击此处编辑母版副标题样式</a:t>
            </a:r>
          </a:p>
        </p:txBody>
      </p:sp>
      <p:sp>
        <p:nvSpPr>
          <p:cNvPr id="6" name="Date Placeholder 6"/>
          <p:cNvSpPr>
            <a:spLocks noGrp="1"/>
          </p:cNvSpPr>
          <p:nvPr>
            <p:ph type="dt" sz="half" idx="10"/>
          </p:nvPr>
        </p:nvSpPr>
        <p:spPr/>
        <p:txBody>
          <a:bodyPr/>
          <a:lstStyle>
            <a:lvl1pPr>
              <a:defRPr/>
            </a:lvl1pPr>
            <a:extLst/>
          </a:lstStyle>
          <a:p>
            <a:pPr>
              <a:defRPr/>
            </a:pPr>
            <a:fld id="{23F480A6-892D-4E0B-97C5-FCCBA69C624B}" type="datetime5">
              <a:rPr lang="zh-CN" altLang="en-US"/>
              <a:pPr>
                <a:defRPr/>
              </a:pPr>
              <a:t>2017/10/24</a:t>
            </a:fld>
            <a:endParaRPr lang="zh-CN" altLang="en-US"/>
          </a:p>
        </p:txBody>
      </p:sp>
      <p:sp>
        <p:nvSpPr>
          <p:cNvPr id="7" name="Footer Placeholder 19"/>
          <p:cNvSpPr>
            <a:spLocks noGrp="1"/>
          </p:cNvSpPr>
          <p:nvPr>
            <p:ph type="ftr" sz="quarter" idx="11"/>
          </p:nvPr>
        </p:nvSpPr>
        <p:spPr/>
        <p:txBody>
          <a:bodyPr/>
          <a:lstStyle>
            <a:lvl1pPr>
              <a:defRPr smtClean="0"/>
            </a:lvl1pPr>
          </a:lstStyle>
          <a:p>
            <a:pPr>
              <a:defRPr/>
            </a:pPr>
            <a:r>
              <a:rPr lang="en-US" altLang="zh-CN"/>
              <a:t>Cloud Computing,</a:t>
            </a:r>
            <a:r>
              <a:rPr lang="zh-CN" altLang="en-US"/>
              <a:t> </a:t>
            </a:r>
            <a:r>
              <a:rPr lang="en-US" altLang="zh-CN"/>
              <a:t>GUCAS</a:t>
            </a:r>
            <a:endParaRPr lang="zh-CN" altLang="en-US"/>
          </a:p>
        </p:txBody>
      </p:sp>
      <p:sp>
        <p:nvSpPr>
          <p:cNvPr id="8" name="Slide Number Placeholder 9"/>
          <p:cNvSpPr>
            <a:spLocks noGrp="1"/>
          </p:cNvSpPr>
          <p:nvPr>
            <p:ph type="sldNum" sz="quarter" idx="12"/>
          </p:nvPr>
        </p:nvSpPr>
        <p:spPr/>
        <p:txBody>
          <a:bodyPr/>
          <a:lstStyle>
            <a:lvl1pPr>
              <a:defRPr/>
            </a:lvl1pPr>
            <a:extLst/>
          </a:lstStyle>
          <a:p>
            <a:pPr>
              <a:defRPr/>
            </a:pPr>
            <a:fld id="{8DA25C34-73F9-4EDC-9915-C043910172E5}" type="slidenum">
              <a:rPr lang="zh-CN" altLang="en-US"/>
              <a:pPr>
                <a:defRPr/>
              </a:pPr>
              <a:t>‹#›</a:t>
            </a:fld>
            <a:endParaRPr lang="zh-CN" altLang="en-US"/>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6"/>
          <p:cNvSpPr>
            <a:spLocks noGrp="1"/>
          </p:cNvSpPr>
          <p:nvPr>
            <p:ph type="dt" sz="half" idx="10"/>
          </p:nvPr>
        </p:nvSpPr>
        <p:spPr/>
        <p:txBody>
          <a:bodyPr/>
          <a:lstStyle>
            <a:lvl1pPr>
              <a:defRPr/>
            </a:lvl1pPr>
          </a:lstStyle>
          <a:p>
            <a:pPr>
              <a:defRPr/>
            </a:pPr>
            <a:fld id="{CCCE0E94-E579-482A-BD8E-7C95651FB0F1}" type="datetime5">
              <a:rPr lang="zh-CN" altLang="en-US"/>
              <a:pPr>
                <a:defRPr/>
              </a:pPr>
              <a:t>2017/10/24</a:t>
            </a:fld>
            <a:endParaRPr lang="zh-CN" altLang="en-US"/>
          </a:p>
        </p:txBody>
      </p:sp>
      <p:sp>
        <p:nvSpPr>
          <p:cNvPr id="5"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6" name="Slide Number Placeholder 9"/>
          <p:cNvSpPr>
            <a:spLocks noGrp="1"/>
          </p:cNvSpPr>
          <p:nvPr>
            <p:ph type="sldNum" sz="quarter" idx="12"/>
          </p:nvPr>
        </p:nvSpPr>
        <p:spPr/>
        <p:txBody>
          <a:bodyPr/>
          <a:lstStyle>
            <a:lvl1pPr>
              <a:defRPr/>
            </a:lvl1pPr>
          </a:lstStyle>
          <a:p>
            <a:pPr>
              <a:defRPr/>
            </a:pPr>
            <a:fld id="{7DAC785E-FA2D-4F3B-B5F4-53D08F6F219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Date Placeholder 6"/>
          <p:cNvSpPr>
            <a:spLocks noGrp="1"/>
          </p:cNvSpPr>
          <p:nvPr>
            <p:ph type="dt" sz="half" idx="10"/>
          </p:nvPr>
        </p:nvSpPr>
        <p:spPr/>
        <p:txBody>
          <a:bodyPr/>
          <a:lstStyle>
            <a:lvl1pPr>
              <a:defRPr/>
            </a:lvl1pPr>
          </a:lstStyle>
          <a:p>
            <a:pPr>
              <a:defRPr/>
            </a:pPr>
            <a:fld id="{3ABE20D7-BBAF-4573-8C3B-9465F5670874}" type="datetime5">
              <a:rPr lang="zh-CN" altLang="en-US"/>
              <a:pPr>
                <a:defRPr/>
              </a:pPr>
              <a:t>2017/10/24</a:t>
            </a:fld>
            <a:endParaRPr lang="zh-CN" altLang="en-US"/>
          </a:p>
        </p:txBody>
      </p:sp>
      <p:sp>
        <p:nvSpPr>
          <p:cNvPr id="5"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6" name="Slide Number Placeholder 9"/>
          <p:cNvSpPr>
            <a:spLocks noGrp="1"/>
          </p:cNvSpPr>
          <p:nvPr>
            <p:ph type="sldNum" sz="quarter" idx="12"/>
          </p:nvPr>
        </p:nvSpPr>
        <p:spPr/>
        <p:txBody>
          <a:bodyPr/>
          <a:lstStyle>
            <a:lvl1pPr>
              <a:defRPr/>
            </a:lvl1pPr>
          </a:lstStyle>
          <a:p>
            <a:pPr>
              <a:defRPr/>
            </a:pPr>
            <a:fld id="{631F70CA-D3D4-48EE-B27D-BF440696ECED}"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95288" y="1447800"/>
            <a:ext cx="4192587"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40275" y="1447800"/>
            <a:ext cx="4194175"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Date Placeholder 6"/>
          <p:cNvSpPr>
            <a:spLocks noGrp="1"/>
          </p:cNvSpPr>
          <p:nvPr>
            <p:ph type="dt" sz="half" idx="10"/>
          </p:nvPr>
        </p:nvSpPr>
        <p:spPr/>
        <p:txBody>
          <a:bodyPr/>
          <a:lstStyle>
            <a:lvl1pPr>
              <a:defRPr/>
            </a:lvl1pPr>
          </a:lstStyle>
          <a:p>
            <a:pPr>
              <a:defRPr/>
            </a:pPr>
            <a:fld id="{DC4DC12D-9DA7-43B3-8A16-81AFBA8C54AB}" type="datetime5">
              <a:rPr lang="zh-CN" altLang="en-US"/>
              <a:pPr>
                <a:defRPr/>
              </a:pPr>
              <a:t>2017/10/24</a:t>
            </a:fld>
            <a:endParaRPr lang="zh-CN" altLang="en-US"/>
          </a:p>
        </p:txBody>
      </p:sp>
      <p:sp>
        <p:nvSpPr>
          <p:cNvPr id="6"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7" name="Slide Number Placeholder 9"/>
          <p:cNvSpPr>
            <a:spLocks noGrp="1"/>
          </p:cNvSpPr>
          <p:nvPr>
            <p:ph type="sldNum" sz="quarter" idx="12"/>
          </p:nvPr>
        </p:nvSpPr>
        <p:spPr/>
        <p:txBody>
          <a:bodyPr/>
          <a:lstStyle>
            <a:lvl1pPr>
              <a:defRPr/>
            </a:lvl1pPr>
          </a:lstStyle>
          <a:p>
            <a:pPr>
              <a:defRPr/>
            </a:pPr>
            <a:fld id="{5154AC2E-9375-4D67-B52D-AFA491CD30F0}"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Date Placeholder 6"/>
          <p:cNvSpPr>
            <a:spLocks noGrp="1"/>
          </p:cNvSpPr>
          <p:nvPr>
            <p:ph type="dt" sz="half" idx="10"/>
          </p:nvPr>
        </p:nvSpPr>
        <p:spPr/>
        <p:txBody>
          <a:bodyPr/>
          <a:lstStyle>
            <a:lvl1pPr>
              <a:defRPr/>
            </a:lvl1pPr>
          </a:lstStyle>
          <a:p>
            <a:pPr>
              <a:defRPr/>
            </a:pPr>
            <a:fld id="{4EB86BEA-5D83-4997-8EDF-39E21E74459A}" type="datetime5">
              <a:rPr lang="zh-CN" altLang="en-US"/>
              <a:pPr>
                <a:defRPr/>
              </a:pPr>
              <a:t>2017/10/24</a:t>
            </a:fld>
            <a:endParaRPr lang="zh-CN" altLang="en-US"/>
          </a:p>
        </p:txBody>
      </p:sp>
      <p:sp>
        <p:nvSpPr>
          <p:cNvPr id="8"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9" name="Slide Number Placeholder 9"/>
          <p:cNvSpPr>
            <a:spLocks noGrp="1"/>
          </p:cNvSpPr>
          <p:nvPr>
            <p:ph type="sldNum" sz="quarter" idx="12"/>
          </p:nvPr>
        </p:nvSpPr>
        <p:spPr/>
        <p:txBody>
          <a:bodyPr/>
          <a:lstStyle>
            <a:lvl1pPr>
              <a:defRPr/>
            </a:lvl1pPr>
          </a:lstStyle>
          <a:p>
            <a:pPr>
              <a:defRPr/>
            </a:pPr>
            <a:fld id="{E2218667-6B61-4B6C-A3F2-24FBBB53BB19}"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Date Placeholder 6"/>
          <p:cNvSpPr>
            <a:spLocks noGrp="1"/>
          </p:cNvSpPr>
          <p:nvPr>
            <p:ph type="dt" sz="half" idx="10"/>
          </p:nvPr>
        </p:nvSpPr>
        <p:spPr/>
        <p:txBody>
          <a:bodyPr/>
          <a:lstStyle>
            <a:lvl1pPr>
              <a:defRPr/>
            </a:lvl1pPr>
          </a:lstStyle>
          <a:p>
            <a:pPr>
              <a:defRPr/>
            </a:pPr>
            <a:fld id="{25AE3A48-3838-4BA9-8C2A-D7BE5DDDFA67}" type="datetime5">
              <a:rPr lang="zh-CN" altLang="en-US"/>
              <a:pPr>
                <a:defRPr/>
              </a:pPr>
              <a:t>2017/10/24</a:t>
            </a:fld>
            <a:endParaRPr lang="zh-CN" altLang="en-US"/>
          </a:p>
        </p:txBody>
      </p:sp>
      <p:sp>
        <p:nvSpPr>
          <p:cNvPr id="4"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5" name="Slide Number Placeholder 9"/>
          <p:cNvSpPr>
            <a:spLocks noGrp="1"/>
          </p:cNvSpPr>
          <p:nvPr>
            <p:ph type="sldNum" sz="quarter" idx="12"/>
          </p:nvPr>
        </p:nvSpPr>
        <p:spPr/>
        <p:txBody>
          <a:bodyPr/>
          <a:lstStyle>
            <a:lvl1pPr>
              <a:defRPr/>
            </a:lvl1pPr>
          </a:lstStyle>
          <a:p>
            <a:pPr>
              <a:defRPr/>
            </a:pPr>
            <a:fld id="{CCF140D1-5645-4F0C-97EF-A1B0A97E4967}"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6"/>
          <p:cNvSpPr>
            <a:spLocks noGrp="1"/>
          </p:cNvSpPr>
          <p:nvPr>
            <p:ph type="dt" sz="half" idx="10"/>
          </p:nvPr>
        </p:nvSpPr>
        <p:spPr/>
        <p:txBody>
          <a:bodyPr/>
          <a:lstStyle>
            <a:lvl1pPr>
              <a:defRPr/>
            </a:lvl1pPr>
          </a:lstStyle>
          <a:p>
            <a:pPr>
              <a:defRPr/>
            </a:pPr>
            <a:fld id="{723561AC-974C-4552-B227-03ADDF01C100}" type="datetime5">
              <a:rPr lang="zh-CN" altLang="en-US"/>
              <a:pPr>
                <a:defRPr/>
              </a:pPr>
              <a:t>2017/10/24</a:t>
            </a:fld>
            <a:endParaRPr lang="zh-CN" altLang="en-US"/>
          </a:p>
        </p:txBody>
      </p:sp>
      <p:sp>
        <p:nvSpPr>
          <p:cNvPr id="3"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4" name="Slide Number Placeholder 9"/>
          <p:cNvSpPr>
            <a:spLocks noGrp="1"/>
          </p:cNvSpPr>
          <p:nvPr>
            <p:ph type="sldNum" sz="quarter" idx="12"/>
          </p:nvPr>
        </p:nvSpPr>
        <p:spPr/>
        <p:txBody>
          <a:bodyPr/>
          <a:lstStyle>
            <a:lvl1pPr>
              <a:defRPr/>
            </a:lvl1pPr>
          </a:lstStyle>
          <a:p>
            <a:pPr>
              <a:defRPr/>
            </a:pPr>
            <a:fld id="{2A5A64DD-1331-4155-B51F-4681D398EB03}"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6"/>
          <p:cNvSpPr>
            <a:spLocks noGrp="1"/>
          </p:cNvSpPr>
          <p:nvPr>
            <p:ph type="dt" sz="half" idx="10"/>
          </p:nvPr>
        </p:nvSpPr>
        <p:spPr/>
        <p:txBody>
          <a:bodyPr/>
          <a:lstStyle>
            <a:lvl1pPr>
              <a:defRPr/>
            </a:lvl1pPr>
          </a:lstStyle>
          <a:p>
            <a:pPr>
              <a:defRPr/>
            </a:pPr>
            <a:fld id="{E6E320B3-D41F-4992-83B9-16A7A979CA9C}" type="datetime5">
              <a:rPr lang="zh-CN" altLang="en-US"/>
              <a:pPr>
                <a:defRPr/>
              </a:pPr>
              <a:t>2017/10/24</a:t>
            </a:fld>
            <a:endParaRPr lang="zh-CN" altLang="en-US"/>
          </a:p>
        </p:txBody>
      </p:sp>
      <p:sp>
        <p:nvSpPr>
          <p:cNvPr id="6"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7" name="Slide Number Placeholder 9"/>
          <p:cNvSpPr>
            <a:spLocks noGrp="1"/>
          </p:cNvSpPr>
          <p:nvPr>
            <p:ph type="sldNum" sz="quarter" idx="12"/>
          </p:nvPr>
        </p:nvSpPr>
        <p:spPr/>
        <p:txBody>
          <a:bodyPr/>
          <a:lstStyle>
            <a:lvl1pPr>
              <a:defRPr/>
            </a:lvl1pPr>
          </a:lstStyle>
          <a:p>
            <a:pPr>
              <a:defRPr/>
            </a:pPr>
            <a:fld id="{998C8C79-2D19-428D-B0C3-F647836B417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6"/>
          <p:cNvSpPr>
            <a:spLocks noGrp="1"/>
          </p:cNvSpPr>
          <p:nvPr>
            <p:ph type="dt" sz="half" idx="10"/>
          </p:nvPr>
        </p:nvSpPr>
        <p:spPr/>
        <p:txBody>
          <a:bodyPr/>
          <a:lstStyle>
            <a:lvl1pPr>
              <a:defRPr/>
            </a:lvl1pPr>
          </a:lstStyle>
          <a:p>
            <a:pPr>
              <a:defRPr/>
            </a:pPr>
            <a:fld id="{6C4A5275-622C-4042-A38E-D8772160FFB9}" type="datetime5">
              <a:rPr lang="zh-CN" altLang="en-US"/>
              <a:pPr>
                <a:defRPr/>
              </a:pPr>
              <a:t>2017/10/24</a:t>
            </a:fld>
            <a:endParaRPr lang="zh-CN" altLang="en-US"/>
          </a:p>
        </p:txBody>
      </p:sp>
      <p:sp>
        <p:nvSpPr>
          <p:cNvPr id="6"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7" name="Slide Number Placeholder 9"/>
          <p:cNvSpPr>
            <a:spLocks noGrp="1"/>
          </p:cNvSpPr>
          <p:nvPr>
            <p:ph type="sldNum" sz="quarter" idx="12"/>
          </p:nvPr>
        </p:nvSpPr>
        <p:spPr/>
        <p:txBody>
          <a:bodyPr/>
          <a:lstStyle>
            <a:lvl1pPr>
              <a:defRPr/>
            </a:lvl1pPr>
          </a:lstStyle>
          <a:p>
            <a:pPr>
              <a:defRPr/>
            </a:pPr>
            <a:fld id="{CCF0E78F-365F-457E-9C15-980AB206D1DF}"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6"/>
          <p:cNvSpPr>
            <a:spLocks noGrp="1"/>
          </p:cNvSpPr>
          <p:nvPr>
            <p:ph type="dt" sz="half" idx="10"/>
          </p:nvPr>
        </p:nvSpPr>
        <p:spPr/>
        <p:txBody>
          <a:bodyPr/>
          <a:lstStyle>
            <a:lvl1pPr>
              <a:defRPr/>
            </a:lvl1pPr>
          </a:lstStyle>
          <a:p>
            <a:pPr>
              <a:defRPr/>
            </a:pPr>
            <a:fld id="{F4623C73-E8B4-4EBF-B04B-8515242ECDEB}" type="datetime5">
              <a:rPr lang="zh-CN" altLang="en-US"/>
              <a:pPr>
                <a:defRPr/>
              </a:pPr>
              <a:t>2017/10/24</a:t>
            </a:fld>
            <a:endParaRPr lang="zh-CN" altLang="en-US"/>
          </a:p>
        </p:txBody>
      </p:sp>
      <p:sp>
        <p:nvSpPr>
          <p:cNvPr id="5"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6" name="Slide Number Placeholder 9"/>
          <p:cNvSpPr>
            <a:spLocks noGrp="1"/>
          </p:cNvSpPr>
          <p:nvPr>
            <p:ph type="sldNum" sz="quarter" idx="12"/>
          </p:nvPr>
        </p:nvSpPr>
        <p:spPr/>
        <p:txBody>
          <a:bodyPr/>
          <a:lstStyle>
            <a:lvl1pPr>
              <a:defRPr/>
            </a:lvl1pPr>
          </a:lstStyle>
          <a:p>
            <a:pPr>
              <a:defRPr/>
            </a:pPr>
            <a:fld id="{03A3889D-757E-44C4-85EB-C13936EE7B78}"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74638"/>
            <a:ext cx="2133600" cy="59737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95288" y="274638"/>
            <a:ext cx="6253162" cy="59737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6"/>
          <p:cNvSpPr>
            <a:spLocks noGrp="1"/>
          </p:cNvSpPr>
          <p:nvPr>
            <p:ph type="dt" sz="half" idx="10"/>
          </p:nvPr>
        </p:nvSpPr>
        <p:spPr/>
        <p:txBody>
          <a:bodyPr/>
          <a:lstStyle>
            <a:lvl1pPr>
              <a:defRPr/>
            </a:lvl1pPr>
          </a:lstStyle>
          <a:p>
            <a:pPr>
              <a:defRPr/>
            </a:pPr>
            <a:fld id="{96B1ECAD-5038-446F-AE96-9503CEFF00AA}" type="datetime5">
              <a:rPr lang="zh-CN" altLang="en-US"/>
              <a:pPr>
                <a:defRPr/>
              </a:pPr>
              <a:t>2017/10/24</a:t>
            </a:fld>
            <a:endParaRPr lang="zh-CN" altLang="en-US"/>
          </a:p>
        </p:txBody>
      </p:sp>
      <p:sp>
        <p:nvSpPr>
          <p:cNvPr id="5" name="Footer Placeholder 19"/>
          <p:cNvSpPr>
            <a:spLocks noGrp="1"/>
          </p:cNvSpPr>
          <p:nvPr>
            <p:ph type="ftr" sz="quarter" idx="11"/>
          </p:nvPr>
        </p:nvSpPr>
        <p:spPr/>
        <p:txBody>
          <a:bodyPr/>
          <a:lstStyle>
            <a:lvl1pPr>
              <a:defRPr/>
            </a:lvl1pPr>
          </a:lstStyle>
          <a:p>
            <a:pPr>
              <a:defRPr/>
            </a:pPr>
            <a:r>
              <a:rPr lang="en-US" altLang="zh-CN"/>
              <a:t>Cloud Computing,</a:t>
            </a:r>
            <a:r>
              <a:rPr lang="zh-CN" altLang="en-US"/>
              <a:t> </a:t>
            </a:r>
            <a:r>
              <a:rPr lang="en-US" altLang="zh-CN"/>
              <a:t>GUCAS</a:t>
            </a:r>
            <a:endParaRPr lang="zh-CN" altLang="en-US"/>
          </a:p>
        </p:txBody>
      </p:sp>
      <p:sp>
        <p:nvSpPr>
          <p:cNvPr id="6" name="Slide Number Placeholder 9"/>
          <p:cNvSpPr>
            <a:spLocks noGrp="1"/>
          </p:cNvSpPr>
          <p:nvPr>
            <p:ph type="sldNum" sz="quarter" idx="12"/>
          </p:nvPr>
        </p:nvSpPr>
        <p:spPr/>
        <p:txBody>
          <a:bodyPr/>
          <a:lstStyle>
            <a:lvl1pPr>
              <a:defRPr/>
            </a:lvl1pPr>
          </a:lstStyle>
          <a:p>
            <a:pPr>
              <a:defRPr/>
            </a:pPr>
            <a:fld id="{7C892D3C-181A-4650-8613-2A46B86C28F5}"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1027" name="Title Placeholder 4"/>
          <p:cNvSpPr>
            <a:spLocks noGrp="1"/>
          </p:cNvSpPr>
          <p:nvPr>
            <p:ph type="title"/>
          </p:nvPr>
        </p:nvSpPr>
        <p:spPr bwMode="auto">
          <a:xfrm>
            <a:off x="395288" y="274638"/>
            <a:ext cx="853916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8" name="Text Placeholder 8"/>
          <p:cNvSpPr>
            <a:spLocks noGrp="1"/>
          </p:cNvSpPr>
          <p:nvPr>
            <p:ph type="body" idx="1"/>
          </p:nvPr>
        </p:nvSpPr>
        <p:spPr bwMode="auto">
          <a:xfrm>
            <a:off x="395288" y="1447800"/>
            <a:ext cx="8539162"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8" name="Date Placeholder 6"/>
          <p:cNvSpPr>
            <a:spLocks noGrp="1"/>
          </p:cNvSpPr>
          <p:nvPr>
            <p:ph type="dt" sz="half" idx="2"/>
          </p:nvPr>
        </p:nvSpPr>
        <p:spPr>
          <a:xfrm>
            <a:off x="3662363" y="6300788"/>
            <a:ext cx="2133600" cy="476250"/>
          </a:xfrm>
          <a:prstGeom prst="rect">
            <a:avLst/>
          </a:prstGeom>
        </p:spPr>
        <p:txBody>
          <a:bodyPr anchor="b"/>
          <a:lstStyle>
            <a:lvl1pPr algn="r" fontAlgn="auto">
              <a:spcBef>
                <a:spcPts val="0"/>
              </a:spcBef>
              <a:spcAft>
                <a:spcPts val="0"/>
              </a:spcAft>
              <a:defRPr sz="1200">
                <a:solidFill>
                  <a:schemeClr val="bg2">
                    <a:shade val="50000"/>
                    <a:satMod val="200000"/>
                  </a:schemeClr>
                </a:solidFill>
                <a:latin typeface="+mn-lt"/>
                <a:ea typeface="+mn-ea"/>
              </a:defRPr>
            </a:lvl1pPr>
            <a:extLst/>
          </a:lstStyle>
          <a:p>
            <a:pPr>
              <a:defRPr/>
            </a:pPr>
            <a:fld id="{BB7248D9-D276-4AAF-9944-CC6CF545D70F}" type="datetime5">
              <a:rPr lang="zh-CN" altLang="en-US"/>
              <a:pPr>
                <a:defRPr/>
              </a:pPr>
              <a:t>2017/10/24</a:t>
            </a:fld>
            <a:endParaRPr lang="zh-CN" altLang="en-US"/>
          </a:p>
        </p:txBody>
      </p:sp>
      <p:sp>
        <p:nvSpPr>
          <p:cNvPr id="9" name="Footer Placeholder 19"/>
          <p:cNvSpPr>
            <a:spLocks noGrp="1"/>
          </p:cNvSpPr>
          <p:nvPr>
            <p:ph type="ftr" sz="quarter" idx="3"/>
          </p:nvPr>
        </p:nvSpPr>
        <p:spPr>
          <a:xfrm>
            <a:off x="6156325" y="6305550"/>
            <a:ext cx="2303463" cy="476250"/>
          </a:xfrm>
          <a:prstGeom prst="rect">
            <a:avLst/>
          </a:prstGeom>
        </p:spPr>
        <p:txBody>
          <a:bodyPr vert="horz" wrap="square" lIns="91440" tIns="45720" rIns="91440" bIns="45720" numCol="1" anchor="b" anchorCtr="0" compatLnSpc="1">
            <a:prstTxWarp prst="textNoShape">
              <a:avLst/>
            </a:prstTxWarp>
          </a:bodyPr>
          <a:lstStyle>
            <a:lvl1pPr>
              <a:defRPr sz="1200" smtClean="0">
                <a:solidFill>
                  <a:srgbClr val="B4B1A0"/>
                </a:solidFill>
                <a:latin typeface="Gill Sans MT" pitchFamily="34" charset="0"/>
                <a:ea typeface="华文中宋" pitchFamily="2" charset="-122"/>
              </a:defRPr>
            </a:lvl1pPr>
          </a:lstStyle>
          <a:p>
            <a:pPr>
              <a:defRPr/>
            </a:pPr>
            <a:r>
              <a:rPr lang="en-US" altLang="zh-CN"/>
              <a:t>Cloud Computing,</a:t>
            </a:r>
            <a:r>
              <a:rPr lang="zh-CN" altLang="en-US"/>
              <a:t> </a:t>
            </a:r>
            <a:r>
              <a:rPr lang="en-US" altLang="zh-CN"/>
              <a:t>GUCAS</a:t>
            </a:r>
            <a:endParaRPr lang="zh-CN" altLang="en-US"/>
          </a:p>
        </p:txBody>
      </p:sp>
      <p:sp>
        <p:nvSpPr>
          <p:cNvPr id="11" name="Slide Number Placeholder 9"/>
          <p:cNvSpPr>
            <a:spLocks noGrp="1"/>
          </p:cNvSpPr>
          <p:nvPr>
            <p:ph type="sldNum" sz="quarter" idx="4"/>
          </p:nvPr>
        </p:nvSpPr>
        <p:spPr>
          <a:xfrm>
            <a:off x="8613775" y="6305550"/>
            <a:ext cx="457200" cy="476250"/>
          </a:xfrm>
          <a:prstGeom prst="rect">
            <a:avLst/>
          </a:prstGeom>
        </p:spPr>
        <p:txBody>
          <a:bodyPr anchor="b"/>
          <a:lstStyle>
            <a:lvl1pPr algn="ctr" fontAlgn="auto">
              <a:spcBef>
                <a:spcPts val="0"/>
              </a:spcBef>
              <a:spcAft>
                <a:spcPts val="0"/>
              </a:spcAft>
              <a:defRPr sz="1200">
                <a:solidFill>
                  <a:schemeClr val="bg2">
                    <a:shade val="50000"/>
                    <a:satMod val="200000"/>
                  </a:schemeClr>
                </a:solidFill>
                <a:latin typeface="+mn-lt"/>
                <a:ea typeface="+mn-ea"/>
              </a:defRPr>
            </a:lvl1pPr>
            <a:extLst/>
          </a:lstStyle>
          <a:p>
            <a:pPr>
              <a:defRPr/>
            </a:pPr>
            <a:fld id="{CE8CF301-98FE-454B-B3E3-22B91676D8D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64" r:id="rId1"/>
    <p:sldLayoutId id="2147484254" r:id="rId2"/>
    <p:sldLayoutId id="2147484255" r:id="rId3"/>
    <p:sldLayoutId id="2147484256" r:id="rId4"/>
    <p:sldLayoutId id="2147484257" r:id="rId5"/>
    <p:sldLayoutId id="2147484258" r:id="rId6"/>
    <p:sldLayoutId id="2147484259" r:id="rId7"/>
    <p:sldLayoutId id="2147484260" r:id="rId8"/>
    <p:sldLayoutId id="2147484261" r:id="rId9"/>
    <p:sldLayoutId id="2147484262" r:id="rId10"/>
    <p:sldLayoutId id="2147484263" r:id="rId11"/>
  </p:sldLayoutIdLst>
  <p:hf hdr="0"/>
  <p:txStyles>
    <p:titleStyle>
      <a:lvl1pPr algn="l" rtl="0" eaLnBrk="0" fontAlgn="base" hangingPunct="0">
        <a:spcBef>
          <a:spcPct val="0"/>
        </a:spcBef>
        <a:spcAft>
          <a:spcPct val="0"/>
        </a:spcAft>
        <a:defRPr sz="4300">
          <a:solidFill>
            <a:srgbClr val="11488B"/>
          </a:solidFill>
          <a:latin typeface="+mj-lt"/>
          <a:ea typeface="+mj-ea"/>
          <a:cs typeface="+mj-cs"/>
        </a:defRPr>
      </a:lvl1pPr>
      <a:lvl2pPr algn="l" rtl="0" eaLnBrk="0" fontAlgn="base" hangingPunct="0">
        <a:spcBef>
          <a:spcPct val="0"/>
        </a:spcBef>
        <a:spcAft>
          <a:spcPct val="0"/>
        </a:spcAft>
        <a:defRPr sz="4300">
          <a:solidFill>
            <a:srgbClr val="11488B"/>
          </a:solidFill>
          <a:latin typeface="Gill Sans MT" pitchFamily="34" charset="0"/>
          <a:ea typeface="华文中宋" pitchFamily="2" charset="-122"/>
        </a:defRPr>
      </a:lvl2pPr>
      <a:lvl3pPr algn="l" rtl="0" eaLnBrk="0" fontAlgn="base" hangingPunct="0">
        <a:spcBef>
          <a:spcPct val="0"/>
        </a:spcBef>
        <a:spcAft>
          <a:spcPct val="0"/>
        </a:spcAft>
        <a:defRPr sz="4300">
          <a:solidFill>
            <a:srgbClr val="11488B"/>
          </a:solidFill>
          <a:latin typeface="Gill Sans MT" pitchFamily="34" charset="0"/>
          <a:ea typeface="华文中宋" pitchFamily="2" charset="-122"/>
        </a:defRPr>
      </a:lvl3pPr>
      <a:lvl4pPr algn="l" rtl="0" eaLnBrk="0" fontAlgn="base" hangingPunct="0">
        <a:spcBef>
          <a:spcPct val="0"/>
        </a:spcBef>
        <a:spcAft>
          <a:spcPct val="0"/>
        </a:spcAft>
        <a:defRPr sz="4300">
          <a:solidFill>
            <a:srgbClr val="11488B"/>
          </a:solidFill>
          <a:latin typeface="Gill Sans MT" pitchFamily="34" charset="0"/>
          <a:ea typeface="华文中宋" pitchFamily="2" charset="-122"/>
        </a:defRPr>
      </a:lvl4pPr>
      <a:lvl5pPr algn="l" rtl="0" eaLnBrk="0" fontAlgn="base" hangingPunct="0">
        <a:spcBef>
          <a:spcPct val="0"/>
        </a:spcBef>
        <a:spcAft>
          <a:spcPct val="0"/>
        </a:spcAft>
        <a:defRPr sz="4300">
          <a:solidFill>
            <a:srgbClr val="11488B"/>
          </a:solidFill>
          <a:latin typeface="Gill Sans MT" pitchFamily="34" charset="0"/>
          <a:ea typeface="华文中宋" pitchFamily="2" charset="-122"/>
        </a:defRPr>
      </a:lvl5pPr>
      <a:lvl6pPr marL="457200" algn="l" rtl="0" eaLnBrk="0" fontAlgn="base" hangingPunct="0">
        <a:spcBef>
          <a:spcPct val="0"/>
        </a:spcBef>
        <a:spcAft>
          <a:spcPct val="0"/>
        </a:spcAft>
        <a:defRPr sz="4300">
          <a:solidFill>
            <a:srgbClr val="11488B"/>
          </a:solidFill>
          <a:latin typeface="Gill Sans MT" pitchFamily="34" charset="0"/>
          <a:ea typeface="华文中宋" pitchFamily="2" charset="-122"/>
        </a:defRPr>
      </a:lvl6pPr>
      <a:lvl7pPr marL="914400" algn="l" rtl="0" eaLnBrk="0" fontAlgn="base" hangingPunct="0">
        <a:spcBef>
          <a:spcPct val="0"/>
        </a:spcBef>
        <a:spcAft>
          <a:spcPct val="0"/>
        </a:spcAft>
        <a:defRPr sz="4300">
          <a:solidFill>
            <a:srgbClr val="11488B"/>
          </a:solidFill>
          <a:latin typeface="Gill Sans MT" pitchFamily="34" charset="0"/>
          <a:ea typeface="华文中宋" pitchFamily="2" charset="-122"/>
        </a:defRPr>
      </a:lvl7pPr>
      <a:lvl8pPr marL="1371600" algn="l" rtl="0" eaLnBrk="0" fontAlgn="base" hangingPunct="0">
        <a:spcBef>
          <a:spcPct val="0"/>
        </a:spcBef>
        <a:spcAft>
          <a:spcPct val="0"/>
        </a:spcAft>
        <a:defRPr sz="4300">
          <a:solidFill>
            <a:srgbClr val="11488B"/>
          </a:solidFill>
          <a:latin typeface="Gill Sans MT" pitchFamily="34" charset="0"/>
          <a:ea typeface="华文中宋" pitchFamily="2" charset="-122"/>
        </a:defRPr>
      </a:lvl8pPr>
      <a:lvl9pPr marL="1828800" algn="l" rtl="0" eaLnBrk="0" fontAlgn="base" hangingPunct="0">
        <a:spcBef>
          <a:spcPct val="0"/>
        </a:spcBef>
        <a:spcAft>
          <a:spcPct val="0"/>
        </a:spcAft>
        <a:defRPr sz="4300">
          <a:solidFill>
            <a:srgbClr val="11488B"/>
          </a:solidFill>
          <a:latin typeface="Gill Sans MT" pitchFamily="34" charset="0"/>
          <a:ea typeface="华文中宋" pitchFamily="2" charset="-122"/>
        </a:defRPr>
      </a:lvl9pPr>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28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400">
          <a:solidFill>
            <a:schemeClr val="tx1"/>
          </a:solidFill>
          <a:latin typeface="+mn-lt"/>
          <a:ea typeface="+mn-ea"/>
        </a:defRPr>
      </a:lvl2pPr>
      <a:lvl3pPr marL="885825" indent="-228600" algn="l" rtl="0" eaLnBrk="0" fontAlgn="base" hangingPunct="0">
        <a:spcBef>
          <a:spcPct val="20000"/>
        </a:spcBef>
        <a:spcAft>
          <a:spcPct val="0"/>
        </a:spcAft>
        <a:buClr>
          <a:schemeClr val="accent2"/>
        </a:buClr>
        <a:buFont typeface="Wingdings 2" pitchFamily="18" charset="2"/>
        <a:buChar char=""/>
        <a:defRPr sz="2000">
          <a:solidFill>
            <a:schemeClr val="tx1"/>
          </a:solidFill>
          <a:latin typeface="+mn-lt"/>
          <a:ea typeface="+mn-ea"/>
        </a:defRPr>
      </a:lvl3pPr>
      <a:lvl4pPr marL="1096963" indent="-173038" algn="l" rtl="0" eaLnBrk="0" fontAlgn="base" hangingPunct="0">
        <a:spcBef>
          <a:spcPct val="20000"/>
        </a:spcBef>
        <a:spcAft>
          <a:spcPct val="0"/>
        </a:spcAft>
        <a:buClr>
          <a:srgbClr val="9BBB59"/>
        </a:buClr>
        <a:buFont typeface="Wingdings 2" pitchFamily="18" charset="2"/>
        <a:buChar char=""/>
        <a:defRPr sz="2000">
          <a:solidFill>
            <a:schemeClr val="tx1"/>
          </a:solidFill>
          <a:latin typeface="+mn-lt"/>
          <a:ea typeface="+mn-ea"/>
        </a:defRPr>
      </a:lvl4pPr>
      <a:lvl5pPr marL="1296988" indent="-182563" algn="l" rtl="0" eaLnBrk="0" fontAlgn="base" hangingPunct="0">
        <a:spcBef>
          <a:spcPct val="20000"/>
        </a:spcBef>
        <a:spcAft>
          <a:spcPct val="0"/>
        </a:spcAft>
        <a:buClr>
          <a:srgbClr val="8064A2"/>
        </a:buClr>
        <a:buFont typeface="Wingdings 2" pitchFamily="18" charset="2"/>
        <a:buChar char=""/>
        <a:defRPr sz="1600">
          <a:solidFill>
            <a:schemeClr val="tx1"/>
          </a:solidFill>
          <a:latin typeface="+mn-lt"/>
          <a:ea typeface="+mn-ea"/>
        </a:defRPr>
      </a:lvl5pPr>
      <a:lvl6pPr marL="1754188" indent="-182563" algn="l" rtl="0" eaLnBrk="0" fontAlgn="base" hangingPunct="0">
        <a:spcBef>
          <a:spcPct val="20000"/>
        </a:spcBef>
        <a:spcAft>
          <a:spcPct val="0"/>
        </a:spcAft>
        <a:buClr>
          <a:srgbClr val="8064A2"/>
        </a:buClr>
        <a:buFont typeface="Wingdings 2" pitchFamily="18" charset="2"/>
        <a:buChar char=""/>
        <a:defRPr sz="1600">
          <a:solidFill>
            <a:schemeClr val="tx1"/>
          </a:solidFill>
          <a:latin typeface="+mn-lt"/>
          <a:ea typeface="+mn-ea"/>
        </a:defRPr>
      </a:lvl6pPr>
      <a:lvl7pPr marL="2211388" indent="-182563" algn="l" rtl="0" eaLnBrk="0" fontAlgn="base" hangingPunct="0">
        <a:spcBef>
          <a:spcPct val="20000"/>
        </a:spcBef>
        <a:spcAft>
          <a:spcPct val="0"/>
        </a:spcAft>
        <a:buClr>
          <a:srgbClr val="8064A2"/>
        </a:buClr>
        <a:buFont typeface="Wingdings 2" pitchFamily="18" charset="2"/>
        <a:buChar char=""/>
        <a:defRPr sz="1600">
          <a:solidFill>
            <a:schemeClr val="tx1"/>
          </a:solidFill>
          <a:latin typeface="+mn-lt"/>
          <a:ea typeface="+mn-ea"/>
        </a:defRPr>
      </a:lvl7pPr>
      <a:lvl8pPr marL="2668588" indent="-182563" algn="l" rtl="0" eaLnBrk="0" fontAlgn="base" hangingPunct="0">
        <a:spcBef>
          <a:spcPct val="20000"/>
        </a:spcBef>
        <a:spcAft>
          <a:spcPct val="0"/>
        </a:spcAft>
        <a:buClr>
          <a:srgbClr val="8064A2"/>
        </a:buClr>
        <a:buFont typeface="Wingdings 2" pitchFamily="18" charset="2"/>
        <a:buChar char=""/>
        <a:defRPr sz="1600">
          <a:solidFill>
            <a:schemeClr val="tx1"/>
          </a:solidFill>
          <a:latin typeface="+mn-lt"/>
          <a:ea typeface="+mn-ea"/>
        </a:defRPr>
      </a:lvl8pPr>
      <a:lvl9pPr marL="3125788" indent="-182563" algn="l" rtl="0" eaLnBrk="0" fontAlgn="base" hangingPunct="0">
        <a:spcBef>
          <a:spcPct val="20000"/>
        </a:spcBef>
        <a:spcAft>
          <a:spcPct val="0"/>
        </a:spcAft>
        <a:buClr>
          <a:srgbClr val="8064A2"/>
        </a:buClr>
        <a:buFont typeface="Wingdings 2" pitchFamily="18" charset="2"/>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5.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jpe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w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116.xml.rels><?xml version="1.0" encoding="UTF-8" standalone="yes"?>
<Relationships xmlns="http://schemas.openxmlformats.org/package/2006/relationships"><Relationship Id="rId3" Type="http://schemas.openxmlformats.org/officeDocument/2006/relationships/hyperlink" Target="http://www.hadooper.cn/dct/" TargetMode="External"/><Relationship Id="rId4" Type="http://schemas.openxmlformats.org/officeDocument/2006/relationships/hyperlink" Target="http://www.hadoopor.com/" TargetMode="External"/><Relationship Id="rId5" Type="http://schemas.openxmlformats.org/officeDocument/2006/relationships/hyperlink" Target="http://www.hadoop.tw/" TargetMode="External"/><Relationship Id="rId1" Type="http://schemas.openxmlformats.org/officeDocument/2006/relationships/slideLayout" Target="../slideLayouts/slideLayout2.xml"/><Relationship Id="rId2" Type="http://schemas.openxmlformats.org/officeDocument/2006/relationships/hyperlink" Target="http://hadoop.apache.org/"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9"/>
          <p:cNvSpPr>
            <a:spLocks noGrp="1"/>
          </p:cNvSpPr>
          <p:nvPr>
            <p:ph type="sldNum" sz="quarter" idx="12"/>
          </p:nvPr>
        </p:nvSpPr>
        <p:spPr/>
        <p:txBody>
          <a:bodyPr/>
          <a:lstStyle/>
          <a:p>
            <a:pPr>
              <a:defRPr/>
            </a:pPr>
            <a:fld id="{C9923FA8-E59C-4E0E-876E-365EE169932A}" type="slidenum">
              <a:rPr lang="zh-CN" altLang="en-US"/>
              <a:pPr>
                <a:defRPr/>
              </a:pPr>
              <a:t>1</a:t>
            </a:fld>
            <a:endParaRPr lang="zh-CN" altLang="en-US"/>
          </a:p>
        </p:txBody>
      </p:sp>
      <p:sp>
        <p:nvSpPr>
          <p:cNvPr id="2" name="Title 1"/>
          <p:cNvSpPr>
            <a:spLocks noGrp="1"/>
          </p:cNvSpPr>
          <p:nvPr>
            <p:ph type="ctrTitle" idx="4294967295"/>
          </p:nvPr>
        </p:nvSpPr>
        <p:spPr>
          <a:xfrm>
            <a:off x="747713" y="360363"/>
            <a:ext cx="7712075" cy="1471612"/>
          </a:xfrm>
        </p:spPr>
        <p:txBody>
          <a:bodyPr anchor="b">
            <a:noAutofit/>
          </a:bodyPr>
          <a:lstStyle/>
          <a:p>
            <a:pPr eaLnBrk="1" hangingPunct="1">
              <a:defRPr/>
            </a:pPr>
            <a:r>
              <a:rPr lang="en-US" altLang="zh-CN" sz="4800" smtClean="0">
                <a:effectLst>
                  <a:outerShdw blurRad="38100" dist="38100" dir="2700000" algn="tl">
                    <a:srgbClr val="C0C0C0"/>
                  </a:outerShdw>
                </a:effectLst>
              </a:rPr>
              <a:t>Cloud Computing</a:t>
            </a:r>
            <a:endParaRPr lang="zh-CN" altLang="en-US" sz="4800" smtClean="0">
              <a:effectLst>
                <a:outerShdw blurRad="38100" dist="38100" dir="2700000" algn="tl">
                  <a:srgbClr val="C0C0C0"/>
                </a:outerShdw>
              </a:effectLst>
            </a:endParaRPr>
          </a:p>
        </p:txBody>
      </p:sp>
      <p:sp>
        <p:nvSpPr>
          <p:cNvPr id="3076" name="Subtitle 2"/>
          <p:cNvSpPr>
            <a:spLocks noGrp="1"/>
          </p:cNvSpPr>
          <p:nvPr>
            <p:ph type="subTitle" idx="4294967295"/>
          </p:nvPr>
        </p:nvSpPr>
        <p:spPr>
          <a:xfrm>
            <a:off x="-292100" y="1849438"/>
            <a:ext cx="8434388" cy="1752600"/>
          </a:xfrm>
        </p:spPr>
        <p:txBody>
          <a:bodyPr tIns="0"/>
          <a:lstStyle/>
          <a:p>
            <a:pPr marL="26988" indent="0" eaLnBrk="1" hangingPunct="1">
              <a:buFont typeface="Wingdings 2" pitchFamily="18" charset="2"/>
              <a:buNone/>
            </a:pPr>
            <a:r>
              <a:rPr lang="en-US" altLang="zh-CN" dirty="0" smtClean="0">
                <a:solidFill>
                  <a:srgbClr val="002554"/>
                </a:solidFill>
              </a:rPr>
              <a:t>           Autumn</a:t>
            </a:r>
            <a:r>
              <a:rPr lang="en-US" altLang="zh-CN" smtClean="0">
                <a:solidFill>
                  <a:srgbClr val="002554"/>
                </a:solidFill>
              </a:rPr>
              <a:t>, 2017</a:t>
            </a:r>
            <a:endParaRPr lang="zh-CN" altLang="en-US" dirty="0" smtClean="0">
              <a:solidFill>
                <a:srgbClr val="002554"/>
              </a:solidFill>
            </a:endParaRPr>
          </a:p>
        </p:txBody>
      </p:sp>
      <p:sp>
        <p:nvSpPr>
          <p:cNvPr id="3077" name="TextBox 3"/>
          <p:cNvSpPr txBox="1">
            <a:spLocks noChangeArrowheads="1"/>
          </p:cNvSpPr>
          <p:nvPr/>
        </p:nvSpPr>
        <p:spPr bwMode="auto">
          <a:xfrm>
            <a:off x="719138" y="3789363"/>
            <a:ext cx="7740650" cy="1692771"/>
          </a:xfrm>
          <a:prstGeom prst="rect">
            <a:avLst/>
          </a:prstGeom>
          <a:noFill/>
          <a:ln w="9525">
            <a:noFill/>
            <a:miter lim="800000"/>
            <a:headEnd/>
            <a:tailEnd/>
          </a:ln>
        </p:spPr>
        <p:txBody>
          <a:bodyPr>
            <a:spAutoFit/>
          </a:bodyPr>
          <a:lstStyle/>
          <a:p>
            <a:r>
              <a:rPr lang="en-US" altLang="zh-CN" sz="4000" dirty="0">
                <a:latin typeface="Gill Sans MT" pitchFamily="34" charset="0"/>
                <a:ea typeface="华文中宋" pitchFamily="2" charset="-122"/>
              </a:rPr>
              <a:t>Chapter 4</a:t>
            </a:r>
          </a:p>
          <a:p>
            <a:r>
              <a:rPr lang="en-US" altLang="zh-CN" sz="4000" dirty="0">
                <a:latin typeface="Gill Sans MT" pitchFamily="34" charset="0"/>
                <a:ea typeface="华文中宋" pitchFamily="2" charset="-122"/>
              </a:rPr>
              <a:t>Distributed File System</a:t>
            </a:r>
          </a:p>
          <a:p>
            <a:endParaRPr lang="en-US" altLang="zh-CN" sz="2400" dirty="0">
              <a:latin typeface="Gill Sans MT" pitchFamily="34" charset="0"/>
              <a:ea typeface="华文中宋" pitchFamily="2" charset="-122"/>
            </a:endParaRPr>
          </a:p>
        </p:txBody>
      </p:sp>
      <p:sp>
        <p:nvSpPr>
          <p:cNvPr id="8" name="Slide Number Placeholder 7"/>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23DEF728-3C99-44F0-82A5-C04EF5C4884D}" type="slidenum">
              <a:rPr lang="zh-CN" altLang="en-US" sz="1200">
                <a:solidFill>
                  <a:schemeClr val="bg2">
                    <a:shade val="50000"/>
                    <a:satMod val="200000"/>
                  </a:schemeClr>
                </a:solidFill>
                <a:latin typeface="+mn-lt"/>
                <a:ea typeface="+mn-ea"/>
              </a:rPr>
              <a:pPr algn="ctr" fontAlgn="auto">
                <a:spcBef>
                  <a:spcPts val="0"/>
                </a:spcBef>
                <a:spcAft>
                  <a:spcPts val="0"/>
                </a:spcAft>
                <a:defRPr/>
              </a:pPr>
              <a:t>1</a:t>
            </a:fld>
            <a:endParaRPr lang="zh-CN" altLang="en-US" sz="1200">
              <a:solidFill>
                <a:schemeClr val="bg2">
                  <a:shade val="50000"/>
                  <a:satMod val="200000"/>
                </a:schemeClr>
              </a:solidFill>
              <a:latin typeface="+mn-lt"/>
              <a:ea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1E776C03-E59A-4BC1-81C3-A11DAAC274BA}" type="slidenum">
              <a:rPr lang="zh-CN" altLang="en-US"/>
              <a:pPr>
                <a:defRPr/>
              </a:pPr>
              <a:t>2</a:t>
            </a:fld>
            <a:endParaRPr lang="zh-CN" altLang="en-US"/>
          </a:p>
        </p:txBody>
      </p:sp>
      <p:sp>
        <p:nvSpPr>
          <p:cNvPr id="4" name="日期占位符 3"/>
          <p:cNvSpPr>
            <a:spLocks noGrp="1"/>
          </p:cNvSpPr>
          <p:nvPr>
            <p:ph type="dt" sz="quarter" idx="10"/>
          </p:nvPr>
        </p:nvSpPr>
        <p:spPr/>
        <p:txBody>
          <a:bodyPr/>
          <a:lstStyle/>
          <a:p>
            <a:pPr>
              <a:defRPr/>
            </a:pPr>
            <a:fld id="{348AB485-A12D-4633-84D5-DEFC3EEC4856}" type="datetime5">
              <a:rPr lang="zh-CN" altLang="en-US"/>
              <a:pPr>
                <a:defRPr/>
              </a:pPr>
              <a:t>2017/10/24</a:t>
            </a:fld>
            <a:endParaRPr lang="zh-CN" altLang="en-US"/>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EBC04802-E8BF-4B9C-8B10-90004C6B9A73}" type="slidenum">
              <a:rPr lang="zh-CN" altLang="en-US" sz="1200">
                <a:solidFill>
                  <a:schemeClr val="bg2">
                    <a:shade val="50000"/>
                    <a:satMod val="200000"/>
                  </a:schemeClr>
                </a:solidFill>
                <a:latin typeface="+mn-lt"/>
                <a:ea typeface="+mn-ea"/>
              </a:rPr>
              <a:pPr algn="ctr" fontAlgn="auto">
                <a:spcBef>
                  <a:spcPts val="0"/>
                </a:spcBef>
                <a:spcAft>
                  <a:spcPts val="0"/>
                </a:spcAft>
                <a:defRPr/>
              </a:pPr>
              <a:t>2</a:t>
            </a:fld>
            <a:endParaRPr lang="zh-CN" altLang="en-US" sz="1200">
              <a:solidFill>
                <a:schemeClr val="bg2">
                  <a:shade val="50000"/>
                  <a:satMod val="200000"/>
                </a:schemeClr>
              </a:solidFill>
              <a:latin typeface="+mn-lt"/>
              <a:ea typeface="+mn-ea"/>
            </a:endParaRPr>
          </a:p>
        </p:txBody>
      </p:sp>
      <p:sp>
        <p:nvSpPr>
          <p:cNvPr id="4102" name="Rectangle 2"/>
          <p:cNvSpPr>
            <a:spLocks noGrp="1"/>
          </p:cNvSpPr>
          <p:nvPr>
            <p:ph type="title"/>
          </p:nvPr>
        </p:nvSpPr>
        <p:spPr>
          <a:noFill/>
        </p:spPr>
        <p:txBody>
          <a:bodyPr/>
          <a:lstStyle/>
          <a:p>
            <a:r>
              <a:rPr lang="zh-CN" altLang="en-US" smtClean="0"/>
              <a:t>提纲</a:t>
            </a:r>
          </a:p>
        </p:txBody>
      </p:sp>
      <p:sp>
        <p:nvSpPr>
          <p:cNvPr id="4103" name="Rectangle 3"/>
          <p:cNvSpPr>
            <a:spLocks noGrp="1"/>
          </p:cNvSpPr>
          <p:nvPr>
            <p:ph type="body" idx="1"/>
          </p:nvPr>
        </p:nvSpPr>
        <p:spPr/>
        <p:txBody>
          <a:bodyPr/>
          <a:lstStyle/>
          <a:p>
            <a:r>
              <a:rPr lang="en-US" altLang="zh-CN" sz="3200" smtClean="0">
                <a:solidFill>
                  <a:schemeClr val="hlink"/>
                </a:solidFill>
              </a:rPr>
              <a:t>1. </a:t>
            </a:r>
            <a:r>
              <a:rPr lang="zh-CN" altLang="en-US" sz="3200" smtClean="0">
                <a:solidFill>
                  <a:schemeClr val="hlink"/>
                </a:solidFill>
              </a:rPr>
              <a:t>文件系统</a:t>
            </a:r>
          </a:p>
          <a:p>
            <a:r>
              <a:rPr lang="en-US" altLang="zh-CN" sz="3200" smtClean="0"/>
              <a:t>2. </a:t>
            </a:r>
            <a:r>
              <a:rPr lang="zh-CN" altLang="en-US" sz="3200" smtClean="0"/>
              <a:t>分布式文件系统</a:t>
            </a:r>
          </a:p>
          <a:p>
            <a:r>
              <a:rPr lang="en-US" altLang="zh-CN" sz="3200" smtClean="0"/>
              <a:t>3. </a:t>
            </a:r>
            <a:r>
              <a:rPr lang="zh-CN" altLang="en-US" sz="3200" smtClean="0"/>
              <a:t>典型分布式文件系统</a:t>
            </a:r>
          </a:p>
          <a:p>
            <a:r>
              <a:rPr lang="en-US" altLang="zh-CN" sz="3200" smtClean="0"/>
              <a:t>4. Goolge File System </a:t>
            </a:r>
            <a:endParaRPr lang="zh-CN" altLang="en-US" sz="3200" smtClean="0"/>
          </a:p>
          <a:p>
            <a:r>
              <a:rPr lang="en-US" altLang="zh-CN" sz="3200" smtClean="0"/>
              <a:t>5. Hadoop Distributed File System</a:t>
            </a:r>
          </a:p>
          <a:p>
            <a:endParaRPr lang="zh-CN" altLang="en-US" sz="32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A1A471B9-D53B-457C-B95D-8F5734EF74FB}" type="slidenum">
              <a:rPr lang="zh-CN" altLang="en-US"/>
              <a:pPr>
                <a:defRPr/>
              </a:pPr>
              <a:t>3</a:t>
            </a:fld>
            <a:endParaRPr lang="zh-CN" altLang="en-US"/>
          </a:p>
        </p:txBody>
      </p:sp>
      <p:sp>
        <p:nvSpPr>
          <p:cNvPr id="5123" name="Rectangle 2"/>
          <p:cNvSpPr>
            <a:spLocks noGrp="1"/>
          </p:cNvSpPr>
          <p:nvPr>
            <p:ph type="title"/>
          </p:nvPr>
        </p:nvSpPr>
        <p:spPr/>
        <p:txBody>
          <a:bodyPr/>
          <a:lstStyle/>
          <a:p>
            <a:r>
              <a:rPr lang="en-US" altLang="zh-CN" smtClean="0"/>
              <a:t>File system</a:t>
            </a:r>
          </a:p>
        </p:txBody>
      </p:sp>
      <p:sp>
        <p:nvSpPr>
          <p:cNvPr id="5124" name="Rectangle 3"/>
          <p:cNvSpPr>
            <a:spLocks noGrp="1"/>
          </p:cNvSpPr>
          <p:nvPr>
            <p:ph type="body" idx="1"/>
          </p:nvPr>
        </p:nvSpPr>
        <p:spPr>
          <a:xfrm>
            <a:off x="395288" y="1447800"/>
            <a:ext cx="8424862" cy="5149850"/>
          </a:xfrm>
        </p:spPr>
        <p:txBody>
          <a:bodyPr/>
          <a:lstStyle/>
          <a:p>
            <a:r>
              <a:rPr lang="en-US" altLang="zh-CN" sz="2400" dirty="0" smtClean="0"/>
              <a:t>A </a:t>
            </a:r>
            <a:r>
              <a:rPr lang="en-US" altLang="zh-CN" sz="2400" b="1" dirty="0" smtClean="0"/>
              <a:t>file system</a:t>
            </a:r>
            <a:r>
              <a:rPr lang="en-US" altLang="zh-CN" sz="2400" dirty="0" smtClean="0"/>
              <a:t> is a means to organize data expected to be retained after a program terminates by providing procedures to store, retrieve and update data, as well as manage the available space on the device(s) which contain it. </a:t>
            </a:r>
            <a:r>
              <a:rPr lang="en-US" altLang="zh-CN" sz="2400" dirty="0" smtClean="0">
                <a:solidFill>
                  <a:schemeClr val="accent2"/>
                </a:solidFill>
              </a:rPr>
              <a:t>——Wikipedia</a:t>
            </a:r>
          </a:p>
          <a:p>
            <a:pPr eaLnBrk="1" hangingPunct="1"/>
            <a:r>
              <a:rPr lang="en-US" altLang="zh-CN" sz="2400" dirty="0" smtClean="0">
                <a:ea typeface="宋体" pitchFamily="2" charset="-122"/>
              </a:rPr>
              <a:t>File system was as an operating system facility providing a convenient programming interface to disk storage. it was originally developed for centralized computer systems and desktop computers.</a:t>
            </a:r>
            <a:r>
              <a:rPr lang="en-US" altLang="zh-CN" dirty="0" smtClean="0">
                <a:ea typeface="宋体" pitchFamily="2" charset="-122"/>
              </a:rPr>
              <a:t>  ——</a:t>
            </a:r>
            <a:r>
              <a:rPr lang="en-GB" altLang="zh-CN" sz="2400" dirty="0" smtClean="0">
                <a:solidFill>
                  <a:schemeClr val="accent2"/>
                </a:solidFill>
              </a:rPr>
              <a:t>G. </a:t>
            </a:r>
            <a:r>
              <a:rPr lang="en-GB" altLang="zh-CN" sz="2400" dirty="0" err="1" smtClean="0">
                <a:solidFill>
                  <a:schemeClr val="accent2"/>
                </a:solidFill>
              </a:rPr>
              <a:t>Coulouris</a:t>
            </a:r>
            <a:r>
              <a:rPr lang="en-GB" altLang="zh-CN" sz="2400" dirty="0" smtClean="0">
                <a:solidFill>
                  <a:schemeClr val="accent2"/>
                </a:solidFill>
              </a:rPr>
              <a:t>, J. </a:t>
            </a:r>
            <a:r>
              <a:rPr lang="en-GB" altLang="zh-CN" sz="2400" dirty="0" err="1" smtClean="0">
                <a:solidFill>
                  <a:schemeClr val="accent2"/>
                </a:solidFill>
              </a:rPr>
              <a:t>Dollimore</a:t>
            </a:r>
            <a:r>
              <a:rPr lang="en-GB" altLang="zh-CN" sz="2400" dirty="0" smtClean="0">
                <a:solidFill>
                  <a:schemeClr val="accent2"/>
                </a:solidFill>
              </a:rPr>
              <a:t> and T. </a:t>
            </a:r>
            <a:r>
              <a:rPr lang="en-GB" altLang="zh-CN" sz="2400" dirty="0" err="1" smtClean="0">
                <a:solidFill>
                  <a:schemeClr val="accent2"/>
                </a:solidFill>
              </a:rPr>
              <a:t>Kindberg</a:t>
            </a:r>
            <a:r>
              <a:rPr lang="zh-CN" altLang="en-GB" sz="2400" dirty="0" smtClean="0">
                <a:solidFill>
                  <a:schemeClr val="accent2"/>
                </a:solidFill>
              </a:rPr>
              <a:t>，</a:t>
            </a:r>
            <a:r>
              <a:rPr lang="en-GB" altLang="zh-CN" sz="2400" dirty="0" smtClean="0">
                <a:solidFill>
                  <a:schemeClr val="accent2"/>
                </a:solidFill>
              </a:rPr>
              <a:t>in Distributed Systems Concepts and Design,4th Edition</a:t>
            </a:r>
            <a:endParaRPr lang="en-US" altLang="zh-CN" sz="2400" dirty="0" smtClean="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6DB8ACC3-9D6E-4C25-B78D-12491A48B210}" type="slidenum">
              <a:rPr lang="zh-CN" altLang="en-US"/>
              <a:pPr>
                <a:defRPr/>
              </a:pPr>
              <a:t>4</a:t>
            </a:fld>
            <a:endParaRPr lang="zh-CN" altLang="en-US"/>
          </a:p>
        </p:txBody>
      </p:sp>
      <p:sp>
        <p:nvSpPr>
          <p:cNvPr id="6147" name="Rectangle 2"/>
          <p:cNvSpPr>
            <a:spLocks noGrp="1"/>
          </p:cNvSpPr>
          <p:nvPr>
            <p:ph type="title"/>
          </p:nvPr>
        </p:nvSpPr>
        <p:spPr/>
        <p:txBody>
          <a:bodyPr/>
          <a:lstStyle/>
          <a:p>
            <a:r>
              <a:rPr lang="zh-CN" altLang="en-US" smtClean="0"/>
              <a:t>文件系统</a:t>
            </a:r>
          </a:p>
        </p:txBody>
      </p:sp>
      <p:sp>
        <p:nvSpPr>
          <p:cNvPr id="6148" name="Rectangle 3"/>
          <p:cNvSpPr>
            <a:spLocks noGrp="1"/>
          </p:cNvSpPr>
          <p:nvPr>
            <p:ph type="body" idx="1"/>
          </p:nvPr>
        </p:nvSpPr>
        <p:spPr/>
        <p:txBody>
          <a:bodyPr/>
          <a:lstStyle/>
          <a:p>
            <a:r>
              <a:rPr lang="zh-CN" altLang="en-US" smtClean="0"/>
              <a:t>文件系统是操作系统的一个重要组成部分，通过对操作系统所管理存储空间的抽象，向用户提供统一的、对象化的访问接口，屏蔽对物理设备的直接操作和资源管理。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DADBE4E9-9224-42E1-85C6-8081ABA21722}" type="slidenum">
              <a:rPr lang="zh-CN" altLang="en-US"/>
              <a:pPr>
                <a:defRPr/>
              </a:pPr>
              <a:t>5</a:t>
            </a:fld>
            <a:endParaRPr lang="zh-CN" altLang="en-US"/>
          </a:p>
        </p:txBody>
      </p:sp>
      <p:sp>
        <p:nvSpPr>
          <p:cNvPr id="7171" name="Rectangle 2"/>
          <p:cNvSpPr>
            <a:spLocks noGrp="1"/>
          </p:cNvSpPr>
          <p:nvPr>
            <p:ph type="title"/>
          </p:nvPr>
        </p:nvSpPr>
        <p:spPr/>
        <p:txBody>
          <a:bodyPr/>
          <a:lstStyle/>
          <a:p>
            <a:r>
              <a:rPr lang="en-US" altLang="zh-CN" smtClean="0"/>
              <a:t>File system</a:t>
            </a:r>
          </a:p>
        </p:txBody>
      </p:sp>
      <p:sp>
        <p:nvSpPr>
          <p:cNvPr id="7172" name="Rectangle 3"/>
          <p:cNvSpPr>
            <a:spLocks noGrp="1"/>
          </p:cNvSpPr>
          <p:nvPr>
            <p:ph type="body" idx="1"/>
          </p:nvPr>
        </p:nvSpPr>
        <p:spPr>
          <a:xfrm>
            <a:off x="395288" y="1447800"/>
            <a:ext cx="8424862" cy="4800600"/>
          </a:xfrm>
        </p:spPr>
        <p:txBody>
          <a:bodyPr/>
          <a:lstStyle/>
          <a:p>
            <a:pPr eaLnBrk="1" hangingPunct="1">
              <a:lnSpc>
                <a:spcPct val="90000"/>
              </a:lnSpc>
            </a:pPr>
            <a:r>
              <a:rPr lang="en-US" altLang="zh-CN" sz="3200" smtClean="0">
                <a:ea typeface="宋体" pitchFamily="2" charset="-122"/>
              </a:rPr>
              <a:t>File systems are responsible for the organization, storage, retrieval, naming, sharing and protection of files.</a:t>
            </a:r>
          </a:p>
          <a:p>
            <a:pPr eaLnBrk="1" hangingPunct="1">
              <a:lnSpc>
                <a:spcPct val="90000"/>
              </a:lnSpc>
            </a:pPr>
            <a:r>
              <a:rPr lang="en-US" altLang="zh-CN" sz="3200" smtClean="0">
                <a:ea typeface="宋体" pitchFamily="2" charset="-122"/>
              </a:rPr>
              <a:t>Files contain both data and attributes.</a:t>
            </a:r>
          </a:p>
          <a:p>
            <a:pPr eaLnBrk="1" hangingPunct="1">
              <a:lnSpc>
                <a:spcPct val="90000"/>
              </a:lnSpc>
            </a:pPr>
            <a:r>
              <a:rPr lang="en-US" altLang="zh-CN" sz="3200" smtClean="0">
                <a:ea typeface="宋体" pitchFamily="2" charset="-122"/>
              </a:rPr>
              <a:t>A typical attribute record structure  is illustrated in next slide.</a:t>
            </a:r>
          </a:p>
          <a:p>
            <a:endParaRPr lang="zh-CN" altLang="en-US"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9"/>
          <p:cNvSpPr>
            <a:spLocks noGrp="1"/>
          </p:cNvSpPr>
          <p:nvPr>
            <p:ph type="sldNum" sz="quarter" idx="12"/>
          </p:nvPr>
        </p:nvSpPr>
        <p:spPr/>
        <p:txBody>
          <a:bodyPr/>
          <a:lstStyle/>
          <a:p>
            <a:pPr>
              <a:defRPr/>
            </a:pPr>
            <a:fld id="{CFF19E16-5D4E-4482-8F12-796C6C4B9F03}" type="slidenum">
              <a:rPr lang="zh-CN" altLang="en-US"/>
              <a:pPr>
                <a:defRPr/>
              </a:pPr>
              <a:t>6</a:t>
            </a:fld>
            <a:endParaRPr lang="zh-CN" altLang="en-US"/>
          </a:p>
        </p:txBody>
      </p:sp>
      <p:sp>
        <p:nvSpPr>
          <p:cNvPr id="8195" name="Rectangle 2"/>
          <p:cNvSpPr>
            <a:spLocks noGrp="1"/>
          </p:cNvSpPr>
          <p:nvPr>
            <p:ph type="title"/>
          </p:nvPr>
        </p:nvSpPr>
        <p:spPr/>
        <p:txBody>
          <a:bodyPr/>
          <a:lstStyle/>
          <a:p>
            <a:r>
              <a:rPr lang="en-US" altLang="zh-CN" smtClean="0"/>
              <a:t>Attributes of a file</a:t>
            </a:r>
          </a:p>
        </p:txBody>
      </p:sp>
      <p:grpSp>
        <p:nvGrpSpPr>
          <p:cNvPr id="8196" name="Group 10"/>
          <p:cNvGrpSpPr>
            <a:grpSpLocks/>
          </p:cNvGrpSpPr>
          <p:nvPr/>
        </p:nvGrpSpPr>
        <p:grpSpPr bwMode="auto">
          <a:xfrm>
            <a:off x="1835150" y="1989138"/>
            <a:ext cx="5040313" cy="3810000"/>
            <a:chOff x="1640" y="1264"/>
            <a:chExt cx="3175" cy="2764"/>
          </a:xfrm>
        </p:grpSpPr>
        <p:sp>
          <p:nvSpPr>
            <p:cNvPr id="8197" name="Rectangle 11"/>
            <p:cNvSpPr>
              <a:spLocks noChangeArrowheads="1"/>
            </p:cNvSpPr>
            <p:nvPr/>
          </p:nvSpPr>
          <p:spPr bwMode="auto">
            <a:xfrm>
              <a:off x="1640" y="1264"/>
              <a:ext cx="3159" cy="1431"/>
            </a:xfrm>
            <a:prstGeom prst="rect">
              <a:avLst/>
            </a:prstGeom>
            <a:solidFill>
              <a:srgbClr val="FF9456"/>
            </a:solidFill>
            <a:ln w="9525">
              <a:noFill/>
              <a:miter lim="800000"/>
              <a:headEnd/>
              <a:tailEnd/>
            </a:ln>
          </p:spPr>
          <p:txBody>
            <a:bodyPr/>
            <a:lstStyle/>
            <a:p>
              <a:endParaRPr lang="zh-CN" altLang="en-US">
                <a:cs typeface="Arial" charset="0"/>
              </a:endParaRPr>
            </a:p>
          </p:txBody>
        </p:sp>
        <p:sp>
          <p:nvSpPr>
            <p:cNvPr id="8198" name="Rectangle 12"/>
            <p:cNvSpPr>
              <a:spLocks noChangeArrowheads="1"/>
            </p:cNvSpPr>
            <p:nvPr/>
          </p:nvSpPr>
          <p:spPr bwMode="auto">
            <a:xfrm>
              <a:off x="1640" y="1264"/>
              <a:ext cx="3175" cy="1448"/>
            </a:xfrm>
            <a:prstGeom prst="rect">
              <a:avLst/>
            </a:prstGeom>
            <a:noFill/>
            <a:ln w="39688">
              <a:solidFill>
                <a:srgbClr val="FFDC99"/>
              </a:solidFill>
              <a:miter lim="800000"/>
              <a:headEnd/>
              <a:tailEnd/>
            </a:ln>
          </p:spPr>
          <p:txBody>
            <a:bodyPr/>
            <a:lstStyle/>
            <a:p>
              <a:endParaRPr lang="zh-CN" altLang="en-US">
                <a:cs typeface="Arial" charset="0"/>
              </a:endParaRPr>
            </a:p>
          </p:txBody>
        </p:sp>
        <p:sp>
          <p:nvSpPr>
            <p:cNvPr id="8199" name="Rectangle 13"/>
            <p:cNvSpPr>
              <a:spLocks noChangeArrowheads="1"/>
            </p:cNvSpPr>
            <p:nvPr/>
          </p:nvSpPr>
          <p:spPr bwMode="auto">
            <a:xfrm>
              <a:off x="2881" y="1308"/>
              <a:ext cx="739" cy="221"/>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File length</a:t>
              </a:r>
              <a:endParaRPr lang="en-GB" altLang="zh-CN" sz="2800">
                <a:latin typeface="Times" pitchFamily="18" charset="0"/>
                <a:cs typeface="Arial" charset="0"/>
              </a:endParaRPr>
            </a:p>
          </p:txBody>
        </p:sp>
        <p:sp>
          <p:nvSpPr>
            <p:cNvPr id="8200" name="Rectangle 14"/>
            <p:cNvSpPr>
              <a:spLocks noChangeArrowheads="1"/>
            </p:cNvSpPr>
            <p:nvPr/>
          </p:nvSpPr>
          <p:spPr bwMode="auto">
            <a:xfrm>
              <a:off x="2569" y="1538"/>
              <a:ext cx="1386" cy="221"/>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Creation timestamp</a:t>
              </a:r>
              <a:endParaRPr lang="en-GB" altLang="zh-CN" sz="2800">
                <a:latin typeface="Times" pitchFamily="18" charset="0"/>
                <a:cs typeface="Arial" charset="0"/>
              </a:endParaRPr>
            </a:p>
          </p:txBody>
        </p:sp>
        <p:sp>
          <p:nvSpPr>
            <p:cNvPr id="8201" name="Line 15"/>
            <p:cNvSpPr>
              <a:spLocks noChangeShapeType="1"/>
            </p:cNvSpPr>
            <p:nvPr/>
          </p:nvSpPr>
          <p:spPr bwMode="auto">
            <a:xfrm>
              <a:off x="1640" y="1494"/>
              <a:ext cx="3159" cy="1"/>
            </a:xfrm>
            <a:prstGeom prst="line">
              <a:avLst/>
            </a:prstGeom>
            <a:noFill/>
            <a:ln w="39688">
              <a:solidFill>
                <a:srgbClr val="000000"/>
              </a:solidFill>
              <a:round/>
              <a:headEnd/>
              <a:tailEnd/>
            </a:ln>
          </p:spPr>
          <p:txBody>
            <a:bodyPr/>
            <a:lstStyle/>
            <a:p>
              <a:endParaRPr lang="zh-CN" altLang="en-US"/>
            </a:p>
          </p:txBody>
        </p:sp>
        <p:sp>
          <p:nvSpPr>
            <p:cNvPr id="8202" name="Rectangle 16"/>
            <p:cNvSpPr>
              <a:spLocks noChangeArrowheads="1"/>
            </p:cNvSpPr>
            <p:nvPr/>
          </p:nvSpPr>
          <p:spPr bwMode="auto">
            <a:xfrm>
              <a:off x="2700" y="1785"/>
              <a:ext cx="1164" cy="221"/>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Read timestamp</a:t>
              </a:r>
              <a:endParaRPr lang="en-GB" altLang="zh-CN" sz="2800">
                <a:latin typeface="Times" pitchFamily="18" charset="0"/>
                <a:cs typeface="Arial" charset="0"/>
              </a:endParaRPr>
            </a:p>
          </p:txBody>
        </p:sp>
        <p:sp>
          <p:nvSpPr>
            <p:cNvPr id="8203" name="Line 17"/>
            <p:cNvSpPr>
              <a:spLocks noChangeShapeType="1"/>
            </p:cNvSpPr>
            <p:nvPr/>
          </p:nvSpPr>
          <p:spPr bwMode="auto">
            <a:xfrm>
              <a:off x="1640" y="1740"/>
              <a:ext cx="3159" cy="1"/>
            </a:xfrm>
            <a:prstGeom prst="line">
              <a:avLst/>
            </a:prstGeom>
            <a:noFill/>
            <a:ln w="39688">
              <a:solidFill>
                <a:srgbClr val="000000"/>
              </a:solidFill>
              <a:round/>
              <a:headEnd/>
              <a:tailEnd/>
            </a:ln>
          </p:spPr>
          <p:txBody>
            <a:bodyPr/>
            <a:lstStyle/>
            <a:p>
              <a:endParaRPr lang="zh-CN" altLang="en-US"/>
            </a:p>
          </p:txBody>
        </p:sp>
        <p:sp>
          <p:nvSpPr>
            <p:cNvPr id="8204" name="Rectangle 18"/>
            <p:cNvSpPr>
              <a:spLocks noChangeArrowheads="1"/>
            </p:cNvSpPr>
            <p:nvPr/>
          </p:nvSpPr>
          <p:spPr bwMode="auto">
            <a:xfrm>
              <a:off x="2668" y="2016"/>
              <a:ext cx="1154" cy="221"/>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Write timestamp</a:t>
              </a:r>
              <a:endParaRPr lang="en-GB" altLang="zh-CN" sz="2800">
                <a:latin typeface="Times" pitchFamily="18" charset="0"/>
                <a:cs typeface="Arial" charset="0"/>
              </a:endParaRPr>
            </a:p>
          </p:txBody>
        </p:sp>
        <p:sp>
          <p:nvSpPr>
            <p:cNvPr id="8205" name="Line 19"/>
            <p:cNvSpPr>
              <a:spLocks noChangeShapeType="1"/>
            </p:cNvSpPr>
            <p:nvPr/>
          </p:nvSpPr>
          <p:spPr bwMode="auto">
            <a:xfrm>
              <a:off x="1640" y="1972"/>
              <a:ext cx="3159" cy="0"/>
            </a:xfrm>
            <a:prstGeom prst="line">
              <a:avLst/>
            </a:prstGeom>
            <a:noFill/>
            <a:ln w="39688">
              <a:solidFill>
                <a:srgbClr val="000000"/>
              </a:solidFill>
              <a:round/>
              <a:headEnd/>
              <a:tailEnd/>
            </a:ln>
          </p:spPr>
          <p:txBody>
            <a:bodyPr/>
            <a:lstStyle/>
            <a:p>
              <a:endParaRPr lang="zh-CN" altLang="en-US"/>
            </a:p>
          </p:txBody>
        </p:sp>
        <p:sp>
          <p:nvSpPr>
            <p:cNvPr id="8206" name="Rectangle 20"/>
            <p:cNvSpPr>
              <a:spLocks noChangeArrowheads="1"/>
            </p:cNvSpPr>
            <p:nvPr/>
          </p:nvSpPr>
          <p:spPr bwMode="auto">
            <a:xfrm>
              <a:off x="2569" y="2262"/>
              <a:ext cx="1376" cy="222"/>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Attribute timestamp</a:t>
              </a:r>
              <a:endParaRPr lang="en-GB" altLang="zh-CN" sz="2800">
                <a:latin typeface="Times" pitchFamily="18" charset="0"/>
                <a:cs typeface="Arial" charset="0"/>
              </a:endParaRPr>
            </a:p>
          </p:txBody>
        </p:sp>
        <p:sp>
          <p:nvSpPr>
            <p:cNvPr id="8207" name="Line 21"/>
            <p:cNvSpPr>
              <a:spLocks noChangeShapeType="1"/>
            </p:cNvSpPr>
            <p:nvPr/>
          </p:nvSpPr>
          <p:spPr bwMode="auto">
            <a:xfrm>
              <a:off x="1640" y="2218"/>
              <a:ext cx="3159" cy="1"/>
            </a:xfrm>
            <a:prstGeom prst="line">
              <a:avLst/>
            </a:prstGeom>
            <a:noFill/>
            <a:ln w="39688">
              <a:solidFill>
                <a:srgbClr val="000000"/>
              </a:solidFill>
              <a:round/>
              <a:headEnd/>
              <a:tailEnd/>
            </a:ln>
          </p:spPr>
          <p:txBody>
            <a:bodyPr/>
            <a:lstStyle/>
            <a:p>
              <a:endParaRPr lang="zh-CN" altLang="en-US"/>
            </a:p>
          </p:txBody>
        </p:sp>
        <p:sp>
          <p:nvSpPr>
            <p:cNvPr id="8208" name="Rectangle 22"/>
            <p:cNvSpPr>
              <a:spLocks noChangeArrowheads="1"/>
            </p:cNvSpPr>
            <p:nvPr/>
          </p:nvSpPr>
          <p:spPr bwMode="auto">
            <a:xfrm>
              <a:off x="2717" y="2493"/>
              <a:ext cx="1173" cy="221"/>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Reference count</a:t>
              </a:r>
              <a:endParaRPr lang="en-GB" altLang="zh-CN" sz="2800">
                <a:latin typeface="Times" pitchFamily="18" charset="0"/>
                <a:cs typeface="Arial" charset="0"/>
              </a:endParaRPr>
            </a:p>
          </p:txBody>
        </p:sp>
        <p:sp>
          <p:nvSpPr>
            <p:cNvPr id="8209" name="Line 23"/>
            <p:cNvSpPr>
              <a:spLocks noChangeShapeType="1"/>
            </p:cNvSpPr>
            <p:nvPr/>
          </p:nvSpPr>
          <p:spPr bwMode="auto">
            <a:xfrm>
              <a:off x="1640" y="2449"/>
              <a:ext cx="3159" cy="1"/>
            </a:xfrm>
            <a:prstGeom prst="line">
              <a:avLst/>
            </a:prstGeom>
            <a:noFill/>
            <a:ln w="39688">
              <a:solidFill>
                <a:srgbClr val="000000"/>
              </a:solidFill>
              <a:round/>
              <a:headEnd/>
              <a:tailEnd/>
            </a:ln>
          </p:spPr>
          <p:txBody>
            <a:bodyPr/>
            <a:lstStyle/>
            <a:p>
              <a:endParaRPr lang="zh-CN" altLang="en-US"/>
            </a:p>
          </p:txBody>
        </p:sp>
        <p:sp>
          <p:nvSpPr>
            <p:cNvPr id="8210" name="Rectangle 24"/>
            <p:cNvSpPr>
              <a:spLocks noChangeArrowheads="1"/>
            </p:cNvSpPr>
            <p:nvPr/>
          </p:nvSpPr>
          <p:spPr bwMode="auto">
            <a:xfrm>
              <a:off x="3013" y="2723"/>
              <a:ext cx="471" cy="221"/>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Owner</a:t>
              </a:r>
              <a:endParaRPr lang="en-GB" altLang="zh-CN" sz="2800">
                <a:latin typeface="Times" pitchFamily="18" charset="0"/>
                <a:cs typeface="Arial" charset="0"/>
              </a:endParaRPr>
            </a:p>
          </p:txBody>
        </p:sp>
        <p:sp>
          <p:nvSpPr>
            <p:cNvPr id="8211" name="Line 25"/>
            <p:cNvSpPr>
              <a:spLocks noChangeShapeType="1"/>
            </p:cNvSpPr>
            <p:nvPr/>
          </p:nvSpPr>
          <p:spPr bwMode="auto">
            <a:xfrm>
              <a:off x="1640" y="2695"/>
              <a:ext cx="3159" cy="1"/>
            </a:xfrm>
            <a:prstGeom prst="line">
              <a:avLst/>
            </a:prstGeom>
            <a:noFill/>
            <a:ln w="39688">
              <a:solidFill>
                <a:srgbClr val="000000"/>
              </a:solidFill>
              <a:round/>
              <a:headEnd/>
              <a:tailEnd/>
            </a:ln>
          </p:spPr>
          <p:txBody>
            <a:bodyPr/>
            <a:lstStyle/>
            <a:p>
              <a:endParaRPr lang="zh-CN" altLang="en-US"/>
            </a:p>
          </p:txBody>
        </p:sp>
        <p:sp>
          <p:nvSpPr>
            <p:cNvPr id="8212" name="Rectangle 26"/>
            <p:cNvSpPr>
              <a:spLocks noChangeArrowheads="1"/>
            </p:cNvSpPr>
            <p:nvPr/>
          </p:nvSpPr>
          <p:spPr bwMode="auto">
            <a:xfrm>
              <a:off x="2964" y="2968"/>
              <a:ext cx="605" cy="222"/>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File type</a:t>
              </a:r>
              <a:endParaRPr lang="en-GB" altLang="zh-CN" sz="2800">
                <a:latin typeface="Times" pitchFamily="18" charset="0"/>
                <a:cs typeface="Arial" charset="0"/>
              </a:endParaRPr>
            </a:p>
          </p:txBody>
        </p:sp>
        <p:sp>
          <p:nvSpPr>
            <p:cNvPr id="8213" name="Line 27"/>
            <p:cNvSpPr>
              <a:spLocks noChangeShapeType="1"/>
            </p:cNvSpPr>
            <p:nvPr/>
          </p:nvSpPr>
          <p:spPr bwMode="auto">
            <a:xfrm>
              <a:off x="1640" y="2925"/>
              <a:ext cx="3159" cy="1"/>
            </a:xfrm>
            <a:prstGeom prst="line">
              <a:avLst/>
            </a:prstGeom>
            <a:noFill/>
            <a:ln w="39688">
              <a:solidFill>
                <a:srgbClr val="000000"/>
              </a:solidFill>
              <a:round/>
              <a:headEnd/>
              <a:tailEnd/>
            </a:ln>
          </p:spPr>
          <p:txBody>
            <a:bodyPr/>
            <a:lstStyle/>
            <a:p>
              <a:endParaRPr lang="zh-CN" altLang="en-US"/>
            </a:p>
          </p:txBody>
        </p:sp>
        <p:sp>
          <p:nvSpPr>
            <p:cNvPr id="8214" name="Rectangle 28"/>
            <p:cNvSpPr>
              <a:spLocks noChangeArrowheads="1"/>
            </p:cNvSpPr>
            <p:nvPr/>
          </p:nvSpPr>
          <p:spPr bwMode="auto">
            <a:xfrm>
              <a:off x="2602" y="3201"/>
              <a:ext cx="1280" cy="221"/>
            </a:xfrm>
            <a:prstGeom prst="rect">
              <a:avLst/>
            </a:prstGeom>
            <a:noFill/>
            <a:ln w="9525">
              <a:noFill/>
              <a:miter lim="800000"/>
              <a:headEnd/>
              <a:tailEnd/>
            </a:ln>
          </p:spPr>
          <p:txBody>
            <a:bodyPr wrap="none" lIns="0" tIns="0" rIns="0" bIns="0">
              <a:spAutoFit/>
            </a:bodyPr>
            <a:lstStyle/>
            <a:p>
              <a:pPr eaLnBrk="0" hangingPunct="0"/>
              <a:r>
                <a:rPr lang="en-GB" altLang="zh-CN" sz="2000">
                  <a:solidFill>
                    <a:srgbClr val="000000"/>
                  </a:solidFill>
                  <a:cs typeface="Arial" charset="0"/>
                </a:rPr>
                <a:t>Access control list</a:t>
              </a:r>
              <a:endParaRPr lang="en-GB" altLang="zh-CN" sz="2800">
                <a:latin typeface="Times" pitchFamily="18" charset="0"/>
                <a:cs typeface="Arial" charset="0"/>
              </a:endParaRPr>
            </a:p>
          </p:txBody>
        </p:sp>
        <p:sp>
          <p:nvSpPr>
            <p:cNvPr id="8215" name="Line 29"/>
            <p:cNvSpPr>
              <a:spLocks noChangeShapeType="1"/>
            </p:cNvSpPr>
            <p:nvPr/>
          </p:nvSpPr>
          <p:spPr bwMode="auto">
            <a:xfrm>
              <a:off x="1640" y="3157"/>
              <a:ext cx="3159" cy="0"/>
            </a:xfrm>
            <a:prstGeom prst="line">
              <a:avLst/>
            </a:prstGeom>
            <a:noFill/>
            <a:ln w="39688">
              <a:solidFill>
                <a:srgbClr val="000000"/>
              </a:solidFill>
              <a:round/>
              <a:headEnd/>
              <a:tailEnd/>
            </a:ln>
          </p:spPr>
          <p:txBody>
            <a:bodyPr/>
            <a:lstStyle/>
            <a:p>
              <a:endParaRPr lang="zh-CN" altLang="en-US"/>
            </a:p>
          </p:txBody>
        </p:sp>
        <p:sp>
          <p:nvSpPr>
            <p:cNvPr id="8216" name="Rectangle 30"/>
            <p:cNvSpPr>
              <a:spLocks noChangeArrowheads="1"/>
            </p:cNvSpPr>
            <p:nvPr/>
          </p:nvSpPr>
          <p:spPr bwMode="auto">
            <a:xfrm>
              <a:off x="1640" y="1264"/>
              <a:ext cx="3175" cy="2764"/>
            </a:xfrm>
            <a:prstGeom prst="rect">
              <a:avLst/>
            </a:prstGeom>
            <a:noFill/>
            <a:ln w="39688">
              <a:solidFill>
                <a:srgbClr val="000000"/>
              </a:solidFill>
              <a:miter lim="800000"/>
              <a:headEnd/>
              <a:tailEnd/>
            </a:ln>
          </p:spPr>
          <p:txBody>
            <a:bodyPr/>
            <a:lstStyle/>
            <a:p>
              <a:endParaRPr lang="zh-CN" altLang="en-US">
                <a:cs typeface="Arial" charset="0"/>
              </a:endParaRPr>
            </a:p>
          </p:txBody>
        </p:sp>
        <p:sp>
          <p:nvSpPr>
            <p:cNvPr id="8217" name="Text Box 31"/>
            <p:cNvSpPr txBox="1">
              <a:spLocks noChangeArrowheads="1"/>
            </p:cNvSpPr>
            <p:nvPr/>
          </p:nvSpPr>
          <p:spPr bwMode="auto">
            <a:xfrm>
              <a:off x="2068" y="3547"/>
              <a:ext cx="116" cy="288"/>
            </a:xfrm>
            <a:prstGeom prst="rect">
              <a:avLst/>
            </a:prstGeom>
            <a:noFill/>
            <a:ln w="9525">
              <a:noFill/>
              <a:miter lim="800000"/>
              <a:headEnd/>
              <a:tailEnd/>
            </a:ln>
          </p:spPr>
          <p:txBody>
            <a:bodyPr wrap="none">
              <a:spAutoFit/>
            </a:bodyPr>
            <a:lstStyle/>
            <a:p>
              <a:pPr eaLnBrk="0" hangingPunct="0"/>
              <a:endParaRPr lang="en-GB" altLang="zh-CN" sz="2000">
                <a:solidFill>
                  <a:schemeClr val="hlink"/>
                </a:solidFill>
                <a:latin typeface="Courier" pitchFamily="49" charset="0"/>
                <a:cs typeface="Arial" charset="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B9F6520E-7DDA-4C2D-ADF4-A6879D462922}" type="slidenum">
              <a:rPr lang="zh-CN" altLang="en-US"/>
              <a:pPr>
                <a:defRPr/>
              </a:pPr>
              <a:t>7</a:t>
            </a:fld>
            <a:endParaRPr lang="zh-CN" altLang="en-US"/>
          </a:p>
        </p:txBody>
      </p:sp>
      <p:sp>
        <p:nvSpPr>
          <p:cNvPr id="9219" name="Rectangle 2"/>
          <p:cNvSpPr>
            <a:spLocks noGrp="1"/>
          </p:cNvSpPr>
          <p:nvPr>
            <p:ph type="title"/>
          </p:nvPr>
        </p:nvSpPr>
        <p:spPr/>
        <p:txBody>
          <a:bodyPr/>
          <a:lstStyle/>
          <a:p>
            <a:r>
              <a:rPr lang="en-US" altLang="zh-CN" smtClean="0"/>
              <a:t>File system modules</a:t>
            </a:r>
          </a:p>
        </p:txBody>
      </p:sp>
      <p:pic>
        <p:nvPicPr>
          <p:cNvPr id="9220" name="Picture 8"/>
          <p:cNvPicPr>
            <a:picLocks noChangeAspect="1" noChangeArrowheads="1"/>
          </p:cNvPicPr>
          <p:nvPr/>
        </p:nvPicPr>
        <p:blipFill>
          <a:blip r:embed="rId2" cstate="print"/>
          <a:srcRect/>
          <a:stretch>
            <a:fillRect/>
          </a:stretch>
        </p:blipFill>
        <p:spPr bwMode="auto">
          <a:xfrm>
            <a:off x="0" y="1916113"/>
            <a:ext cx="9144000" cy="35560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9"/>
          <p:cNvSpPr>
            <a:spLocks noGrp="1"/>
          </p:cNvSpPr>
          <p:nvPr>
            <p:ph type="sldNum" sz="quarter" idx="12"/>
          </p:nvPr>
        </p:nvSpPr>
        <p:spPr/>
        <p:txBody>
          <a:bodyPr/>
          <a:lstStyle/>
          <a:p>
            <a:pPr>
              <a:defRPr/>
            </a:pPr>
            <a:fld id="{37D9F87D-689E-4193-A38B-D7E82777897F}" type="slidenum">
              <a:rPr lang="zh-CN" altLang="en-US"/>
              <a:pPr>
                <a:defRPr/>
              </a:pPr>
              <a:t>8</a:t>
            </a:fld>
            <a:endParaRPr lang="zh-CN" altLang="en-US"/>
          </a:p>
        </p:txBody>
      </p:sp>
      <p:sp>
        <p:nvSpPr>
          <p:cNvPr id="10243" name="Rectangle 2"/>
          <p:cNvSpPr>
            <a:spLocks noGrp="1"/>
          </p:cNvSpPr>
          <p:nvPr>
            <p:ph type="title"/>
          </p:nvPr>
        </p:nvSpPr>
        <p:spPr/>
        <p:txBody>
          <a:bodyPr/>
          <a:lstStyle/>
          <a:p>
            <a:r>
              <a:rPr lang="en-US" altLang="zh-CN" smtClean="0"/>
              <a:t>File system operation </a:t>
            </a:r>
            <a:endParaRPr lang="zh-CN" altLang="en-US" smtClean="0"/>
          </a:p>
        </p:txBody>
      </p:sp>
      <p:grpSp>
        <p:nvGrpSpPr>
          <p:cNvPr id="10244" name="Group 9"/>
          <p:cNvGrpSpPr>
            <a:grpSpLocks/>
          </p:cNvGrpSpPr>
          <p:nvPr/>
        </p:nvGrpSpPr>
        <p:grpSpPr bwMode="auto">
          <a:xfrm>
            <a:off x="341313" y="1628775"/>
            <a:ext cx="8802687" cy="4957763"/>
            <a:chOff x="362" y="909"/>
            <a:chExt cx="5545" cy="3123"/>
          </a:xfrm>
        </p:grpSpPr>
        <p:sp>
          <p:nvSpPr>
            <p:cNvPr id="10245" name="Rectangle 10"/>
            <p:cNvSpPr>
              <a:spLocks noChangeArrowheads="1"/>
            </p:cNvSpPr>
            <p:nvPr/>
          </p:nvSpPr>
          <p:spPr bwMode="auto">
            <a:xfrm>
              <a:off x="362" y="909"/>
              <a:ext cx="5545" cy="3123"/>
            </a:xfrm>
            <a:prstGeom prst="rect">
              <a:avLst/>
            </a:prstGeom>
            <a:solidFill>
              <a:srgbClr val="EEEEEE"/>
            </a:solidFill>
            <a:ln w="9525">
              <a:solidFill>
                <a:schemeClr val="tx1"/>
              </a:solidFill>
              <a:miter lim="800000"/>
              <a:headEnd/>
              <a:tailEnd/>
            </a:ln>
          </p:spPr>
          <p:txBody>
            <a:bodyPr wrap="none" anchor="ctr"/>
            <a:lstStyle/>
            <a:p>
              <a:pPr algn="ctr"/>
              <a:endParaRPr lang="zh-CN" altLang="en-US" sz="900">
                <a:cs typeface="Arial" charset="0"/>
              </a:endParaRPr>
            </a:p>
          </p:txBody>
        </p:sp>
        <p:sp>
          <p:nvSpPr>
            <p:cNvPr id="10246" name="Rectangle 11"/>
            <p:cNvSpPr>
              <a:spLocks noChangeArrowheads="1"/>
            </p:cNvSpPr>
            <p:nvPr/>
          </p:nvSpPr>
          <p:spPr bwMode="auto">
            <a:xfrm>
              <a:off x="468" y="1371"/>
              <a:ext cx="1525"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filedes = open(name, mode)</a:t>
              </a:r>
              <a:endParaRPr lang="en-GB" altLang="zh-CN" sz="2400">
                <a:latin typeface="Times" pitchFamily="18" charset="0"/>
                <a:cs typeface="Arial" charset="0"/>
              </a:endParaRPr>
            </a:p>
          </p:txBody>
        </p:sp>
        <p:sp>
          <p:nvSpPr>
            <p:cNvPr id="10247" name="Rectangle 12"/>
            <p:cNvSpPr>
              <a:spLocks noChangeArrowheads="1"/>
            </p:cNvSpPr>
            <p:nvPr/>
          </p:nvSpPr>
          <p:spPr bwMode="auto">
            <a:xfrm>
              <a:off x="468" y="1519"/>
              <a:ext cx="1540"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filedes = creat(name, mode)</a:t>
              </a:r>
              <a:endParaRPr lang="en-GB" altLang="zh-CN" sz="2400">
                <a:latin typeface="Times" pitchFamily="18" charset="0"/>
                <a:cs typeface="Arial" charset="0"/>
              </a:endParaRPr>
            </a:p>
          </p:txBody>
        </p:sp>
        <p:sp>
          <p:nvSpPr>
            <p:cNvPr id="10248" name="Rectangle 13"/>
            <p:cNvSpPr>
              <a:spLocks noChangeArrowheads="1"/>
            </p:cNvSpPr>
            <p:nvPr/>
          </p:nvSpPr>
          <p:spPr bwMode="auto">
            <a:xfrm>
              <a:off x="2344" y="1371"/>
              <a:ext cx="2363"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Opens an existing file with the given </a:t>
              </a:r>
              <a:r>
                <a:rPr lang="en-GB" altLang="zh-CN" sz="1700" i="1">
                  <a:solidFill>
                    <a:srgbClr val="000000"/>
                  </a:solidFill>
                  <a:latin typeface="Times" pitchFamily="18" charset="0"/>
                  <a:cs typeface="Arial" charset="0"/>
                </a:rPr>
                <a:t>name</a:t>
              </a:r>
              <a:r>
                <a:rPr lang="en-GB" altLang="zh-CN" sz="1700">
                  <a:solidFill>
                    <a:srgbClr val="000000"/>
                  </a:solidFill>
                  <a:latin typeface="Times" pitchFamily="18" charset="0"/>
                  <a:cs typeface="Arial" charset="0"/>
                </a:rPr>
                <a:t>.</a:t>
              </a:r>
              <a:endParaRPr lang="en-GB" altLang="zh-CN" sz="2400">
                <a:latin typeface="Times" pitchFamily="18" charset="0"/>
                <a:cs typeface="Arial" charset="0"/>
              </a:endParaRPr>
            </a:p>
          </p:txBody>
        </p:sp>
        <p:sp>
          <p:nvSpPr>
            <p:cNvPr id="10249" name="Rectangle 14"/>
            <p:cNvSpPr>
              <a:spLocks noChangeArrowheads="1"/>
            </p:cNvSpPr>
            <p:nvPr/>
          </p:nvSpPr>
          <p:spPr bwMode="auto">
            <a:xfrm>
              <a:off x="4719" y="1371"/>
              <a:ext cx="68"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  </a:t>
              </a:r>
              <a:endParaRPr lang="en-GB" altLang="zh-CN" sz="2400">
                <a:latin typeface="Times" pitchFamily="18" charset="0"/>
                <a:cs typeface="Arial" charset="0"/>
              </a:endParaRPr>
            </a:p>
          </p:txBody>
        </p:sp>
        <p:sp>
          <p:nvSpPr>
            <p:cNvPr id="10250" name="Rectangle 15"/>
            <p:cNvSpPr>
              <a:spLocks noChangeArrowheads="1"/>
            </p:cNvSpPr>
            <p:nvPr/>
          </p:nvSpPr>
          <p:spPr bwMode="auto">
            <a:xfrm>
              <a:off x="2344" y="1519"/>
              <a:ext cx="2150"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Creates a new file with the given </a:t>
              </a:r>
              <a:r>
                <a:rPr lang="en-GB" altLang="zh-CN" sz="1700" i="1">
                  <a:solidFill>
                    <a:srgbClr val="000000"/>
                  </a:solidFill>
                  <a:latin typeface="Times" pitchFamily="18" charset="0"/>
                  <a:cs typeface="Arial" charset="0"/>
                </a:rPr>
                <a:t>name</a:t>
              </a:r>
              <a:r>
                <a:rPr lang="en-GB" altLang="zh-CN" sz="1700">
                  <a:solidFill>
                    <a:srgbClr val="000000"/>
                  </a:solidFill>
                  <a:latin typeface="Times" pitchFamily="18" charset="0"/>
                  <a:cs typeface="Arial" charset="0"/>
                </a:rPr>
                <a:t>.</a:t>
              </a:r>
              <a:endParaRPr lang="en-GB" altLang="zh-CN" sz="2400">
                <a:latin typeface="Times" pitchFamily="18" charset="0"/>
                <a:cs typeface="Arial" charset="0"/>
              </a:endParaRPr>
            </a:p>
          </p:txBody>
        </p:sp>
        <p:sp>
          <p:nvSpPr>
            <p:cNvPr id="10251" name="Rectangle 16"/>
            <p:cNvSpPr>
              <a:spLocks noChangeArrowheads="1"/>
            </p:cNvSpPr>
            <p:nvPr/>
          </p:nvSpPr>
          <p:spPr bwMode="auto">
            <a:xfrm>
              <a:off x="4490" y="1519"/>
              <a:ext cx="68"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  </a:t>
              </a:r>
              <a:endParaRPr lang="en-GB" altLang="zh-CN" sz="2400">
                <a:latin typeface="Times" pitchFamily="18" charset="0"/>
                <a:cs typeface="Arial" charset="0"/>
              </a:endParaRPr>
            </a:p>
          </p:txBody>
        </p:sp>
        <p:sp>
          <p:nvSpPr>
            <p:cNvPr id="10252" name="Rectangle 17"/>
            <p:cNvSpPr>
              <a:spLocks noChangeArrowheads="1"/>
            </p:cNvSpPr>
            <p:nvPr/>
          </p:nvSpPr>
          <p:spPr bwMode="auto">
            <a:xfrm>
              <a:off x="2344" y="1668"/>
              <a:ext cx="3311"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Both operations deliver a file descriptor referencing the open</a:t>
              </a:r>
              <a:endParaRPr lang="en-GB" altLang="zh-CN" sz="2400">
                <a:latin typeface="Times" pitchFamily="18" charset="0"/>
                <a:cs typeface="Arial" charset="0"/>
              </a:endParaRPr>
            </a:p>
          </p:txBody>
        </p:sp>
        <p:sp>
          <p:nvSpPr>
            <p:cNvPr id="10253" name="Rectangle 18"/>
            <p:cNvSpPr>
              <a:spLocks noChangeArrowheads="1"/>
            </p:cNvSpPr>
            <p:nvPr/>
          </p:nvSpPr>
          <p:spPr bwMode="auto">
            <a:xfrm>
              <a:off x="2344" y="1816"/>
              <a:ext cx="2001"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file. The </a:t>
              </a:r>
              <a:r>
                <a:rPr lang="en-GB" altLang="zh-CN" sz="1700" i="1">
                  <a:solidFill>
                    <a:srgbClr val="000000"/>
                  </a:solidFill>
                  <a:latin typeface="Times" pitchFamily="18" charset="0"/>
                  <a:cs typeface="Arial" charset="0"/>
                </a:rPr>
                <a:t>mode</a:t>
              </a:r>
              <a:r>
                <a:rPr lang="en-GB" altLang="zh-CN" sz="1700">
                  <a:solidFill>
                    <a:srgbClr val="000000"/>
                  </a:solidFill>
                  <a:latin typeface="Times" pitchFamily="18" charset="0"/>
                  <a:cs typeface="Arial" charset="0"/>
                </a:rPr>
                <a:t> is </a:t>
              </a:r>
              <a:r>
                <a:rPr lang="en-GB" altLang="zh-CN" sz="1700" i="1">
                  <a:solidFill>
                    <a:srgbClr val="000000"/>
                  </a:solidFill>
                  <a:latin typeface="Times" pitchFamily="18" charset="0"/>
                  <a:cs typeface="Arial" charset="0"/>
                </a:rPr>
                <a:t>read</a:t>
              </a:r>
              <a:r>
                <a:rPr lang="en-GB" altLang="zh-CN" sz="1700">
                  <a:solidFill>
                    <a:srgbClr val="000000"/>
                  </a:solidFill>
                  <a:latin typeface="Times" pitchFamily="18" charset="0"/>
                  <a:cs typeface="Arial" charset="0"/>
                </a:rPr>
                <a:t>, </a:t>
              </a:r>
              <a:r>
                <a:rPr lang="en-GB" altLang="zh-CN" sz="1700" i="1">
                  <a:solidFill>
                    <a:srgbClr val="000000"/>
                  </a:solidFill>
                  <a:latin typeface="Times" pitchFamily="18" charset="0"/>
                  <a:cs typeface="Arial" charset="0"/>
                </a:rPr>
                <a:t>write</a:t>
              </a:r>
              <a:r>
                <a:rPr lang="en-GB" altLang="zh-CN" sz="1700">
                  <a:solidFill>
                    <a:srgbClr val="000000"/>
                  </a:solidFill>
                  <a:latin typeface="Times" pitchFamily="18" charset="0"/>
                  <a:cs typeface="Arial" charset="0"/>
                </a:rPr>
                <a:t> or both.</a:t>
              </a:r>
              <a:endParaRPr lang="en-GB" altLang="zh-CN" sz="2400">
                <a:latin typeface="Times" pitchFamily="18" charset="0"/>
                <a:cs typeface="Arial" charset="0"/>
              </a:endParaRPr>
            </a:p>
          </p:txBody>
        </p:sp>
        <p:sp>
          <p:nvSpPr>
            <p:cNvPr id="10254" name="Rectangle 19"/>
            <p:cNvSpPr>
              <a:spLocks noChangeArrowheads="1"/>
            </p:cNvSpPr>
            <p:nvPr/>
          </p:nvSpPr>
          <p:spPr bwMode="auto">
            <a:xfrm>
              <a:off x="468" y="2018"/>
              <a:ext cx="1202"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status = close(filedes)</a:t>
              </a:r>
              <a:endParaRPr lang="en-GB" altLang="zh-CN" sz="2400">
                <a:latin typeface="Times" pitchFamily="18" charset="0"/>
                <a:cs typeface="Arial" charset="0"/>
              </a:endParaRPr>
            </a:p>
          </p:txBody>
        </p:sp>
        <p:sp>
          <p:nvSpPr>
            <p:cNvPr id="10255" name="Rectangle 20"/>
            <p:cNvSpPr>
              <a:spLocks noChangeArrowheads="1"/>
            </p:cNvSpPr>
            <p:nvPr/>
          </p:nvSpPr>
          <p:spPr bwMode="auto">
            <a:xfrm>
              <a:off x="2344" y="2018"/>
              <a:ext cx="1499"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Closes the open file </a:t>
              </a:r>
              <a:r>
                <a:rPr lang="en-GB" altLang="zh-CN" sz="1700" i="1">
                  <a:solidFill>
                    <a:srgbClr val="000000"/>
                  </a:solidFill>
                  <a:latin typeface="Times" pitchFamily="18" charset="0"/>
                  <a:cs typeface="Arial" charset="0"/>
                </a:rPr>
                <a:t>filedes</a:t>
              </a:r>
              <a:r>
                <a:rPr lang="en-GB" altLang="zh-CN" sz="1700">
                  <a:solidFill>
                    <a:srgbClr val="000000"/>
                  </a:solidFill>
                  <a:latin typeface="Times" pitchFamily="18" charset="0"/>
                  <a:cs typeface="Arial" charset="0"/>
                </a:rPr>
                <a:t>.</a:t>
              </a:r>
              <a:endParaRPr lang="en-GB" altLang="zh-CN" sz="2400">
                <a:latin typeface="Times" pitchFamily="18" charset="0"/>
                <a:cs typeface="Arial" charset="0"/>
              </a:endParaRPr>
            </a:p>
          </p:txBody>
        </p:sp>
        <p:sp>
          <p:nvSpPr>
            <p:cNvPr id="10256" name="Rectangle 21"/>
            <p:cNvSpPr>
              <a:spLocks noChangeArrowheads="1"/>
            </p:cNvSpPr>
            <p:nvPr/>
          </p:nvSpPr>
          <p:spPr bwMode="auto">
            <a:xfrm>
              <a:off x="468" y="2221"/>
              <a:ext cx="1685"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count = read(filedes, buffer, n)</a:t>
              </a:r>
              <a:endParaRPr lang="en-GB" altLang="zh-CN" sz="2400">
                <a:latin typeface="Times" pitchFamily="18" charset="0"/>
                <a:cs typeface="Arial" charset="0"/>
              </a:endParaRPr>
            </a:p>
          </p:txBody>
        </p:sp>
        <p:sp>
          <p:nvSpPr>
            <p:cNvPr id="10257" name="Rectangle 22"/>
            <p:cNvSpPr>
              <a:spLocks noChangeArrowheads="1"/>
            </p:cNvSpPr>
            <p:nvPr/>
          </p:nvSpPr>
          <p:spPr bwMode="auto">
            <a:xfrm>
              <a:off x="468" y="2423"/>
              <a:ext cx="1716"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count = write(filedes, buffer, n)</a:t>
              </a:r>
              <a:endParaRPr lang="en-GB" altLang="zh-CN" sz="2400">
                <a:latin typeface="Times" pitchFamily="18" charset="0"/>
                <a:cs typeface="Arial" charset="0"/>
              </a:endParaRPr>
            </a:p>
          </p:txBody>
        </p:sp>
        <p:sp>
          <p:nvSpPr>
            <p:cNvPr id="10258" name="Rectangle 23"/>
            <p:cNvSpPr>
              <a:spLocks noChangeArrowheads="1"/>
            </p:cNvSpPr>
            <p:nvPr/>
          </p:nvSpPr>
          <p:spPr bwMode="auto">
            <a:xfrm>
              <a:off x="2344" y="2221"/>
              <a:ext cx="3345"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Transfers </a:t>
              </a:r>
              <a:r>
                <a:rPr lang="en-GB" altLang="zh-CN" sz="1700" i="1">
                  <a:solidFill>
                    <a:srgbClr val="000000"/>
                  </a:solidFill>
                  <a:latin typeface="Times" pitchFamily="18" charset="0"/>
                  <a:cs typeface="Arial" charset="0"/>
                </a:rPr>
                <a:t>n</a:t>
              </a:r>
              <a:r>
                <a:rPr lang="en-GB" altLang="zh-CN" sz="1700">
                  <a:solidFill>
                    <a:srgbClr val="000000"/>
                  </a:solidFill>
                  <a:latin typeface="Times" pitchFamily="18" charset="0"/>
                  <a:cs typeface="Arial" charset="0"/>
                </a:rPr>
                <a:t> bytes from the file referenced by </a:t>
              </a:r>
              <a:r>
                <a:rPr lang="en-GB" altLang="zh-CN" sz="1700" i="1">
                  <a:solidFill>
                    <a:srgbClr val="000000"/>
                  </a:solidFill>
                  <a:latin typeface="Times" pitchFamily="18" charset="0"/>
                  <a:cs typeface="Arial" charset="0"/>
                </a:rPr>
                <a:t>filedes</a:t>
              </a:r>
              <a:r>
                <a:rPr lang="en-GB" altLang="zh-CN" sz="1700">
                  <a:solidFill>
                    <a:srgbClr val="000000"/>
                  </a:solidFill>
                  <a:latin typeface="Times" pitchFamily="18" charset="0"/>
                  <a:cs typeface="Arial" charset="0"/>
                </a:rPr>
                <a:t> to </a:t>
              </a:r>
              <a:r>
                <a:rPr lang="en-GB" altLang="zh-CN" sz="1700" i="1">
                  <a:solidFill>
                    <a:srgbClr val="000000"/>
                  </a:solidFill>
                  <a:latin typeface="Times" pitchFamily="18" charset="0"/>
                  <a:cs typeface="Arial" charset="0"/>
                </a:rPr>
                <a:t>buffer</a:t>
              </a:r>
              <a:r>
                <a:rPr lang="en-GB" altLang="zh-CN" sz="1700">
                  <a:solidFill>
                    <a:srgbClr val="000000"/>
                  </a:solidFill>
                  <a:latin typeface="Times" pitchFamily="18" charset="0"/>
                  <a:cs typeface="Arial" charset="0"/>
                </a:rPr>
                <a:t>.</a:t>
              </a:r>
              <a:endParaRPr lang="en-GB" altLang="zh-CN" sz="2400">
                <a:latin typeface="Times" pitchFamily="18" charset="0"/>
                <a:cs typeface="Arial" charset="0"/>
              </a:endParaRPr>
            </a:p>
          </p:txBody>
        </p:sp>
        <p:sp>
          <p:nvSpPr>
            <p:cNvPr id="10259" name="Rectangle 24"/>
            <p:cNvSpPr>
              <a:spLocks noChangeArrowheads="1"/>
            </p:cNvSpPr>
            <p:nvPr/>
          </p:nvSpPr>
          <p:spPr bwMode="auto">
            <a:xfrm>
              <a:off x="5624" y="2221"/>
              <a:ext cx="68"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  </a:t>
              </a:r>
              <a:endParaRPr lang="en-GB" altLang="zh-CN" sz="2400">
                <a:latin typeface="Times" pitchFamily="18" charset="0"/>
                <a:cs typeface="Arial" charset="0"/>
              </a:endParaRPr>
            </a:p>
          </p:txBody>
        </p:sp>
        <p:sp>
          <p:nvSpPr>
            <p:cNvPr id="10260" name="Rectangle 25"/>
            <p:cNvSpPr>
              <a:spLocks noChangeArrowheads="1"/>
            </p:cNvSpPr>
            <p:nvPr/>
          </p:nvSpPr>
          <p:spPr bwMode="auto">
            <a:xfrm>
              <a:off x="2344" y="2369"/>
              <a:ext cx="3351"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Transfers </a:t>
              </a:r>
              <a:r>
                <a:rPr lang="en-GB" altLang="zh-CN" sz="1700" i="1">
                  <a:solidFill>
                    <a:srgbClr val="000000"/>
                  </a:solidFill>
                  <a:latin typeface="Times" pitchFamily="18" charset="0"/>
                  <a:cs typeface="Arial" charset="0"/>
                </a:rPr>
                <a:t>n</a:t>
              </a:r>
              <a:r>
                <a:rPr lang="en-GB" altLang="zh-CN" sz="1700">
                  <a:solidFill>
                    <a:srgbClr val="000000"/>
                  </a:solidFill>
                  <a:latin typeface="Times" pitchFamily="18" charset="0"/>
                  <a:cs typeface="Arial" charset="0"/>
                </a:rPr>
                <a:t> bytes to the file referenced by </a:t>
              </a:r>
              <a:r>
                <a:rPr lang="en-GB" altLang="zh-CN" sz="1700" i="1">
                  <a:solidFill>
                    <a:srgbClr val="000000"/>
                  </a:solidFill>
                  <a:latin typeface="Times" pitchFamily="18" charset="0"/>
                  <a:cs typeface="Arial" charset="0"/>
                </a:rPr>
                <a:t>filedes</a:t>
              </a:r>
              <a:r>
                <a:rPr lang="en-GB" altLang="zh-CN" sz="1700">
                  <a:solidFill>
                    <a:srgbClr val="000000"/>
                  </a:solidFill>
                  <a:latin typeface="Times" pitchFamily="18" charset="0"/>
                  <a:cs typeface="Arial" charset="0"/>
                </a:rPr>
                <a:t> from buffer.</a:t>
              </a:r>
              <a:endParaRPr lang="en-GB" altLang="zh-CN" sz="2400">
                <a:latin typeface="Times" pitchFamily="18" charset="0"/>
                <a:cs typeface="Arial" charset="0"/>
              </a:endParaRPr>
            </a:p>
          </p:txBody>
        </p:sp>
        <p:sp>
          <p:nvSpPr>
            <p:cNvPr id="10261" name="Rectangle 26"/>
            <p:cNvSpPr>
              <a:spLocks noChangeArrowheads="1"/>
            </p:cNvSpPr>
            <p:nvPr/>
          </p:nvSpPr>
          <p:spPr bwMode="auto">
            <a:xfrm>
              <a:off x="2344" y="2518"/>
              <a:ext cx="3478"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Both operations deliver the number of bytes actually transferred</a:t>
              </a:r>
              <a:endParaRPr lang="en-GB" altLang="zh-CN" sz="2400">
                <a:latin typeface="Times" pitchFamily="18" charset="0"/>
                <a:cs typeface="Arial" charset="0"/>
              </a:endParaRPr>
            </a:p>
          </p:txBody>
        </p:sp>
        <p:sp>
          <p:nvSpPr>
            <p:cNvPr id="10262" name="Rectangle 27"/>
            <p:cNvSpPr>
              <a:spLocks noChangeArrowheads="1"/>
            </p:cNvSpPr>
            <p:nvPr/>
          </p:nvSpPr>
          <p:spPr bwMode="auto">
            <a:xfrm>
              <a:off x="2344" y="2666"/>
              <a:ext cx="1918"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and advance the read-write pointer.</a:t>
              </a:r>
              <a:endParaRPr lang="en-GB" altLang="zh-CN" sz="2400">
                <a:latin typeface="Times" pitchFamily="18" charset="0"/>
                <a:cs typeface="Arial" charset="0"/>
              </a:endParaRPr>
            </a:p>
          </p:txBody>
        </p:sp>
        <p:sp>
          <p:nvSpPr>
            <p:cNvPr id="10263" name="Rectangle 28"/>
            <p:cNvSpPr>
              <a:spLocks noChangeArrowheads="1"/>
            </p:cNvSpPr>
            <p:nvPr/>
          </p:nvSpPr>
          <p:spPr bwMode="auto">
            <a:xfrm>
              <a:off x="468" y="2869"/>
              <a:ext cx="1417"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pos = lseek(filedes, offset,</a:t>
              </a:r>
              <a:endParaRPr lang="en-GB" altLang="zh-CN" sz="2400">
                <a:latin typeface="Times" pitchFamily="18" charset="0"/>
                <a:cs typeface="Arial" charset="0"/>
              </a:endParaRPr>
            </a:p>
          </p:txBody>
        </p:sp>
        <p:sp>
          <p:nvSpPr>
            <p:cNvPr id="10264" name="Rectangle 29"/>
            <p:cNvSpPr>
              <a:spLocks noChangeArrowheads="1"/>
            </p:cNvSpPr>
            <p:nvPr/>
          </p:nvSpPr>
          <p:spPr bwMode="auto">
            <a:xfrm>
              <a:off x="1871" y="2869"/>
              <a:ext cx="68"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  </a:t>
              </a:r>
              <a:endParaRPr lang="en-GB" altLang="zh-CN" sz="2400">
                <a:latin typeface="Times" pitchFamily="18" charset="0"/>
                <a:cs typeface="Arial" charset="0"/>
              </a:endParaRPr>
            </a:p>
          </p:txBody>
        </p:sp>
        <p:sp>
          <p:nvSpPr>
            <p:cNvPr id="10265" name="Rectangle 30"/>
            <p:cNvSpPr>
              <a:spLocks noChangeArrowheads="1"/>
            </p:cNvSpPr>
            <p:nvPr/>
          </p:nvSpPr>
          <p:spPr bwMode="auto">
            <a:xfrm>
              <a:off x="1588" y="3017"/>
              <a:ext cx="452"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whence)</a:t>
              </a:r>
              <a:endParaRPr lang="en-GB" altLang="zh-CN" sz="2400">
                <a:latin typeface="Times" pitchFamily="18" charset="0"/>
                <a:cs typeface="Arial" charset="0"/>
              </a:endParaRPr>
            </a:p>
          </p:txBody>
        </p:sp>
        <p:sp>
          <p:nvSpPr>
            <p:cNvPr id="10266" name="Rectangle 31"/>
            <p:cNvSpPr>
              <a:spLocks noChangeArrowheads="1"/>
            </p:cNvSpPr>
            <p:nvPr/>
          </p:nvSpPr>
          <p:spPr bwMode="auto">
            <a:xfrm>
              <a:off x="2020" y="3017"/>
              <a:ext cx="34"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 </a:t>
              </a:r>
              <a:endParaRPr lang="en-GB" altLang="zh-CN" sz="2400">
                <a:latin typeface="Times" pitchFamily="18" charset="0"/>
                <a:cs typeface="Arial" charset="0"/>
              </a:endParaRPr>
            </a:p>
          </p:txBody>
        </p:sp>
        <p:sp>
          <p:nvSpPr>
            <p:cNvPr id="10267" name="Rectangle 32"/>
            <p:cNvSpPr>
              <a:spLocks noChangeArrowheads="1"/>
            </p:cNvSpPr>
            <p:nvPr/>
          </p:nvSpPr>
          <p:spPr bwMode="auto">
            <a:xfrm>
              <a:off x="2060" y="3017"/>
              <a:ext cx="34"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 </a:t>
              </a:r>
              <a:endParaRPr lang="en-GB" altLang="zh-CN" sz="2400">
                <a:latin typeface="Times" pitchFamily="18" charset="0"/>
                <a:cs typeface="Arial" charset="0"/>
              </a:endParaRPr>
            </a:p>
          </p:txBody>
        </p:sp>
        <p:sp>
          <p:nvSpPr>
            <p:cNvPr id="10268" name="Rectangle 33"/>
            <p:cNvSpPr>
              <a:spLocks noChangeArrowheads="1"/>
            </p:cNvSpPr>
            <p:nvPr/>
          </p:nvSpPr>
          <p:spPr bwMode="auto">
            <a:xfrm>
              <a:off x="2344" y="2869"/>
              <a:ext cx="3217"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Moves the read-write pointer to offset (relative or absolute,</a:t>
              </a:r>
              <a:endParaRPr lang="en-GB" altLang="zh-CN" sz="2400">
                <a:latin typeface="Times" pitchFamily="18" charset="0"/>
                <a:cs typeface="Arial" charset="0"/>
              </a:endParaRPr>
            </a:p>
          </p:txBody>
        </p:sp>
        <p:sp>
          <p:nvSpPr>
            <p:cNvPr id="10269" name="Rectangle 34"/>
            <p:cNvSpPr>
              <a:spLocks noChangeArrowheads="1"/>
            </p:cNvSpPr>
            <p:nvPr/>
          </p:nvSpPr>
          <p:spPr bwMode="auto">
            <a:xfrm>
              <a:off x="2344" y="3017"/>
              <a:ext cx="1256"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depending on </a:t>
              </a:r>
              <a:r>
                <a:rPr lang="en-GB" altLang="zh-CN" sz="1700" i="1">
                  <a:solidFill>
                    <a:srgbClr val="000000"/>
                  </a:solidFill>
                  <a:latin typeface="Times" pitchFamily="18" charset="0"/>
                  <a:cs typeface="Arial" charset="0"/>
                </a:rPr>
                <a:t>whence</a:t>
              </a:r>
              <a:r>
                <a:rPr lang="en-GB" altLang="zh-CN" sz="1700">
                  <a:solidFill>
                    <a:srgbClr val="000000"/>
                  </a:solidFill>
                  <a:latin typeface="Times" pitchFamily="18" charset="0"/>
                  <a:cs typeface="Arial" charset="0"/>
                </a:rPr>
                <a:t>).</a:t>
              </a:r>
              <a:endParaRPr lang="en-GB" altLang="zh-CN" sz="2400">
                <a:latin typeface="Times" pitchFamily="18" charset="0"/>
                <a:cs typeface="Arial" charset="0"/>
              </a:endParaRPr>
            </a:p>
          </p:txBody>
        </p:sp>
        <p:sp>
          <p:nvSpPr>
            <p:cNvPr id="10270" name="Rectangle 35"/>
            <p:cNvSpPr>
              <a:spLocks noChangeArrowheads="1"/>
            </p:cNvSpPr>
            <p:nvPr/>
          </p:nvSpPr>
          <p:spPr bwMode="auto">
            <a:xfrm>
              <a:off x="468" y="3219"/>
              <a:ext cx="1202"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status = unlink(name)</a:t>
              </a:r>
              <a:endParaRPr lang="en-GB" altLang="zh-CN" sz="2400">
                <a:latin typeface="Times" pitchFamily="18" charset="0"/>
                <a:cs typeface="Arial" charset="0"/>
              </a:endParaRPr>
            </a:p>
          </p:txBody>
        </p:sp>
        <p:sp>
          <p:nvSpPr>
            <p:cNvPr id="10271" name="Rectangle 36"/>
            <p:cNvSpPr>
              <a:spLocks noChangeArrowheads="1"/>
            </p:cNvSpPr>
            <p:nvPr/>
          </p:nvSpPr>
          <p:spPr bwMode="auto">
            <a:xfrm>
              <a:off x="2344" y="3219"/>
              <a:ext cx="3353"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Removes the file </a:t>
              </a:r>
              <a:r>
                <a:rPr lang="en-GB" altLang="zh-CN" sz="1700" i="1">
                  <a:solidFill>
                    <a:srgbClr val="000000"/>
                  </a:solidFill>
                  <a:latin typeface="Times" pitchFamily="18" charset="0"/>
                  <a:cs typeface="Arial" charset="0"/>
                </a:rPr>
                <a:t>name</a:t>
              </a:r>
              <a:r>
                <a:rPr lang="en-GB" altLang="zh-CN" sz="1700">
                  <a:solidFill>
                    <a:srgbClr val="000000"/>
                  </a:solidFill>
                  <a:latin typeface="Times" pitchFamily="18" charset="0"/>
                  <a:cs typeface="Arial" charset="0"/>
                </a:rPr>
                <a:t> from the directory structure. If the file</a:t>
              </a:r>
              <a:endParaRPr lang="en-GB" altLang="zh-CN" sz="2400">
                <a:latin typeface="Times" pitchFamily="18" charset="0"/>
                <a:cs typeface="Arial" charset="0"/>
              </a:endParaRPr>
            </a:p>
          </p:txBody>
        </p:sp>
        <p:sp>
          <p:nvSpPr>
            <p:cNvPr id="10272" name="Rectangle 37"/>
            <p:cNvSpPr>
              <a:spLocks noChangeArrowheads="1"/>
            </p:cNvSpPr>
            <p:nvPr/>
          </p:nvSpPr>
          <p:spPr bwMode="auto">
            <a:xfrm>
              <a:off x="2344" y="3368"/>
              <a:ext cx="1774"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has no other names, it is deleted.</a:t>
              </a:r>
              <a:endParaRPr lang="en-GB" altLang="zh-CN" sz="2400">
                <a:latin typeface="Times" pitchFamily="18" charset="0"/>
                <a:cs typeface="Arial" charset="0"/>
              </a:endParaRPr>
            </a:p>
          </p:txBody>
        </p:sp>
        <p:sp>
          <p:nvSpPr>
            <p:cNvPr id="10273" name="Rectangle 38"/>
            <p:cNvSpPr>
              <a:spLocks noChangeArrowheads="1"/>
            </p:cNvSpPr>
            <p:nvPr/>
          </p:nvSpPr>
          <p:spPr bwMode="auto">
            <a:xfrm>
              <a:off x="468" y="3570"/>
              <a:ext cx="1564"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status = link(name1, name2)</a:t>
              </a:r>
              <a:endParaRPr lang="en-GB" altLang="zh-CN" sz="2400">
                <a:latin typeface="Times" pitchFamily="18" charset="0"/>
                <a:cs typeface="Arial" charset="0"/>
              </a:endParaRPr>
            </a:p>
          </p:txBody>
        </p:sp>
        <p:sp>
          <p:nvSpPr>
            <p:cNvPr id="10274" name="Rectangle 39"/>
            <p:cNvSpPr>
              <a:spLocks noChangeArrowheads="1"/>
            </p:cNvSpPr>
            <p:nvPr/>
          </p:nvSpPr>
          <p:spPr bwMode="auto">
            <a:xfrm>
              <a:off x="2344" y="3570"/>
              <a:ext cx="2476"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Adds a new name (</a:t>
              </a:r>
              <a:r>
                <a:rPr lang="en-GB" altLang="zh-CN" sz="1700" i="1">
                  <a:solidFill>
                    <a:srgbClr val="000000"/>
                  </a:solidFill>
                  <a:latin typeface="Times" pitchFamily="18" charset="0"/>
                  <a:cs typeface="Arial" charset="0"/>
                </a:rPr>
                <a:t>name2</a:t>
              </a:r>
              <a:r>
                <a:rPr lang="en-GB" altLang="zh-CN" sz="1700">
                  <a:solidFill>
                    <a:srgbClr val="000000"/>
                  </a:solidFill>
                  <a:latin typeface="Times" pitchFamily="18" charset="0"/>
                  <a:cs typeface="Arial" charset="0"/>
                </a:rPr>
                <a:t>) for a file (</a:t>
              </a:r>
              <a:r>
                <a:rPr lang="en-GB" altLang="zh-CN" sz="1700" i="1">
                  <a:solidFill>
                    <a:srgbClr val="000000"/>
                  </a:solidFill>
                  <a:latin typeface="Times" pitchFamily="18" charset="0"/>
                  <a:cs typeface="Arial" charset="0"/>
                </a:rPr>
                <a:t>name1</a:t>
              </a:r>
              <a:r>
                <a:rPr lang="en-GB" altLang="zh-CN" sz="1700">
                  <a:solidFill>
                    <a:srgbClr val="000000"/>
                  </a:solidFill>
                  <a:latin typeface="Times" pitchFamily="18" charset="0"/>
                  <a:cs typeface="Arial" charset="0"/>
                </a:rPr>
                <a:t>).</a:t>
              </a:r>
              <a:endParaRPr lang="en-GB" altLang="zh-CN" sz="2400">
                <a:latin typeface="Times" pitchFamily="18" charset="0"/>
                <a:cs typeface="Arial" charset="0"/>
              </a:endParaRPr>
            </a:p>
          </p:txBody>
        </p:sp>
        <p:sp>
          <p:nvSpPr>
            <p:cNvPr id="10275" name="Rectangle 40"/>
            <p:cNvSpPr>
              <a:spLocks noChangeArrowheads="1"/>
            </p:cNvSpPr>
            <p:nvPr/>
          </p:nvSpPr>
          <p:spPr bwMode="auto">
            <a:xfrm>
              <a:off x="4760" y="3570"/>
              <a:ext cx="68"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  </a:t>
              </a:r>
              <a:endParaRPr lang="en-GB" altLang="zh-CN" sz="2400">
                <a:latin typeface="Times" pitchFamily="18" charset="0"/>
                <a:cs typeface="Arial" charset="0"/>
              </a:endParaRPr>
            </a:p>
          </p:txBody>
        </p:sp>
        <p:sp>
          <p:nvSpPr>
            <p:cNvPr id="10276" name="Rectangle 41"/>
            <p:cNvSpPr>
              <a:spLocks noChangeArrowheads="1"/>
            </p:cNvSpPr>
            <p:nvPr/>
          </p:nvSpPr>
          <p:spPr bwMode="auto">
            <a:xfrm>
              <a:off x="468" y="3773"/>
              <a:ext cx="1452"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cs typeface="Arial" charset="0"/>
                </a:rPr>
                <a:t>status = stat(name, buffer)</a:t>
              </a:r>
              <a:endParaRPr lang="en-GB" altLang="zh-CN" sz="2400">
                <a:latin typeface="Times" pitchFamily="18" charset="0"/>
                <a:cs typeface="Arial" charset="0"/>
              </a:endParaRPr>
            </a:p>
          </p:txBody>
        </p:sp>
        <p:sp>
          <p:nvSpPr>
            <p:cNvPr id="10277" name="Rectangle 42"/>
            <p:cNvSpPr>
              <a:spLocks noChangeArrowheads="1"/>
            </p:cNvSpPr>
            <p:nvPr/>
          </p:nvSpPr>
          <p:spPr bwMode="auto">
            <a:xfrm>
              <a:off x="2344" y="3773"/>
              <a:ext cx="2578" cy="163"/>
            </a:xfrm>
            <a:prstGeom prst="rect">
              <a:avLst/>
            </a:prstGeom>
            <a:noFill/>
            <a:ln w="9525">
              <a:noFill/>
              <a:miter lim="800000"/>
              <a:headEnd/>
              <a:tailEnd/>
            </a:ln>
          </p:spPr>
          <p:txBody>
            <a:bodyPr wrap="none" lIns="0" tIns="0" rIns="0" bIns="0">
              <a:spAutoFit/>
            </a:bodyPr>
            <a:lstStyle/>
            <a:p>
              <a:pPr eaLnBrk="0" hangingPunct="0"/>
              <a:r>
                <a:rPr lang="en-GB" altLang="zh-CN" sz="1700">
                  <a:solidFill>
                    <a:srgbClr val="000000"/>
                  </a:solidFill>
                  <a:latin typeface="Times" pitchFamily="18" charset="0"/>
                  <a:cs typeface="Arial" charset="0"/>
                </a:rPr>
                <a:t>Gets the file attributes for file </a:t>
              </a:r>
              <a:r>
                <a:rPr lang="en-GB" altLang="zh-CN" sz="1700" i="1">
                  <a:solidFill>
                    <a:srgbClr val="000000"/>
                  </a:solidFill>
                  <a:latin typeface="Times" pitchFamily="18" charset="0"/>
                  <a:cs typeface="Arial" charset="0"/>
                </a:rPr>
                <a:t>name</a:t>
              </a:r>
              <a:r>
                <a:rPr lang="en-GB" altLang="zh-CN" sz="1700">
                  <a:solidFill>
                    <a:srgbClr val="000000"/>
                  </a:solidFill>
                  <a:latin typeface="Times" pitchFamily="18" charset="0"/>
                  <a:cs typeface="Arial" charset="0"/>
                </a:rPr>
                <a:t> into </a:t>
              </a:r>
              <a:r>
                <a:rPr lang="en-GB" altLang="zh-CN" sz="1700" i="1">
                  <a:solidFill>
                    <a:srgbClr val="000000"/>
                  </a:solidFill>
                  <a:latin typeface="Times" pitchFamily="18" charset="0"/>
                  <a:cs typeface="Arial" charset="0"/>
                </a:rPr>
                <a:t>buffer</a:t>
              </a:r>
              <a:r>
                <a:rPr lang="en-GB" altLang="zh-CN" sz="1700">
                  <a:solidFill>
                    <a:srgbClr val="000000"/>
                  </a:solidFill>
                  <a:latin typeface="Times" pitchFamily="18" charset="0"/>
                  <a:cs typeface="Arial" charset="0"/>
                </a:rPr>
                <a:t>.</a:t>
              </a:r>
              <a:endParaRPr lang="en-GB" altLang="zh-CN" sz="2400">
                <a:latin typeface="Times" pitchFamily="18" charset="0"/>
                <a:cs typeface="Arial" charset="0"/>
              </a:endParaRPr>
            </a:p>
          </p:txBody>
        </p:sp>
        <p:sp>
          <p:nvSpPr>
            <p:cNvPr id="10278" name="Rectangle 43"/>
            <p:cNvSpPr>
              <a:spLocks noChangeArrowheads="1"/>
            </p:cNvSpPr>
            <p:nvPr/>
          </p:nvSpPr>
          <p:spPr bwMode="auto">
            <a:xfrm>
              <a:off x="424" y="978"/>
              <a:ext cx="2020" cy="231"/>
            </a:xfrm>
            <a:prstGeom prst="rect">
              <a:avLst/>
            </a:prstGeom>
            <a:noFill/>
            <a:ln w="9525">
              <a:noFill/>
              <a:miter lim="800000"/>
              <a:headEnd/>
              <a:tailEnd/>
            </a:ln>
          </p:spPr>
          <p:txBody>
            <a:bodyPr wrap="none">
              <a:spAutoFit/>
            </a:bodyPr>
            <a:lstStyle/>
            <a:p>
              <a:pPr eaLnBrk="0" hangingPunct="0"/>
              <a:r>
                <a:rPr kumimoji="1" lang="en-GB" altLang="zh-CN" b="1">
                  <a:solidFill>
                    <a:srgbClr val="0066CC"/>
                  </a:solidFill>
                  <a:cs typeface="Arial" charset="0"/>
                </a:rPr>
                <a:t>UNIX file system operations</a:t>
              </a:r>
            </a:p>
          </p:txBody>
        </p:sp>
        <p:sp>
          <p:nvSpPr>
            <p:cNvPr id="10279" name="Line 44"/>
            <p:cNvSpPr>
              <a:spLocks noChangeShapeType="1"/>
            </p:cNvSpPr>
            <p:nvPr/>
          </p:nvSpPr>
          <p:spPr bwMode="auto">
            <a:xfrm>
              <a:off x="460" y="1290"/>
              <a:ext cx="5300" cy="0"/>
            </a:xfrm>
            <a:prstGeom prst="line">
              <a:avLst/>
            </a:prstGeom>
            <a:noFill/>
            <a:ln w="28575">
              <a:solidFill>
                <a:schemeClr val="tx1"/>
              </a:solidFill>
              <a:round/>
              <a:headEnd/>
              <a:tailEnd/>
            </a:ln>
          </p:spPr>
          <p:txBody>
            <a:bodyPr wrap="none" anchor="ctr"/>
            <a:lstStyle/>
            <a:p>
              <a:endParaRPr lang="zh-CN" altLang="en-US"/>
            </a:p>
          </p:txBody>
        </p:sp>
        <p:sp>
          <p:nvSpPr>
            <p:cNvPr id="10280" name="Line 45"/>
            <p:cNvSpPr>
              <a:spLocks noChangeShapeType="1"/>
            </p:cNvSpPr>
            <p:nvPr/>
          </p:nvSpPr>
          <p:spPr bwMode="auto">
            <a:xfrm>
              <a:off x="456" y="3966"/>
              <a:ext cx="5300" cy="0"/>
            </a:xfrm>
            <a:prstGeom prst="line">
              <a:avLst/>
            </a:prstGeom>
            <a:noFill/>
            <a:ln w="28575">
              <a:solidFill>
                <a:schemeClr val="tx1"/>
              </a:solidFill>
              <a:round/>
              <a:headEnd/>
              <a:tailEnd/>
            </a:ln>
          </p:spPr>
          <p:txBody>
            <a:bodyPr wrap="none" anchor="ctr"/>
            <a:lstStyle/>
            <a:p>
              <a:endParaRPr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9"/>
          <p:cNvSpPr>
            <a:spLocks noGrp="1"/>
          </p:cNvSpPr>
          <p:nvPr>
            <p:ph type="sldNum" sz="quarter" idx="12"/>
          </p:nvPr>
        </p:nvSpPr>
        <p:spPr/>
        <p:txBody>
          <a:bodyPr/>
          <a:lstStyle/>
          <a:p>
            <a:pPr>
              <a:defRPr/>
            </a:pPr>
            <a:fld id="{CDE1B41C-9BA6-4C22-9A69-13384C162916}" type="slidenum">
              <a:rPr lang="zh-CN" altLang="en-US"/>
              <a:pPr>
                <a:defRPr/>
              </a:pPr>
              <a:t>9</a:t>
            </a:fld>
            <a:endParaRPr lang="zh-CN" altLang="en-US"/>
          </a:p>
        </p:txBody>
      </p:sp>
      <p:sp>
        <p:nvSpPr>
          <p:cNvPr id="11267" name="Rectangle 2"/>
          <p:cNvSpPr>
            <a:spLocks noGrp="1"/>
          </p:cNvSpPr>
          <p:nvPr>
            <p:ph type="title"/>
          </p:nvPr>
        </p:nvSpPr>
        <p:spPr/>
        <p:txBody>
          <a:bodyPr/>
          <a:lstStyle/>
          <a:p>
            <a:r>
              <a:rPr lang="en-GB" altLang="zh-CN" sz="4000" b="1" smtClean="0">
                <a:solidFill>
                  <a:schemeClr val="tx2"/>
                </a:solidFill>
                <a:latin typeface="华文中宋" pitchFamily="2" charset="-122"/>
              </a:rPr>
              <a:t>UNIX</a:t>
            </a:r>
            <a:r>
              <a:rPr lang="zh-CN" altLang="en-US" sz="4000" b="1" smtClean="0">
                <a:solidFill>
                  <a:schemeClr val="tx2"/>
                </a:solidFill>
                <a:latin typeface="华文中宋" pitchFamily="2" charset="-122"/>
              </a:rPr>
              <a:t>文件系统操作</a:t>
            </a:r>
            <a:endParaRPr lang="en-GB" altLang="zh-CN" sz="4000" b="1" smtClean="0">
              <a:solidFill>
                <a:schemeClr val="tx2"/>
              </a:solidFill>
              <a:latin typeface="华文中宋" pitchFamily="2" charset="-122"/>
            </a:endParaRPr>
          </a:p>
        </p:txBody>
      </p:sp>
      <p:grpSp>
        <p:nvGrpSpPr>
          <p:cNvPr id="11268" name="Group 3"/>
          <p:cNvGrpSpPr>
            <a:grpSpLocks/>
          </p:cNvGrpSpPr>
          <p:nvPr/>
        </p:nvGrpSpPr>
        <p:grpSpPr bwMode="auto">
          <a:xfrm>
            <a:off x="685800" y="1676400"/>
            <a:ext cx="8001000" cy="4205288"/>
            <a:chOff x="448" y="1033"/>
            <a:chExt cx="5456" cy="2649"/>
          </a:xfrm>
        </p:grpSpPr>
        <p:sp>
          <p:nvSpPr>
            <p:cNvPr id="11269" name="Rectangle 4"/>
            <p:cNvSpPr>
              <a:spLocks noChangeArrowheads="1"/>
            </p:cNvSpPr>
            <p:nvPr/>
          </p:nvSpPr>
          <p:spPr bwMode="auto">
            <a:xfrm>
              <a:off x="467" y="1107"/>
              <a:ext cx="1651"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filedes = </a:t>
              </a:r>
              <a:r>
                <a:rPr lang="en-GB" altLang="zh-CN" sz="1700" i="1">
                  <a:solidFill>
                    <a:schemeClr val="accent1"/>
                  </a:solidFill>
                  <a:latin typeface="Times" pitchFamily="18" charset="0"/>
                </a:rPr>
                <a:t>open</a:t>
              </a:r>
              <a:r>
                <a:rPr lang="en-GB" altLang="zh-CN" sz="1700" i="1">
                  <a:solidFill>
                    <a:srgbClr val="000000"/>
                  </a:solidFill>
                  <a:latin typeface="Times" pitchFamily="18" charset="0"/>
                </a:rPr>
                <a:t>(name, mode)</a:t>
              </a:r>
              <a:endParaRPr lang="en-GB" altLang="zh-CN" sz="2400">
                <a:latin typeface="Times" pitchFamily="18" charset="0"/>
              </a:endParaRPr>
            </a:p>
          </p:txBody>
        </p:sp>
        <p:sp>
          <p:nvSpPr>
            <p:cNvPr id="11270" name="Rectangle 5"/>
            <p:cNvSpPr>
              <a:spLocks noChangeArrowheads="1"/>
            </p:cNvSpPr>
            <p:nvPr/>
          </p:nvSpPr>
          <p:spPr bwMode="auto">
            <a:xfrm>
              <a:off x="467" y="1255"/>
              <a:ext cx="1733"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filedes = </a:t>
              </a:r>
              <a:r>
                <a:rPr lang="en-GB" altLang="zh-CN" sz="1700" i="1">
                  <a:solidFill>
                    <a:schemeClr val="accent1"/>
                  </a:solidFill>
                  <a:latin typeface="Times" pitchFamily="18" charset="0"/>
                </a:rPr>
                <a:t>create</a:t>
              </a:r>
              <a:r>
                <a:rPr lang="en-GB" altLang="zh-CN" sz="1700" i="1">
                  <a:solidFill>
                    <a:srgbClr val="000000"/>
                  </a:solidFill>
                  <a:latin typeface="Times" pitchFamily="18" charset="0"/>
                </a:rPr>
                <a:t>(name, mode)</a:t>
              </a:r>
              <a:endParaRPr lang="en-GB" altLang="zh-CN" sz="2400">
                <a:latin typeface="Times" pitchFamily="18" charset="0"/>
              </a:endParaRPr>
            </a:p>
          </p:txBody>
        </p:sp>
        <p:sp>
          <p:nvSpPr>
            <p:cNvPr id="11271" name="Rectangle 6"/>
            <p:cNvSpPr>
              <a:spLocks noChangeArrowheads="1"/>
            </p:cNvSpPr>
            <p:nvPr/>
          </p:nvSpPr>
          <p:spPr bwMode="auto">
            <a:xfrm>
              <a:off x="2344" y="1107"/>
              <a:ext cx="1827"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打开一个名字为 </a:t>
              </a:r>
              <a:r>
                <a:rPr lang="en-GB" altLang="zh-CN" sz="1700" i="1">
                  <a:solidFill>
                    <a:srgbClr val="000000"/>
                  </a:solidFill>
                  <a:latin typeface="Times" pitchFamily="18" charset="0"/>
                </a:rPr>
                <a:t>name</a:t>
              </a:r>
              <a:r>
                <a:rPr lang="zh-CN" altLang="en-GB" sz="1700">
                  <a:solidFill>
                    <a:srgbClr val="000000"/>
                  </a:solidFill>
                  <a:latin typeface="Times" pitchFamily="18" charset="0"/>
                </a:rPr>
                <a:t>的文件</a:t>
              </a:r>
              <a:endParaRPr lang="zh-CN" altLang="en-GB" sz="2400">
                <a:latin typeface="Times" pitchFamily="18" charset="0"/>
              </a:endParaRPr>
            </a:p>
          </p:txBody>
        </p:sp>
        <p:sp>
          <p:nvSpPr>
            <p:cNvPr id="11272" name="Rectangle 7"/>
            <p:cNvSpPr>
              <a:spLocks noChangeArrowheads="1"/>
            </p:cNvSpPr>
            <p:nvPr/>
          </p:nvSpPr>
          <p:spPr bwMode="auto">
            <a:xfrm>
              <a:off x="4719" y="1107"/>
              <a:ext cx="73"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  </a:t>
              </a:r>
              <a:endParaRPr lang="zh-CN" altLang="en-GB" sz="2400">
                <a:latin typeface="Times" pitchFamily="18" charset="0"/>
              </a:endParaRPr>
            </a:p>
          </p:txBody>
        </p:sp>
        <p:sp>
          <p:nvSpPr>
            <p:cNvPr id="11273" name="Rectangle 8"/>
            <p:cNvSpPr>
              <a:spLocks noChangeArrowheads="1"/>
            </p:cNvSpPr>
            <p:nvPr/>
          </p:nvSpPr>
          <p:spPr bwMode="auto">
            <a:xfrm>
              <a:off x="2344" y="1255"/>
              <a:ext cx="1827"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创建一个名字为 </a:t>
              </a:r>
              <a:r>
                <a:rPr lang="en-GB" altLang="zh-CN" sz="1700" i="1">
                  <a:solidFill>
                    <a:srgbClr val="000000"/>
                  </a:solidFill>
                  <a:latin typeface="Times" pitchFamily="18" charset="0"/>
                </a:rPr>
                <a:t>name</a:t>
              </a:r>
              <a:r>
                <a:rPr lang="zh-CN" altLang="en-GB" sz="1700">
                  <a:solidFill>
                    <a:srgbClr val="000000"/>
                  </a:solidFill>
                  <a:latin typeface="Times" pitchFamily="18" charset="0"/>
                </a:rPr>
                <a:t>的文件</a:t>
              </a:r>
              <a:endParaRPr lang="en-GB" altLang="zh-CN" sz="1700">
                <a:solidFill>
                  <a:srgbClr val="000000"/>
                </a:solidFill>
                <a:latin typeface="Times" pitchFamily="18" charset="0"/>
              </a:endParaRPr>
            </a:p>
          </p:txBody>
        </p:sp>
        <p:sp>
          <p:nvSpPr>
            <p:cNvPr id="11274" name="Rectangle 9"/>
            <p:cNvSpPr>
              <a:spLocks noChangeArrowheads="1"/>
            </p:cNvSpPr>
            <p:nvPr/>
          </p:nvSpPr>
          <p:spPr bwMode="auto">
            <a:xfrm>
              <a:off x="4490" y="1255"/>
              <a:ext cx="74"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  </a:t>
              </a:r>
              <a:endParaRPr lang="zh-CN" altLang="en-GB" sz="2400">
                <a:latin typeface="Times" pitchFamily="18" charset="0"/>
              </a:endParaRPr>
            </a:p>
          </p:txBody>
        </p:sp>
        <p:sp>
          <p:nvSpPr>
            <p:cNvPr id="11275" name="Rectangle 10"/>
            <p:cNvSpPr>
              <a:spLocks noChangeArrowheads="1"/>
            </p:cNvSpPr>
            <p:nvPr/>
          </p:nvSpPr>
          <p:spPr bwMode="auto">
            <a:xfrm>
              <a:off x="2344" y="1404"/>
              <a:ext cx="2797"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以上两个操作都返回一个打开文件的描述符</a:t>
              </a:r>
            </a:p>
          </p:txBody>
        </p:sp>
        <p:sp>
          <p:nvSpPr>
            <p:cNvPr id="11276" name="Rectangle 11"/>
            <p:cNvSpPr>
              <a:spLocks noChangeArrowheads="1"/>
            </p:cNvSpPr>
            <p:nvPr/>
          </p:nvSpPr>
          <p:spPr bwMode="auto">
            <a:xfrm>
              <a:off x="2344" y="1552"/>
              <a:ext cx="1974"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mode</a:t>
              </a:r>
              <a:r>
                <a:rPr lang="en-GB" altLang="zh-CN" sz="1700">
                  <a:solidFill>
                    <a:srgbClr val="000000"/>
                  </a:solidFill>
                  <a:latin typeface="Times" pitchFamily="18" charset="0"/>
                </a:rPr>
                <a:t> </a:t>
              </a:r>
              <a:r>
                <a:rPr lang="zh-CN" altLang="en-GB" sz="1700">
                  <a:solidFill>
                    <a:srgbClr val="000000"/>
                  </a:solidFill>
                  <a:latin typeface="Times" pitchFamily="18" charset="0"/>
                </a:rPr>
                <a:t>可以是 </a:t>
              </a:r>
              <a:r>
                <a:rPr lang="en-GB" altLang="zh-CN" sz="1700" i="1">
                  <a:solidFill>
                    <a:srgbClr val="000000"/>
                  </a:solidFill>
                  <a:latin typeface="Times" pitchFamily="18" charset="0"/>
                </a:rPr>
                <a:t>read</a:t>
              </a:r>
              <a:r>
                <a:rPr lang="en-GB" altLang="zh-CN" sz="1700">
                  <a:solidFill>
                    <a:srgbClr val="000000"/>
                  </a:solidFill>
                  <a:latin typeface="Times" pitchFamily="18" charset="0"/>
                </a:rPr>
                <a:t>, </a:t>
              </a:r>
              <a:r>
                <a:rPr lang="en-GB" altLang="zh-CN" sz="1700" i="1">
                  <a:solidFill>
                    <a:srgbClr val="000000"/>
                  </a:solidFill>
                  <a:latin typeface="Times" pitchFamily="18" charset="0"/>
                </a:rPr>
                <a:t>write</a:t>
              </a:r>
              <a:r>
                <a:rPr lang="en-GB" altLang="zh-CN" sz="1700">
                  <a:solidFill>
                    <a:srgbClr val="000000"/>
                  </a:solidFill>
                  <a:latin typeface="Times" pitchFamily="18" charset="0"/>
                </a:rPr>
                <a:t> or both.</a:t>
              </a:r>
              <a:endParaRPr lang="en-GB" altLang="zh-CN" sz="2400">
                <a:latin typeface="Times" pitchFamily="18" charset="0"/>
              </a:endParaRPr>
            </a:p>
          </p:txBody>
        </p:sp>
        <p:sp>
          <p:nvSpPr>
            <p:cNvPr id="11277" name="Line 12"/>
            <p:cNvSpPr>
              <a:spLocks noChangeShapeType="1"/>
            </p:cNvSpPr>
            <p:nvPr/>
          </p:nvSpPr>
          <p:spPr bwMode="auto">
            <a:xfrm>
              <a:off x="448" y="1033"/>
              <a:ext cx="1863" cy="1"/>
            </a:xfrm>
            <a:prstGeom prst="line">
              <a:avLst/>
            </a:prstGeom>
            <a:noFill/>
            <a:ln w="31750">
              <a:solidFill>
                <a:srgbClr val="000000"/>
              </a:solidFill>
              <a:round/>
              <a:headEnd/>
              <a:tailEnd/>
            </a:ln>
          </p:spPr>
          <p:txBody>
            <a:bodyPr/>
            <a:lstStyle/>
            <a:p>
              <a:endParaRPr lang="zh-CN" altLang="en-US"/>
            </a:p>
          </p:txBody>
        </p:sp>
        <p:sp>
          <p:nvSpPr>
            <p:cNvPr id="11278" name="Rectangle 13"/>
            <p:cNvSpPr>
              <a:spLocks noChangeArrowheads="1"/>
            </p:cNvSpPr>
            <p:nvPr/>
          </p:nvSpPr>
          <p:spPr bwMode="auto">
            <a:xfrm>
              <a:off x="2324" y="1047"/>
              <a:ext cx="14" cy="1"/>
            </a:xfrm>
            <a:prstGeom prst="rect">
              <a:avLst/>
            </a:prstGeom>
            <a:solidFill>
              <a:srgbClr val="FFFFFF"/>
            </a:solidFill>
            <a:ln w="9525">
              <a:noFill/>
              <a:miter lim="800000"/>
              <a:headEnd/>
              <a:tailEnd/>
            </a:ln>
          </p:spPr>
          <p:txBody>
            <a:bodyPr/>
            <a:lstStyle/>
            <a:p>
              <a:endParaRPr lang="zh-CN" altLang="en-US"/>
            </a:p>
          </p:txBody>
        </p:sp>
        <p:sp>
          <p:nvSpPr>
            <p:cNvPr id="11279" name="Line 14"/>
            <p:cNvSpPr>
              <a:spLocks noChangeShapeType="1"/>
            </p:cNvSpPr>
            <p:nvPr/>
          </p:nvSpPr>
          <p:spPr bwMode="auto">
            <a:xfrm>
              <a:off x="2324" y="1033"/>
              <a:ext cx="1" cy="1"/>
            </a:xfrm>
            <a:prstGeom prst="line">
              <a:avLst/>
            </a:prstGeom>
            <a:noFill/>
            <a:ln w="31750">
              <a:solidFill>
                <a:srgbClr val="000000"/>
              </a:solidFill>
              <a:round/>
              <a:headEnd/>
              <a:tailEnd/>
            </a:ln>
          </p:spPr>
          <p:txBody>
            <a:bodyPr/>
            <a:lstStyle/>
            <a:p>
              <a:endParaRPr lang="zh-CN" altLang="en-US"/>
            </a:p>
          </p:txBody>
        </p:sp>
        <p:sp>
          <p:nvSpPr>
            <p:cNvPr id="11280" name="Line 15"/>
            <p:cNvSpPr>
              <a:spLocks noChangeShapeType="1"/>
            </p:cNvSpPr>
            <p:nvPr/>
          </p:nvSpPr>
          <p:spPr bwMode="auto">
            <a:xfrm>
              <a:off x="2338" y="1033"/>
              <a:ext cx="3455" cy="1"/>
            </a:xfrm>
            <a:prstGeom prst="line">
              <a:avLst/>
            </a:prstGeom>
            <a:noFill/>
            <a:ln w="31750">
              <a:solidFill>
                <a:srgbClr val="000000"/>
              </a:solidFill>
              <a:round/>
              <a:headEnd/>
              <a:tailEnd/>
            </a:ln>
          </p:spPr>
          <p:txBody>
            <a:bodyPr/>
            <a:lstStyle/>
            <a:p>
              <a:endParaRPr lang="zh-CN" altLang="en-US"/>
            </a:p>
          </p:txBody>
        </p:sp>
        <p:sp>
          <p:nvSpPr>
            <p:cNvPr id="11281" name="Rectangle 16"/>
            <p:cNvSpPr>
              <a:spLocks noChangeArrowheads="1"/>
            </p:cNvSpPr>
            <p:nvPr/>
          </p:nvSpPr>
          <p:spPr bwMode="auto">
            <a:xfrm>
              <a:off x="2324" y="1047"/>
              <a:ext cx="14" cy="648"/>
            </a:xfrm>
            <a:prstGeom prst="rect">
              <a:avLst/>
            </a:prstGeom>
            <a:solidFill>
              <a:srgbClr val="FFFFFF"/>
            </a:solidFill>
            <a:ln w="9525">
              <a:noFill/>
              <a:miter lim="800000"/>
              <a:headEnd/>
              <a:tailEnd/>
            </a:ln>
          </p:spPr>
          <p:txBody>
            <a:bodyPr/>
            <a:lstStyle/>
            <a:p>
              <a:endParaRPr lang="zh-CN" altLang="en-US"/>
            </a:p>
          </p:txBody>
        </p:sp>
        <p:sp>
          <p:nvSpPr>
            <p:cNvPr id="11282" name="Rectangle 17"/>
            <p:cNvSpPr>
              <a:spLocks noChangeArrowheads="1"/>
            </p:cNvSpPr>
            <p:nvPr/>
          </p:nvSpPr>
          <p:spPr bwMode="auto">
            <a:xfrm>
              <a:off x="467" y="1754"/>
              <a:ext cx="1301"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status = </a:t>
              </a:r>
              <a:r>
                <a:rPr lang="en-GB" altLang="zh-CN" sz="1700" i="1">
                  <a:solidFill>
                    <a:schemeClr val="accent1"/>
                  </a:solidFill>
                  <a:latin typeface="Times" pitchFamily="18" charset="0"/>
                </a:rPr>
                <a:t>close</a:t>
              </a:r>
              <a:r>
                <a:rPr lang="en-GB" altLang="zh-CN" sz="1700" i="1">
                  <a:solidFill>
                    <a:srgbClr val="000000"/>
                  </a:solidFill>
                  <a:latin typeface="Times" pitchFamily="18" charset="0"/>
                </a:rPr>
                <a:t>(filedes)</a:t>
              </a:r>
              <a:endParaRPr lang="en-GB" altLang="zh-CN" sz="2400">
                <a:latin typeface="Times" pitchFamily="18" charset="0"/>
              </a:endParaRPr>
            </a:p>
          </p:txBody>
        </p:sp>
        <p:sp>
          <p:nvSpPr>
            <p:cNvPr id="11283" name="Rectangle 18"/>
            <p:cNvSpPr>
              <a:spLocks noChangeArrowheads="1"/>
            </p:cNvSpPr>
            <p:nvPr/>
          </p:nvSpPr>
          <p:spPr bwMode="auto">
            <a:xfrm>
              <a:off x="2345" y="1754"/>
              <a:ext cx="1304"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关闭打开文件 </a:t>
              </a:r>
              <a:r>
                <a:rPr lang="en-GB" altLang="zh-CN" sz="1700" i="1">
                  <a:solidFill>
                    <a:srgbClr val="000000"/>
                  </a:solidFill>
                  <a:latin typeface="Times" pitchFamily="18" charset="0"/>
                </a:rPr>
                <a:t>filedes</a:t>
              </a:r>
              <a:endParaRPr lang="en-GB" altLang="zh-CN" sz="2400">
                <a:latin typeface="Times" pitchFamily="18" charset="0"/>
              </a:endParaRPr>
            </a:p>
          </p:txBody>
        </p:sp>
        <p:sp>
          <p:nvSpPr>
            <p:cNvPr id="11284" name="Rectangle 19"/>
            <p:cNvSpPr>
              <a:spLocks noChangeArrowheads="1"/>
            </p:cNvSpPr>
            <p:nvPr/>
          </p:nvSpPr>
          <p:spPr bwMode="auto">
            <a:xfrm>
              <a:off x="2324" y="1695"/>
              <a:ext cx="14" cy="202"/>
            </a:xfrm>
            <a:prstGeom prst="rect">
              <a:avLst/>
            </a:prstGeom>
            <a:solidFill>
              <a:srgbClr val="FFFFFF"/>
            </a:solidFill>
            <a:ln w="9525">
              <a:noFill/>
              <a:miter lim="800000"/>
              <a:headEnd/>
              <a:tailEnd/>
            </a:ln>
          </p:spPr>
          <p:txBody>
            <a:bodyPr/>
            <a:lstStyle/>
            <a:p>
              <a:endParaRPr lang="zh-CN" altLang="en-US"/>
            </a:p>
          </p:txBody>
        </p:sp>
        <p:sp>
          <p:nvSpPr>
            <p:cNvPr id="11285" name="Rectangle 20"/>
            <p:cNvSpPr>
              <a:spLocks noChangeArrowheads="1"/>
            </p:cNvSpPr>
            <p:nvPr/>
          </p:nvSpPr>
          <p:spPr bwMode="auto">
            <a:xfrm>
              <a:off x="467" y="1957"/>
              <a:ext cx="1824"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count = </a:t>
              </a:r>
              <a:r>
                <a:rPr lang="en-GB" altLang="zh-CN" sz="1700" i="1">
                  <a:solidFill>
                    <a:schemeClr val="accent1"/>
                  </a:solidFill>
                  <a:latin typeface="Times" pitchFamily="18" charset="0"/>
                </a:rPr>
                <a:t>read</a:t>
              </a:r>
              <a:r>
                <a:rPr lang="en-GB" altLang="zh-CN" sz="1700" i="1">
                  <a:solidFill>
                    <a:srgbClr val="000000"/>
                  </a:solidFill>
                  <a:latin typeface="Times" pitchFamily="18" charset="0"/>
                </a:rPr>
                <a:t>(filedes, buffer, n)</a:t>
              </a:r>
              <a:endParaRPr lang="en-GB" altLang="zh-CN" sz="2400">
                <a:latin typeface="Times" pitchFamily="18" charset="0"/>
              </a:endParaRPr>
            </a:p>
          </p:txBody>
        </p:sp>
        <p:sp>
          <p:nvSpPr>
            <p:cNvPr id="11286" name="Rectangle 21"/>
            <p:cNvSpPr>
              <a:spLocks noChangeArrowheads="1"/>
            </p:cNvSpPr>
            <p:nvPr/>
          </p:nvSpPr>
          <p:spPr bwMode="auto">
            <a:xfrm>
              <a:off x="467" y="2159"/>
              <a:ext cx="1858"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count = </a:t>
              </a:r>
              <a:r>
                <a:rPr lang="en-GB" altLang="zh-CN" sz="1700" i="1">
                  <a:solidFill>
                    <a:schemeClr val="accent1"/>
                  </a:solidFill>
                  <a:latin typeface="Times" pitchFamily="18" charset="0"/>
                </a:rPr>
                <a:t>write</a:t>
              </a:r>
              <a:r>
                <a:rPr lang="en-GB" altLang="zh-CN" sz="1700" i="1">
                  <a:solidFill>
                    <a:srgbClr val="000000"/>
                  </a:solidFill>
                  <a:latin typeface="Times" pitchFamily="18" charset="0"/>
                </a:rPr>
                <a:t>(filedes, buffer, n)</a:t>
              </a:r>
              <a:endParaRPr lang="en-GB" altLang="zh-CN" sz="2400">
                <a:latin typeface="Times" pitchFamily="18" charset="0"/>
              </a:endParaRPr>
            </a:p>
          </p:txBody>
        </p:sp>
        <p:sp>
          <p:nvSpPr>
            <p:cNvPr id="11287" name="Rectangle 22"/>
            <p:cNvSpPr>
              <a:spLocks noChangeArrowheads="1"/>
            </p:cNvSpPr>
            <p:nvPr/>
          </p:nvSpPr>
          <p:spPr bwMode="auto">
            <a:xfrm>
              <a:off x="2342" y="1957"/>
              <a:ext cx="2892" cy="17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从被</a:t>
              </a:r>
              <a:r>
                <a:rPr lang="en-GB" altLang="zh-CN" i="1">
                  <a:solidFill>
                    <a:srgbClr val="000000"/>
                  </a:solidFill>
                </a:rPr>
                <a:t>filedes</a:t>
              </a:r>
              <a:r>
                <a:rPr lang="zh-CN" altLang="en-GB" sz="1700">
                  <a:solidFill>
                    <a:srgbClr val="000000"/>
                  </a:solidFill>
                  <a:latin typeface="Times" pitchFamily="18" charset="0"/>
                </a:rPr>
                <a:t>引用的文件中传输</a:t>
              </a:r>
              <a:r>
                <a:rPr lang="en-GB" altLang="zh-CN" i="1">
                  <a:solidFill>
                    <a:srgbClr val="000000"/>
                  </a:solidFill>
                </a:rPr>
                <a:t>n</a:t>
              </a:r>
              <a:r>
                <a:rPr lang="zh-CN" altLang="en-GB" sz="1700">
                  <a:solidFill>
                    <a:srgbClr val="000000"/>
                  </a:solidFill>
                  <a:latin typeface="Times" pitchFamily="18" charset="0"/>
                </a:rPr>
                <a:t>字节到缓冲区</a:t>
              </a:r>
              <a:endParaRPr lang="en-GB" altLang="zh-CN" sz="1700">
                <a:solidFill>
                  <a:srgbClr val="000000"/>
                </a:solidFill>
                <a:latin typeface="Times" pitchFamily="18" charset="0"/>
              </a:endParaRPr>
            </a:p>
          </p:txBody>
        </p:sp>
        <p:sp>
          <p:nvSpPr>
            <p:cNvPr id="11288" name="Rectangle 23"/>
            <p:cNvSpPr>
              <a:spLocks noChangeArrowheads="1"/>
            </p:cNvSpPr>
            <p:nvPr/>
          </p:nvSpPr>
          <p:spPr bwMode="auto">
            <a:xfrm>
              <a:off x="5625" y="1957"/>
              <a:ext cx="73"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  </a:t>
              </a:r>
              <a:endParaRPr lang="zh-CN" altLang="en-GB" sz="2400">
                <a:latin typeface="Times" pitchFamily="18" charset="0"/>
              </a:endParaRPr>
            </a:p>
          </p:txBody>
        </p:sp>
        <p:sp>
          <p:nvSpPr>
            <p:cNvPr id="11289" name="Rectangle 24"/>
            <p:cNvSpPr>
              <a:spLocks noChangeArrowheads="1"/>
            </p:cNvSpPr>
            <p:nvPr/>
          </p:nvSpPr>
          <p:spPr bwMode="auto">
            <a:xfrm>
              <a:off x="2342" y="2105"/>
              <a:ext cx="3031" cy="336"/>
            </a:xfrm>
            <a:prstGeom prst="rect">
              <a:avLst/>
            </a:prstGeom>
            <a:noFill/>
            <a:ln w="9525">
              <a:noFill/>
              <a:miter lim="800000"/>
              <a:headEnd/>
              <a:tailEnd/>
            </a:ln>
          </p:spPr>
          <p:txBody>
            <a:bodyPr wrap="none" lIns="0" tIns="0" rIns="0" bIns="0">
              <a:spAutoFit/>
            </a:bodyPr>
            <a:lstStyle/>
            <a:p>
              <a:pPr eaLnBrk="0" hangingPunct="0"/>
              <a:r>
                <a:rPr lang="zh-CN" altLang="en-GB">
                  <a:solidFill>
                    <a:srgbClr val="000000"/>
                  </a:solidFill>
                </a:rPr>
                <a:t>从缓冲区传输</a:t>
              </a:r>
              <a:r>
                <a:rPr lang="en-GB" altLang="zh-CN" i="1">
                  <a:solidFill>
                    <a:srgbClr val="000000"/>
                  </a:solidFill>
                </a:rPr>
                <a:t>n</a:t>
              </a:r>
              <a:r>
                <a:rPr lang="zh-CN" altLang="en-GB">
                  <a:solidFill>
                    <a:srgbClr val="000000"/>
                  </a:solidFill>
                </a:rPr>
                <a:t>字节到被</a:t>
              </a:r>
              <a:r>
                <a:rPr lang="en-GB" altLang="zh-CN" i="1">
                  <a:solidFill>
                    <a:srgbClr val="000000"/>
                  </a:solidFill>
                </a:rPr>
                <a:t>filedes</a:t>
              </a:r>
              <a:r>
                <a:rPr lang="zh-CN" altLang="en-GB">
                  <a:solidFill>
                    <a:srgbClr val="000000"/>
                  </a:solidFill>
                </a:rPr>
                <a:t>引用的文件中</a:t>
              </a:r>
              <a:endParaRPr lang="en-GB" altLang="zh-CN">
                <a:solidFill>
                  <a:srgbClr val="000000"/>
                </a:solidFill>
              </a:endParaRPr>
            </a:p>
            <a:p>
              <a:pPr eaLnBrk="0" hangingPunct="0"/>
              <a:r>
                <a:rPr lang="en-GB" altLang="zh-CN" sz="1700">
                  <a:solidFill>
                    <a:srgbClr val="000000"/>
                  </a:solidFill>
                  <a:latin typeface="Times" pitchFamily="18" charset="0"/>
                </a:rPr>
                <a:t>.</a:t>
              </a:r>
            </a:p>
          </p:txBody>
        </p:sp>
        <p:sp>
          <p:nvSpPr>
            <p:cNvPr id="11290" name="Rectangle 25"/>
            <p:cNvSpPr>
              <a:spLocks noChangeArrowheads="1"/>
            </p:cNvSpPr>
            <p:nvPr/>
          </p:nvSpPr>
          <p:spPr bwMode="auto">
            <a:xfrm>
              <a:off x="2342" y="2254"/>
              <a:ext cx="3091"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两个操作都返回实际的传输值，并移动读写指针</a:t>
              </a:r>
              <a:endParaRPr lang="zh-CN" altLang="en-GB" sz="2400">
                <a:latin typeface="Times" pitchFamily="18" charset="0"/>
              </a:endParaRPr>
            </a:p>
          </p:txBody>
        </p:sp>
        <p:sp>
          <p:nvSpPr>
            <p:cNvPr id="11291" name="Rectangle 26"/>
            <p:cNvSpPr>
              <a:spLocks noChangeArrowheads="1"/>
            </p:cNvSpPr>
            <p:nvPr/>
          </p:nvSpPr>
          <p:spPr bwMode="auto">
            <a:xfrm>
              <a:off x="2344" y="2402"/>
              <a:ext cx="1" cy="230"/>
            </a:xfrm>
            <a:prstGeom prst="rect">
              <a:avLst/>
            </a:prstGeom>
            <a:noFill/>
            <a:ln w="9525">
              <a:noFill/>
              <a:miter lim="800000"/>
              <a:headEnd/>
              <a:tailEnd/>
            </a:ln>
          </p:spPr>
          <p:txBody>
            <a:bodyPr wrap="none" lIns="0" tIns="0" rIns="0" bIns="0">
              <a:spAutoFit/>
            </a:bodyPr>
            <a:lstStyle/>
            <a:p>
              <a:pPr eaLnBrk="0" hangingPunct="0"/>
              <a:endParaRPr lang="en-GB" altLang="zh-CN" sz="2400">
                <a:latin typeface="Times" pitchFamily="18" charset="0"/>
              </a:endParaRPr>
            </a:p>
          </p:txBody>
        </p:sp>
        <p:sp>
          <p:nvSpPr>
            <p:cNvPr id="11292" name="Rectangle 27"/>
            <p:cNvSpPr>
              <a:spLocks noChangeArrowheads="1"/>
            </p:cNvSpPr>
            <p:nvPr/>
          </p:nvSpPr>
          <p:spPr bwMode="auto">
            <a:xfrm>
              <a:off x="2324" y="1897"/>
              <a:ext cx="14" cy="648"/>
            </a:xfrm>
            <a:prstGeom prst="rect">
              <a:avLst/>
            </a:prstGeom>
            <a:solidFill>
              <a:srgbClr val="FFFFFF"/>
            </a:solidFill>
            <a:ln w="9525">
              <a:noFill/>
              <a:miter lim="800000"/>
              <a:headEnd/>
              <a:tailEnd/>
            </a:ln>
          </p:spPr>
          <p:txBody>
            <a:bodyPr/>
            <a:lstStyle/>
            <a:p>
              <a:endParaRPr lang="zh-CN" altLang="en-US"/>
            </a:p>
          </p:txBody>
        </p:sp>
        <p:sp>
          <p:nvSpPr>
            <p:cNvPr id="11293" name="Rectangle 28"/>
            <p:cNvSpPr>
              <a:spLocks noChangeArrowheads="1"/>
            </p:cNvSpPr>
            <p:nvPr/>
          </p:nvSpPr>
          <p:spPr bwMode="auto">
            <a:xfrm>
              <a:off x="467" y="2605"/>
              <a:ext cx="1534"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pos =</a:t>
              </a:r>
              <a:r>
                <a:rPr lang="en-GB" altLang="zh-CN" sz="1700" i="1">
                  <a:solidFill>
                    <a:schemeClr val="accent1"/>
                  </a:solidFill>
                  <a:latin typeface="Times" pitchFamily="18" charset="0"/>
                </a:rPr>
                <a:t> lseek</a:t>
              </a:r>
              <a:r>
                <a:rPr lang="en-GB" altLang="zh-CN" sz="1700" i="1">
                  <a:solidFill>
                    <a:srgbClr val="000000"/>
                  </a:solidFill>
                  <a:latin typeface="Times" pitchFamily="18" charset="0"/>
                </a:rPr>
                <a:t>(filedes, offset,</a:t>
              </a:r>
              <a:endParaRPr lang="en-GB" altLang="zh-CN" sz="2400">
                <a:latin typeface="Times" pitchFamily="18" charset="0"/>
              </a:endParaRPr>
            </a:p>
          </p:txBody>
        </p:sp>
        <p:sp>
          <p:nvSpPr>
            <p:cNvPr id="11294" name="Rectangle 29"/>
            <p:cNvSpPr>
              <a:spLocks noChangeArrowheads="1"/>
            </p:cNvSpPr>
            <p:nvPr/>
          </p:nvSpPr>
          <p:spPr bwMode="auto">
            <a:xfrm>
              <a:off x="1871" y="2605"/>
              <a:ext cx="74" cy="163"/>
            </a:xfrm>
            <a:prstGeom prst="rect">
              <a:avLst/>
            </a:prstGeom>
            <a:noFill/>
            <a:ln w="9525">
              <a:noFill/>
              <a:miter lim="800000"/>
              <a:headEnd/>
              <a:tailEnd/>
            </a:ln>
          </p:spPr>
          <p:txBody>
            <a:bodyPr wrap="none" lIns="0" tIns="0" rIns="0" bIns="0">
              <a:spAutoFit/>
            </a:bodyPr>
            <a:lstStyle/>
            <a:p>
              <a:pPr eaLnBrk="0" hangingPunct="0"/>
              <a:r>
                <a:rPr lang="zh-CN" altLang="en-GB" sz="1700" i="1">
                  <a:solidFill>
                    <a:srgbClr val="000000"/>
                  </a:solidFill>
                  <a:latin typeface="Times" pitchFamily="18" charset="0"/>
                </a:rPr>
                <a:t>  </a:t>
              </a:r>
              <a:endParaRPr lang="zh-CN" altLang="en-GB" sz="2400">
                <a:latin typeface="Times" pitchFamily="18" charset="0"/>
              </a:endParaRPr>
            </a:p>
          </p:txBody>
        </p:sp>
        <p:sp>
          <p:nvSpPr>
            <p:cNvPr id="11295" name="Rectangle 30"/>
            <p:cNvSpPr>
              <a:spLocks noChangeArrowheads="1"/>
            </p:cNvSpPr>
            <p:nvPr/>
          </p:nvSpPr>
          <p:spPr bwMode="auto">
            <a:xfrm>
              <a:off x="1588" y="2753"/>
              <a:ext cx="489"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whence)</a:t>
              </a:r>
              <a:endParaRPr lang="en-GB" altLang="zh-CN" sz="2400">
                <a:latin typeface="Times" pitchFamily="18" charset="0"/>
              </a:endParaRPr>
            </a:p>
          </p:txBody>
        </p:sp>
        <p:sp>
          <p:nvSpPr>
            <p:cNvPr id="11296" name="Rectangle 31"/>
            <p:cNvSpPr>
              <a:spLocks noChangeArrowheads="1"/>
            </p:cNvSpPr>
            <p:nvPr/>
          </p:nvSpPr>
          <p:spPr bwMode="auto">
            <a:xfrm>
              <a:off x="2019" y="2753"/>
              <a:ext cx="37" cy="163"/>
            </a:xfrm>
            <a:prstGeom prst="rect">
              <a:avLst/>
            </a:prstGeom>
            <a:noFill/>
            <a:ln w="9525">
              <a:noFill/>
              <a:miter lim="800000"/>
              <a:headEnd/>
              <a:tailEnd/>
            </a:ln>
          </p:spPr>
          <p:txBody>
            <a:bodyPr wrap="none" lIns="0" tIns="0" rIns="0" bIns="0">
              <a:spAutoFit/>
            </a:bodyPr>
            <a:lstStyle/>
            <a:p>
              <a:pPr eaLnBrk="0" hangingPunct="0"/>
              <a:r>
                <a:rPr lang="zh-CN" altLang="en-GB" sz="1700" i="1">
                  <a:solidFill>
                    <a:srgbClr val="000000"/>
                  </a:solidFill>
                  <a:latin typeface="Times" pitchFamily="18" charset="0"/>
                </a:rPr>
                <a:t> </a:t>
              </a:r>
              <a:endParaRPr lang="zh-CN" altLang="en-GB" sz="2400">
                <a:latin typeface="Times" pitchFamily="18" charset="0"/>
              </a:endParaRPr>
            </a:p>
          </p:txBody>
        </p:sp>
        <p:sp>
          <p:nvSpPr>
            <p:cNvPr id="11297" name="Rectangle 32"/>
            <p:cNvSpPr>
              <a:spLocks noChangeArrowheads="1"/>
            </p:cNvSpPr>
            <p:nvPr/>
          </p:nvSpPr>
          <p:spPr bwMode="auto">
            <a:xfrm>
              <a:off x="2060" y="2753"/>
              <a:ext cx="36"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 </a:t>
              </a:r>
              <a:endParaRPr lang="zh-CN" altLang="en-GB" sz="2400">
                <a:latin typeface="Times" pitchFamily="18" charset="0"/>
              </a:endParaRPr>
            </a:p>
          </p:txBody>
        </p:sp>
        <p:sp>
          <p:nvSpPr>
            <p:cNvPr id="11298" name="Rectangle 33"/>
            <p:cNvSpPr>
              <a:spLocks noChangeArrowheads="1"/>
            </p:cNvSpPr>
            <p:nvPr/>
          </p:nvSpPr>
          <p:spPr bwMode="auto">
            <a:xfrm>
              <a:off x="2345" y="2605"/>
              <a:ext cx="3559" cy="308"/>
            </a:xfrm>
            <a:prstGeom prst="rect">
              <a:avLst/>
            </a:prstGeom>
            <a:noFill/>
            <a:ln w="9525">
              <a:noFill/>
              <a:miter lim="800000"/>
              <a:headEnd/>
              <a:tailEnd/>
            </a:ln>
          </p:spPr>
          <p:txBody>
            <a:bodyPr wrap="none" lIns="0" tIns="0" rIns="0" bIns="0">
              <a:spAutoFit/>
            </a:bodyPr>
            <a:lstStyle/>
            <a:p>
              <a:pPr eaLnBrk="0" hangingPunct="0"/>
              <a:r>
                <a:rPr lang="zh-CN" altLang="en-GB" sz="1600">
                  <a:solidFill>
                    <a:srgbClr val="000000"/>
                  </a:solidFill>
                </a:rPr>
                <a:t>移动读写指针</a:t>
              </a:r>
              <a:r>
                <a:rPr lang="zh-CN" altLang="en-GB" sz="1600">
                  <a:solidFill>
                    <a:srgbClr val="000000"/>
                  </a:solidFill>
                  <a:latin typeface="Times" pitchFamily="18" charset="0"/>
                </a:rPr>
                <a:t>到指定的位移， </a:t>
              </a:r>
              <a:r>
                <a:rPr lang="en-GB" altLang="zh-CN" sz="1600" i="1">
                  <a:solidFill>
                    <a:srgbClr val="000000"/>
                  </a:solidFill>
                </a:rPr>
                <a:t>whence</a:t>
              </a:r>
              <a:r>
                <a:rPr lang="zh-CN" altLang="en-GB" sz="1600">
                  <a:solidFill>
                    <a:srgbClr val="000000"/>
                  </a:solidFill>
                </a:rPr>
                <a:t>决定是相对位移还是</a:t>
              </a:r>
            </a:p>
            <a:p>
              <a:pPr eaLnBrk="0" hangingPunct="0"/>
              <a:r>
                <a:rPr lang="zh-CN" altLang="en-GB" sz="1600">
                  <a:solidFill>
                    <a:srgbClr val="000000"/>
                  </a:solidFill>
                </a:rPr>
                <a:t>绝对位移</a:t>
              </a:r>
            </a:p>
          </p:txBody>
        </p:sp>
        <p:sp>
          <p:nvSpPr>
            <p:cNvPr id="11299" name="Rectangle 34"/>
            <p:cNvSpPr>
              <a:spLocks noChangeArrowheads="1"/>
            </p:cNvSpPr>
            <p:nvPr/>
          </p:nvSpPr>
          <p:spPr bwMode="auto">
            <a:xfrm>
              <a:off x="2345" y="2753"/>
              <a:ext cx="1" cy="230"/>
            </a:xfrm>
            <a:prstGeom prst="rect">
              <a:avLst/>
            </a:prstGeom>
            <a:noFill/>
            <a:ln w="9525">
              <a:noFill/>
              <a:miter lim="800000"/>
              <a:headEnd/>
              <a:tailEnd/>
            </a:ln>
          </p:spPr>
          <p:txBody>
            <a:bodyPr wrap="none" lIns="0" tIns="0" rIns="0" bIns="0">
              <a:spAutoFit/>
            </a:bodyPr>
            <a:lstStyle/>
            <a:p>
              <a:pPr eaLnBrk="0" hangingPunct="0"/>
              <a:endParaRPr lang="en-GB" altLang="zh-CN" sz="2400">
                <a:latin typeface="Times" pitchFamily="18" charset="0"/>
              </a:endParaRPr>
            </a:p>
          </p:txBody>
        </p:sp>
        <p:sp>
          <p:nvSpPr>
            <p:cNvPr id="11300" name="Rectangle 35"/>
            <p:cNvSpPr>
              <a:spLocks noChangeArrowheads="1"/>
            </p:cNvSpPr>
            <p:nvPr/>
          </p:nvSpPr>
          <p:spPr bwMode="auto">
            <a:xfrm>
              <a:off x="2324" y="2545"/>
              <a:ext cx="14" cy="351"/>
            </a:xfrm>
            <a:prstGeom prst="rect">
              <a:avLst/>
            </a:prstGeom>
            <a:solidFill>
              <a:srgbClr val="FFFFFF"/>
            </a:solidFill>
            <a:ln w="9525">
              <a:noFill/>
              <a:miter lim="800000"/>
              <a:headEnd/>
              <a:tailEnd/>
            </a:ln>
          </p:spPr>
          <p:txBody>
            <a:bodyPr/>
            <a:lstStyle/>
            <a:p>
              <a:endParaRPr lang="zh-CN" altLang="en-US"/>
            </a:p>
          </p:txBody>
        </p:sp>
        <p:sp>
          <p:nvSpPr>
            <p:cNvPr id="11301" name="Rectangle 36"/>
            <p:cNvSpPr>
              <a:spLocks noChangeArrowheads="1"/>
            </p:cNvSpPr>
            <p:nvPr/>
          </p:nvSpPr>
          <p:spPr bwMode="auto">
            <a:xfrm>
              <a:off x="467" y="2955"/>
              <a:ext cx="1301"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status = </a:t>
              </a:r>
              <a:r>
                <a:rPr lang="en-GB" altLang="zh-CN" sz="1700" i="1">
                  <a:solidFill>
                    <a:schemeClr val="accent1"/>
                  </a:solidFill>
                  <a:latin typeface="Times" pitchFamily="18" charset="0"/>
                </a:rPr>
                <a:t>unlink</a:t>
              </a:r>
              <a:r>
                <a:rPr lang="en-GB" altLang="zh-CN" sz="1700" i="1">
                  <a:solidFill>
                    <a:srgbClr val="000000"/>
                  </a:solidFill>
                  <a:latin typeface="Times" pitchFamily="18" charset="0"/>
                </a:rPr>
                <a:t>(name)</a:t>
              </a:r>
              <a:endParaRPr lang="en-GB" altLang="zh-CN" sz="2400">
                <a:latin typeface="Times" pitchFamily="18" charset="0"/>
              </a:endParaRPr>
            </a:p>
          </p:txBody>
        </p:sp>
        <p:sp>
          <p:nvSpPr>
            <p:cNvPr id="11302" name="Rectangle 37"/>
            <p:cNvSpPr>
              <a:spLocks noChangeArrowheads="1"/>
            </p:cNvSpPr>
            <p:nvPr/>
          </p:nvSpPr>
          <p:spPr bwMode="auto">
            <a:xfrm>
              <a:off x="2345" y="2955"/>
              <a:ext cx="1991" cy="173"/>
            </a:xfrm>
            <a:prstGeom prst="rect">
              <a:avLst/>
            </a:prstGeom>
            <a:noFill/>
            <a:ln w="9525">
              <a:noFill/>
              <a:miter lim="800000"/>
              <a:headEnd/>
              <a:tailEnd/>
            </a:ln>
          </p:spPr>
          <p:txBody>
            <a:bodyPr wrap="none" lIns="0" tIns="0" rIns="0" bIns="0">
              <a:spAutoFit/>
            </a:bodyPr>
            <a:lstStyle/>
            <a:p>
              <a:pPr eaLnBrk="0" hangingPunct="0"/>
              <a:r>
                <a:rPr lang="zh-CN" altLang="en-GB">
                  <a:solidFill>
                    <a:srgbClr val="000000"/>
                  </a:solidFill>
                </a:rPr>
                <a:t>删除一个名字为 </a:t>
              </a:r>
              <a:r>
                <a:rPr lang="en-GB" altLang="zh-CN" i="1">
                  <a:solidFill>
                    <a:srgbClr val="000000"/>
                  </a:solidFill>
                </a:rPr>
                <a:t>name</a:t>
              </a:r>
              <a:r>
                <a:rPr lang="zh-CN" altLang="en-GB">
                  <a:solidFill>
                    <a:srgbClr val="000000"/>
                  </a:solidFill>
                </a:rPr>
                <a:t>的文件</a:t>
              </a:r>
              <a:endParaRPr lang="en-GB" altLang="zh-CN">
                <a:solidFill>
                  <a:srgbClr val="000000"/>
                </a:solidFill>
              </a:endParaRPr>
            </a:p>
          </p:txBody>
        </p:sp>
        <p:sp>
          <p:nvSpPr>
            <p:cNvPr id="11303" name="Rectangle 38"/>
            <p:cNvSpPr>
              <a:spLocks noChangeArrowheads="1"/>
            </p:cNvSpPr>
            <p:nvPr/>
          </p:nvSpPr>
          <p:spPr bwMode="auto">
            <a:xfrm>
              <a:off x="2345" y="3104"/>
              <a:ext cx="1" cy="230"/>
            </a:xfrm>
            <a:prstGeom prst="rect">
              <a:avLst/>
            </a:prstGeom>
            <a:noFill/>
            <a:ln w="9525">
              <a:noFill/>
              <a:miter lim="800000"/>
              <a:headEnd/>
              <a:tailEnd/>
            </a:ln>
          </p:spPr>
          <p:txBody>
            <a:bodyPr wrap="none" lIns="0" tIns="0" rIns="0" bIns="0">
              <a:spAutoFit/>
            </a:bodyPr>
            <a:lstStyle/>
            <a:p>
              <a:pPr eaLnBrk="0" hangingPunct="0"/>
              <a:endParaRPr lang="en-GB" altLang="zh-CN" sz="2400">
                <a:latin typeface="Times" pitchFamily="18" charset="0"/>
              </a:endParaRPr>
            </a:p>
          </p:txBody>
        </p:sp>
        <p:sp>
          <p:nvSpPr>
            <p:cNvPr id="11304" name="Rectangle 39"/>
            <p:cNvSpPr>
              <a:spLocks noChangeArrowheads="1"/>
            </p:cNvSpPr>
            <p:nvPr/>
          </p:nvSpPr>
          <p:spPr bwMode="auto">
            <a:xfrm>
              <a:off x="2324" y="2896"/>
              <a:ext cx="14" cy="351"/>
            </a:xfrm>
            <a:prstGeom prst="rect">
              <a:avLst/>
            </a:prstGeom>
            <a:solidFill>
              <a:srgbClr val="FFFFFF"/>
            </a:solidFill>
            <a:ln w="9525">
              <a:noFill/>
              <a:miter lim="800000"/>
              <a:headEnd/>
              <a:tailEnd/>
            </a:ln>
          </p:spPr>
          <p:txBody>
            <a:bodyPr/>
            <a:lstStyle/>
            <a:p>
              <a:endParaRPr lang="zh-CN" altLang="en-US"/>
            </a:p>
          </p:txBody>
        </p:sp>
        <p:sp>
          <p:nvSpPr>
            <p:cNvPr id="11305" name="Rectangle 40"/>
            <p:cNvSpPr>
              <a:spLocks noChangeArrowheads="1"/>
            </p:cNvSpPr>
            <p:nvPr/>
          </p:nvSpPr>
          <p:spPr bwMode="auto">
            <a:xfrm>
              <a:off x="467" y="3306"/>
              <a:ext cx="1693"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status = </a:t>
              </a:r>
              <a:r>
                <a:rPr lang="en-GB" altLang="zh-CN" sz="1700" i="1">
                  <a:solidFill>
                    <a:schemeClr val="accent1"/>
                  </a:solidFill>
                  <a:latin typeface="Times" pitchFamily="18" charset="0"/>
                </a:rPr>
                <a:t>link</a:t>
              </a:r>
              <a:r>
                <a:rPr lang="en-GB" altLang="zh-CN" sz="1700" i="1">
                  <a:solidFill>
                    <a:srgbClr val="000000"/>
                  </a:solidFill>
                  <a:latin typeface="Times" pitchFamily="18" charset="0"/>
                </a:rPr>
                <a:t>(name1, name2)</a:t>
              </a:r>
              <a:endParaRPr lang="en-GB" altLang="zh-CN" sz="2400">
                <a:latin typeface="Times" pitchFamily="18" charset="0"/>
              </a:endParaRPr>
            </a:p>
          </p:txBody>
        </p:sp>
        <p:sp>
          <p:nvSpPr>
            <p:cNvPr id="11306" name="Rectangle 41"/>
            <p:cNvSpPr>
              <a:spLocks noChangeArrowheads="1"/>
            </p:cNvSpPr>
            <p:nvPr/>
          </p:nvSpPr>
          <p:spPr bwMode="auto">
            <a:xfrm>
              <a:off x="2345" y="3306"/>
              <a:ext cx="2528" cy="17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为</a:t>
              </a:r>
              <a:r>
                <a:rPr lang="en-GB" altLang="zh-CN">
                  <a:solidFill>
                    <a:srgbClr val="000000"/>
                  </a:solidFill>
                </a:rPr>
                <a:t>file (</a:t>
              </a:r>
              <a:r>
                <a:rPr lang="en-GB" altLang="zh-CN" i="1">
                  <a:solidFill>
                    <a:srgbClr val="000000"/>
                  </a:solidFill>
                </a:rPr>
                <a:t>name1</a:t>
              </a:r>
              <a:r>
                <a:rPr lang="en-GB" altLang="zh-CN">
                  <a:solidFill>
                    <a:srgbClr val="000000"/>
                  </a:solidFill>
                </a:rPr>
                <a:t>)</a:t>
              </a:r>
              <a:r>
                <a:rPr lang="zh-CN" altLang="en-GB">
                  <a:solidFill>
                    <a:srgbClr val="000000"/>
                  </a:solidFill>
                </a:rPr>
                <a:t>增加一个新名</a:t>
              </a:r>
              <a:r>
                <a:rPr lang="en-GB" altLang="zh-CN" i="1">
                  <a:solidFill>
                    <a:srgbClr val="000000"/>
                  </a:solidFill>
                </a:rPr>
                <a:t> (name2)</a:t>
              </a:r>
            </a:p>
          </p:txBody>
        </p:sp>
        <p:sp>
          <p:nvSpPr>
            <p:cNvPr id="11307" name="Rectangle 42"/>
            <p:cNvSpPr>
              <a:spLocks noChangeArrowheads="1"/>
            </p:cNvSpPr>
            <p:nvPr/>
          </p:nvSpPr>
          <p:spPr bwMode="auto">
            <a:xfrm>
              <a:off x="4759" y="3306"/>
              <a:ext cx="74" cy="163"/>
            </a:xfrm>
            <a:prstGeom prst="rect">
              <a:avLst/>
            </a:prstGeom>
            <a:noFill/>
            <a:ln w="9525">
              <a:noFill/>
              <a:miter lim="800000"/>
              <a:headEnd/>
              <a:tailEnd/>
            </a:ln>
          </p:spPr>
          <p:txBody>
            <a:bodyPr wrap="none" lIns="0" tIns="0" rIns="0" bIns="0">
              <a:spAutoFit/>
            </a:bodyPr>
            <a:lstStyle/>
            <a:p>
              <a:pPr eaLnBrk="0" hangingPunct="0"/>
              <a:r>
                <a:rPr lang="zh-CN" altLang="en-GB" sz="1700">
                  <a:solidFill>
                    <a:srgbClr val="000000"/>
                  </a:solidFill>
                  <a:latin typeface="Times" pitchFamily="18" charset="0"/>
                </a:rPr>
                <a:t>  </a:t>
              </a:r>
              <a:endParaRPr lang="zh-CN" altLang="en-GB" sz="2400">
                <a:latin typeface="Times" pitchFamily="18" charset="0"/>
              </a:endParaRPr>
            </a:p>
          </p:txBody>
        </p:sp>
        <p:sp>
          <p:nvSpPr>
            <p:cNvPr id="11308" name="Rectangle 43"/>
            <p:cNvSpPr>
              <a:spLocks noChangeArrowheads="1"/>
            </p:cNvSpPr>
            <p:nvPr/>
          </p:nvSpPr>
          <p:spPr bwMode="auto">
            <a:xfrm>
              <a:off x="2324" y="3247"/>
              <a:ext cx="14" cy="202"/>
            </a:xfrm>
            <a:prstGeom prst="rect">
              <a:avLst/>
            </a:prstGeom>
            <a:solidFill>
              <a:srgbClr val="FFFFFF"/>
            </a:solidFill>
            <a:ln w="9525">
              <a:noFill/>
              <a:miter lim="800000"/>
              <a:headEnd/>
              <a:tailEnd/>
            </a:ln>
          </p:spPr>
          <p:txBody>
            <a:bodyPr/>
            <a:lstStyle/>
            <a:p>
              <a:endParaRPr lang="zh-CN" altLang="en-US"/>
            </a:p>
          </p:txBody>
        </p:sp>
        <p:sp>
          <p:nvSpPr>
            <p:cNvPr id="11309" name="Rectangle 44"/>
            <p:cNvSpPr>
              <a:spLocks noChangeArrowheads="1"/>
            </p:cNvSpPr>
            <p:nvPr/>
          </p:nvSpPr>
          <p:spPr bwMode="auto">
            <a:xfrm>
              <a:off x="467" y="3509"/>
              <a:ext cx="1572" cy="163"/>
            </a:xfrm>
            <a:prstGeom prst="rect">
              <a:avLst/>
            </a:prstGeom>
            <a:noFill/>
            <a:ln w="9525">
              <a:noFill/>
              <a:miter lim="800000"/>
              <a:headEnd/>
              <a:tailEnd/>
            </a:ln>
          </p:spPr>
          <p:txBody>
            <a:bodyPr wrap="none" lIns="0" tIns="0" rIns="0" bIns="0">
              <a:spAutoFit/>
            </a:bodyPr>
            <a:lstStyle/>
            <a:p>
              <a:pPr eaLnBrk="0" hangingPunct="0"/>
              <a:r>
                <a:rPr lang="en-GB" altLang="zh-CN" sz="1700" i="1">
                  <a:solidFill>
                    <a:srgbClr val="000000"/>
                  </a:solidFill>
                  <a:latin typeface="Times" pitchFamily="18" charset="0"/>
                </a:rPr>
                <a:t>status = </a:t>
              </a:r>
              <a:r>
                <a:rPr lang="en-GB" altLang="zh-CN" sz="1700" i="1">
                  <a:solidFill>
                    <a:schemeClr val="accent1"/>
                  </a:solidFill>
                  <a:latin typeface="Times" pitchFamily="18" charset="0"/>
                </a:rPr>
                <a:t>stat</a:t>
              </a:r>
              <a:r>
                <a:rPr lang="en-GB" altLang="zh-CN" sz="1700" i="1">
                  <a:solidFill>
                    <a:srgbClr val="000000"/>
                  </a:solidFill>
                  <a:latin typeface="Times" pitchFamily="18" charset="0"/>
                </a:rPr>
                <a:t>(name, buffer)</a:t>
              </a:r>
              <a:endParaRPr lang="en-GB" altLang="zh-CN" sz="2400">
                <a:latin typeface="Times" pitchFamily="18" charset="0"/>
              </a:endParaRPr>
            </a:p>
          </p:txBody>
        </p:sp>
        <p:sp>
          <p:nvSpPr>
            <p:cNvPr id="11310" name="Rectangle 45"/>
            <p:cNvSpPr>
              <a:spLocks noChangeArrowheads="1"/>
            </p:cNvSpPr>
            <p:nvPr/>
          </p:nvSpPr>
          <p:spPr bwMode="auto">
            <a:xfrm>
              <a:off x="2345" y="3509"/>
              <a:ext cx="2459" cy="173"/>
            </a:xfrm>
            <a:prstGeom prst="rect">
              <a:avLst/>
            </a:prstGeom>
            <a:noFill/>
            <a:ln w="9525">
              <a:noFill/>
              <a:miter lim="800000"/>
              <a:headEnd/>
              <a:tailEnd/>
            </a:ln>
          </p:spPr>
          <p:txBody>
            <a:bodyPr wrap="none" lIns="0" tIns="0" rIns="0" bIns="0">
              <a:spAutoFit/>
            </a:bodyPr>
            <a:lstStyle/>
            <a:p>
              <a:pPr eaLnBrk="0" hangingPunct="0"/>
              <a:r>
                <a:rPr lang="zh-CN" altLang="en-GB">
                  <a:solidFill>
                    <a:srgbClr val="000000"/>
                  </a:solidFill>
                </a:rPr>
                <a:t>读名字为 </a:t>
              </a:r>
              <a:r>
                <a:rPr lang="en-GB" altLang="zh-CN" i="1">
                  <a:solidFill>
                    <a:srgbClr val="000000"/>
                  </a:solidFill>
                </a:rPr>
                <a:t>name</a:t>
              </a:r>
              <a:r>
                <a:rPr lang="zh-CN" altLang="en-GB">
                  <a:solidFill>
                    <a:srgbClr val="000000"/>
                  </a:solidFill>
                </a:rPr>
                <a:t>的文件属性到缓冲区</a:t>
              </a:r>
            </a:p>
          </p:txBody>
        </p:sp>
        <p:sp>
          <p:nvSpPr>
            <p:cNvPr id="11311" name="Line 46"/>
            <p:cNvSpPr>
              <a:spLocks noChangeShapeType="1"/>
            </p:cNvSpPr>
            <p:nvPr/>
          </p:nvSpPr>
          <p:spPr bwMode="auto">
            <a:xfrm>
              <a:off x="448" y="3676"/>
              <a:ext cx="1863" cy="1"/>
            </a:xfrm>
            <a:prstGeom prst="line">
              <a:avLst/>
            </a:prstGeom>
            <a:noFill/>
            <a:ln w="31750">
              <a:solidFill>
                <a:srgbClr val="000000"/>
              </a:solidFill>
              <a:round/>
              <a:headEnd/>
              <a:tailEnd/>
            </a:ln>
          </p:spPr>
          <p:txBody>
            <a:bodyPr/>
            <a:lstStyle/>
            <a:p>
              <a:endParaRPr lang="zh-CN" altLang="en-US"/>
            </a:p>
          </p:txBody>
        </p:sp>
        <p:sp>
          <p:nvSpPr>
            <p:cNvPr id="11312" name="Rectangle 47"/>
            <p:cNvSpPr>
              <a:spLocks noChangeArrowheads="1"/>
            </p:cNvSpPr>
            <p:nvPr/>
          </p:nvSpPr>
          <p:spPr bwMode="auto">
            <a:xfrm>
              <a:off x="2324" y="3449"/>
              <a:ext cx="14" cy="203"/>
            </a:xfrm>
            <a:prstGeom prst="rect">
              <a:avLst/>
            </a:prstGeom>
            <a:solidFill>
              <a:srgbClr val="FFFFFF"/>
            </a:solidFill>
            <a:ln w="9525">
              <a:noFill/>
              <a:miter lim="800000"/>
              <a:headEnd/>
              <a:tailEnd/>
            </a:ln>
          </p:spPr>
          <p:txBody>
            <a:bodyPr/>
            <a:lstStyle/>
            <a:p>
              <a:endParaRPr lang="zh-CN" altLang="en-US"/>
            </a:p>
          </p:txBody>
        </p:sp>
        <p:sp>
          <p:nvSpPr>
            <p:cNvPr id="11313" name="Line 48"/>
            <p:cNvSpPr>
              <a:spLocks noChangeShapeType="1"/>
            </p:cNvSpPr>
            <p:nvPr/>
          </p:nvSpPr>
          <p:spPr bwMode="auto">
            <a:xfrm>
              <a:off x="2324" y="3676"/>
              <a:ext cx="1" cy="1"/>
            </a:xfrm>
            <a:prstGeom prst="line">
              <a:avLst/>
            </a:prstGeom>
            <a:noFill/>
            <a:ln w="31750">
              <a:solidFill>
                <a:srgbClr val="000000"/>
              </a:solidFill>
              <a:round/>
              <a:headEnd/>
              <a:tailEnd/>
            </a:ln>
          </p:spPr>
          <p:txBody>
            <a:bodyPr/>
            <a:lstStyle/>
            <a:p>
              <a:endParaRPr lang="zh-CN" altLang="en-US"/>
            </a:p>
          </p:txBody>
        </p:sp>
        <p:sp>
          <p:nvSpPr>
            <p:cNvPr id="11314" name="Line 49"/>
            <p:cNvSpPr>
              <a:spLocks noChangeShapeType="1"/>
            </p:cNvSpPr>
            <p:nvPr/>
          </p:nvSpPr>
          <p:spPr bwMode="auto">
            <a:xfrm>
              <a:off x="2338" y="3676"/>
              <a:ext cx="3455" cy="1"/>
            </a:xfrm>
            <a:prstGeom prst="line">
              <a:avLst/>
            </a:prstGeom>
            <a:noFill/>
            <a:ln w="31750">
              <a:solidFill>
                <a:srgbClr val="000000"/>
              </a:solidFill>
              <a:round/>
              <a:headEnd/>
              <a:tailEnd/>
            </a:ln>
          </p:spPr>
          <p:txBody>
            <a:bodyPr/>
            <a:lstStyle/>
            <a:p>
              <a:endParaRPr lang="zh-CN" altLang="en-US"/>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9"/>
          <p:cNvSpPr>
            <a:spLocks noGrp="1"/>
          </p:cNvSpPr>
          <p:nvPr>
            <p:ph type="sldNum" sz="quarter" idx="12"/>
          </p:nvPr>
        </p:nvSpPr>
        <p:spPr/>
        <p:txBody>
          <a:bodyPr/>
          <a:lstStyle/>
          <a:p>
            <a:pPr>
              <a:defRPr/>
            </a:pPr>
            <a:fld id="{3A1E91A2-3DFA-4C17-9D26-04B0B5473976}" type="slidenum">
              <a:rPr lang="zh-CN" altLang="en-US"/>
              <a:pPr>
                <a:defRPr/>
              </a:pPr>
              <a:t>10</a:t>
            </a:fld>
            <a:endParaRPr lang="zh-CN" altLang="en-US"/>
          </a:p>
        </p:txBody>
      </p:sp>
      <p:sp>
        <p:nvSpPr>
          <p:cNvPr id="12291" name="Rectangle 2"/>
          <p:cNvSpPr>
            <a:spLocks noGrp="1"/>
          </p:cNvSpPr>
          <p:nvPr>
            <p:ph type="title"/>
          </p:nvPr>
        </p:nvSpPr>
        <p:spPr/>
        <p:txBody>
          <a:bodyPr/>
          <a:lstStyle/>
          <a:p>
            <a:r>
              <a:rPr lang="zh-CN" altLang="en-US" sz="4000" smtClean="0"/>
              <a:t>文件系统的四个层次</a:t>
            </a:r>
          </a:p>
        </p:txBody>
      </p:sp>
      <p:sp>
        <p:nvSpPr>
          <p:cNvPr id="12292" name="Rectangle 3"/>
          <p:cNvSpPr>
            <a:spLocks noGrp="1"/>
          </p:cNvSpPr>
          <p:nvPr>
            <p:ph type="body" idx="1"/>
          </p:nvPr>
        </p:nvSpPr>
        <p:spPr>
          <a:xfrm>
            <a:off x="323850" y="1412875"/>
            <a:ext cx="8539163" cy="4800600"/>
          </a:xfrm>
        </p:spPr>
        <p:txBody>
          <a:bodyPr/>
          <a:lstStyle/>
          <a:p>
            <a:r>
              <a:rPr lang="zh-CN" altLang="en-US" smtClean="0"/>
              <a:t>根据计算环境和所提供功能的不同，将文件系统划分为四个层次</a:t>
            </a:r>
          </a:p>
        </p:txBody>
      </p:sp>
      <p:sp>
        <p:nvSpPr>
          <p:cNvPr id="12293" name="Text Box 10"/>
          <p:cNvSpPr txBox="1">
            <a:spLocks noChangeArrowheads="1"/>
          </p:cNvSpPr>
          <p:nvPr/>
        </p:nvSpPr>
        <p:spPr bwMode="auto">
          <a:xfrm>
            <a:off x="2268538" y="2781300"/>
            <a:ext cx="4824412" cy="457200"/>
          </a:xfrm>
          <a:prstGeom prst="rect">
            <a:avLst/>
          </a:prstGeom>
          <a:solidFill>
            <a:srgbClr val="3366FF"/>
          </a:solidFill>
          <a:ln w="9525">
            <a:noFill/>
            <a:miter lim="800000"/>
            <a:headEnd/>
            <a:tailEnd/>
          </a:ln>
        </p:spPr>
        <p:txBody>
          <a:bodyPr>
            <a:spAutoFit/>
          </a:bodyPr>
          <a:lstStyle/>
          <a:p>
            <a:pPr>
              <a:spcBef>
                <a:spcPct val="50000"/>
              </a:spcBef>
            </a:pPr>
            <a:r>
              <a:rPr lang="zh-CN" altLang="en-US" sz="2400">
                <a:solidFill>
                  <a:srgbClr val="FFFF00"/>
                </a:solidFill>
              </a:rPr>
              <a:t>单处理器单用户的本地文件系统</a:t>
            </a:r>
          </a:p>
        </p:txBody>
      </p:sp>
      <p:sp>
        <p:nvSpPr>
          <p:cNvPr id="12294" name="Text Box 11"/>
          <p:cNvSpPr txBox="1">
            <a:spLocks noChangeArrowheads="1"/>
          </p:cNvSpPr>
          <p:nvPr/>
        </p:nvSpPr>
        <p:spPr bwMode="auto">
          <a:xfrm>
            <a:off x="2268538" y="3284538"/>
            <a:ext cx="4824412" cy="457200"/>
          </a:xfrm>
          <a:prstGeom prst="rect">
            <a:avLst/>
          </a:prstGeom>
          <a:solidFill>
            <a:srgbClr val="3366FF"/>
          </a:solidFill>
          <a:ln w="9525">
            <a:noFill/>
            <a:miter lim="800000"/>
            <a:headEnd/>
            <a:tailEnd/>
          </a:ln>
        </p:spPr>
        <p:txBody>
          <a:bodyPr>
            <a:spAutoFit/>
          </a:bodyPr>
          <a:lstStyle/>
          <a:p>
            <a:pPr>
              <a:spcBef>
                <a:spcPct val="50000"/>
              </a:spcBef>
            </a:pPr>
            <a:r>
              <a:rPr lang="zh-CN" altLang="en-US" sz="2400">
                <a:solidFill>
                  <a:srgbClr val="FFFF00"/>
                </a:solidFill>
              </a:rPr>
              <a:t>多处理器单用户的本地文件系统</a:t>
            </a:r>
          </a:p>
        </p:txBody>
      </p:sp>
      <p:sp>
        <p:nvSpPr>
          <p:cNvPr id="12295" name="Text Box 12"/>
          <p:cNvSpPr txBox="1">
            <a:spLocks noChangeArrowheads="1"/>
          </p:cNvSpPr>
          <p:nvPr/>
        </p:nvSpPr>
        <p:spPr bwMode="auto">
          <a:xfrm>
            <a:off x="2268538" y="3789363"/>
            <a:ext cx="4824412" cy="457200"/>
          </a:xfrm>
          <a:prstGeom prst="rect">
            <a:avLst/>
          </a:prstGeom>
          <a:solidFill>
            <a:srgbClr val="3366FF"/>
          </a:solidFill>
          <a:ln w="9525">
            <a:noFill/>
            <a:miter lim="800000"/>
            <a:headEnd/>
            <a:tailEnd/>
          </a:ln>
        </p:spPr>
        <p:txBody>
          <a:bodyPr>
            <a:spAutoFit/>
          </a:bodyPr>
          <a:lstStyle/>
          <a:p>
            <a:pPr>
              <a:spcBef>
                <a:spcPct val="50000"/>
              </a:spcBef>
            </a:pPr>
            <a:r>
              <a:rPr lang="zh-CN" altLang="en-US" sz="2400">
                <a:solidFill>
                  <a:srgbClr val="FFFF00"/>
                </a:solidFill>
              </a:rPr>
              <a:t>多处理器多用户的本地文件系统</a:t>
            </a:r>
          </a:p>
        </p:txBody>
      </p:sp>
      <p:sp>
        <p:nvSpPr>
          <p:cNvPr id="12296" name="Text Box 13"/>
          <p:cNvSpPr txBox="1">
            <a:spLocks noChangeArrowheads="1"/>
          </p:cNvSpPr>
          <p:nvPr/>
        </p:nvSpPr>
        <p:spPr bwMode="auto">
          <a:xfrm>
            <a:off x="2268538" y="4292600"/>
            <a:ext cx="4824412" cy="457200"/>
          </a:xfrm>
          <a:prstGeom prst="rect">
            <a:avLst/>
          </a:prstGeom>
          <a:solidFill>
            <a:srgbClr val="3366FF"/>
          </a:solidFill>
          <a:ln w="9525">
            <a:noFill/>
            <a:miter lim="800000"/>
            <a:headEnd/>
            <a:tailEnd/>
          </a:ln>
        </p:spPr>
        <p:txBody>
          <a:bodyPr>
            <a:spAutoFit/>
          </a:bodyPr>
          <a:lstStyle/>
          <a:p>
            <a:pPr>
              <a:spcBef>
                <a:spcPct val="50000"/>
              </a:spcBef>
            </a:pPr>
            <a:r>
              <a:rPr lang="zh-CN" altLang="en-US" sz="2400">
                <a:solidFill>
                  <a:srgbClr val="FFFF00"/>
                </a:solidFill>
              </a:rPr>
              <a:t>多处理器多用户的分布式文件系统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E72E1830-88FD-44CB-AA57-04CCA799FE1A}" type="slidenum">
              <a:rPr lang="zh-CN" altLang="en-US"/>
              <a:pPr>
                <a:defRPr/>
              </a:pPr>
              <a:t>11</a:t>
            </a:fld>
            <a:endParaRPr lang="zh-CN" altLang="en-US"/>
          </a:p>
        </p:txBody>
      </p:sp>
      <p:sp>
        <p:nvSpPr>
          <p:cNvPr id="13315" name="Rectangle 2"/>
          <p:cNvSpPr>
            <a:spLocks noGrp="1"/>
          </p:cNvSpPr>
          <p:nvPr>
            <p:ph type="title"/>
          </p:nvPr>
        </p:nvSpPr>
        <p:spPr/>
        <p:txBody>
          <a:bodyPr/>
          <a:lstStyle/>
          <a:p>
            <a:r>
              <a:rPr lang="zh-CN" altLang="en-US" sz="4000" smtClean="0"/>
              <a:t>传统文件系统的缺陷</a:t>
            </a:r>
          </a:p>
        </p:txBody>
      </p:sp>
      <p:sp>
        <p:nvSpPr>
          <p:cNvPr id="13316" name="Rectangle 3"/>
          <p:cNvSpPr>
            <a:spLocks noGrp="1"/>
          </p:cNvSpPr>
          <p:nvPr>
            <p:ph type="body" idx="1"/>
          </p:nvPr>
        </p:nvSpPr>
        <p:spPr>
          <a:xfrm>
            <a:off x="395288" y="1557338"/>
            <a:ext cx="8539162" cy="4800600"/>
          </a:xfrm>
        </p:spPr>
        <p:txBody>
          <a:bodyPr/>
          <a:lstStyle/>
          <a:p>
            <a:r>
              <a:rPr lang="zh-CN" altLang="en-US" smtClean="0">
                <a:latin typeface="华文中宋" pitchFamily="2" charset="-122"/>
              </a:rPr>
              <a:t>可用性低：文件系统在一个物理设备，一旦出现故障，服务完全不可用。</a:t>
            </a:r>
          </a:p>
          <a:p>
            <a:r>
              <a:rPr lang="zh-CN" altLang="en-US" smtClean="0">
                <a:latin typeface="华文中宋" pitchFamily="2" charset="-122"/>
              </a:rPr>
              <a:t>读写性能随访问量的增大而降低：访问频繁，磁盘</a:t>
            </a:r>
            <a:r>
              <a:rPr lang="en-US" altLang="zh-CN" smtClean="0">
                <a:latin typeface="华文中宋" pitchFamily="2" charset="-122"/>
              </a:rPr>
              <a:t>I/O</a:t>
            </a:r>
            <a:r>
              <a:rPr lang="zh-CN" altLang="en-US" smtClean="0">
                <a:latin typeface="华文中宋" pitchFamily="2" charset="-122"/>
              </a:rPr>
              <a:t>增大。</a:t>
            </a:r>
          </a:p>
          <a:p>
            <a:r>
              <a:rPr lang="zh-CN" altLang="en-US" smtClean="0">
                <a:latin typeface="华文中宋" pitchFamily="2" charset="-122"/>
              </a:rPr>
              <a:t>不易实现在线扩容：一般情况下需要停机停服务</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8BAC952D-B06B-4E00-98A3-009A2B55C5B1}" type="slidenum">
              <a:rPr lang="zh-CN" altLang="en-US"/>
              <a:pPr>
                <a:defRPr/>
              </a:pPr>
              <a:t>12</a:t>
            </a:fld>
            <a:endParaRPr lang="zh-CN" altLang="en-US"/>
          </a:p>
        </p:txBody>
      </p:sp>
      <p:sp>
        <p:nvSpPr>
          <p:cNvPr id="4" name="日期占位符 3"/>
          <p:cNvSpPr txBox="1">
            <a:spLocks noGrp="1"/>
          </p:cNvSpPr>
          <p:nvPr/>
        </p:nvSpPr>
        <p:spPr>
          <a:xfrm>
            <a:off x="3662363" y="6300788"/>
            <a:ext cx="2133600" cy="476250"/>
          </a:xfrm>
          <a:prstGeom prst="rect">
            <a:avLst/>
          </a:prstGeom>
          <a:noFill/>
        </p:spPr>
        <p:txBody>
          <a:bodyPr anchor="b"/>
          <a:lstStyle/>
          <a:p>
            <a:pPr algn="r" fontAlgn="auto">
              <a:spcBef>
                <a:spcPts val="0"/>
              </a:spcBef>
              <a:spcAft>
                <a:spcPts val="0"/>
              </a:spcAft>
              <a:defRPr/>
            </a:pPr>
            <a:fld id="{348AB485-A12D-4633-84D5-DEFC3EEC4856}" type="datetime5">
              <a:rPr lang="zh-CN" altLang="en-US" sz="1200">
                <a:solidFill>
                  <a:schemeClr val="bg2">
                    <a:shade val="50000"/>
                    <a:satMod val="200000"/>
                  </a:schemeClr>
                </a:solidFill>
                <a:latin typeface="+mn-lt"/>
                <a:ea typeface="+mn-ea"/>
              </a:rPr>
              <a:pPr algn="r" fontAlgn="auto">
                <a:spcBef>
                  <a:spcPts val="0"/>
                </a:spcBef>
                <a:spcAft>
                  <a:spcPts val="0"/>
                </a:spcAft>
                <a:defRPr/>
              </a:pPr>
              <a:t>2017/10/24</a:t>
            </a:fld>
            <a:endParaRPr lang="zh-CN" altLang="en-US" sz="1200">
              <a:solidFill>
                <a:schemeClr val="bg2">
                  <a:shade val="50000"/>
                  <a:satMod val="200000"/>
                </a:schemeClr>
              </a:solidFill>
              <a:latin typeface="+mn-lt"/>
              <a:ea typeface="+mn-ea"/>
            </a:endParaRPr>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50AB2D16-7A2A-4DAF-90F4-7A57CE8B6699}" type="slidenum">
              <a:rPr lang="zh-CN" altLang="en-US" sz="1200">
                <a:solidFill>
                  <a:schemeClr val="bg2">
                    <a:shade val="50000"/>
                    <a:satMod val="200000"/>
                  </a:schemeClr>
                </a:solidFill>
                <a:latin typeface="+mn-lt"/>
                <a:ea typeface="+mn-ea"/>
              </a:rPr>
              <a:pPr algn="ctr" fontAlgn="auto">
                <a:spcBef>
                  <a:spcPts val="0"/>
                </a:spcBef>
                <a:spcAft>
                  <a:spcPts val="0"/>
                </a:spcAft>
                <a:defRPr/>
              </a:pPr>
              <a:t>12</a:t>
            </a:fld>
            <a:endParaRPr lang="zh-CN" altLang="en-US" sz="1200">
              <a:solidFill>
                <a:schemeClr val="bg2">
                  <a:shade val="50000"/>
                  <a:satMod val="200000"/>
                </a:schemeClr>
              </a:solidFill>
              <a:latin typeface="+mn-lt"/>
              <a:ea typeface="+mn-ea"/>
            </a:endParaRPr>
          </a:p>
        </p:txBody>
      </p:sp>
      <p:sp>
        <p:nvSpPr>
          <p:cNvPr id="14342" name="Rectangle 2"/>
          <p:cNvSpPr>
            <a:spLocks noGrp="1"/>
          </p:cNvSpPr>
          <p:nvPr>
            <p:ph type="title" idx="4294967295"/>
          </p:nvPr>
        </p:nvSpPr>
        <p:spPr>
          <a:noFill/>
        </p:spPr>
        <p:txBody>
          <a:bodyPr/>
          <a:lstStyle/>
          <a:p>
            <a:r>
              <a:rPr lang="zh-CN" altLang="en-US" smtClean="0"/>
              <a:t>提纲</a:t>
            </a:r>
          </a:p>
        </p:txBody>
      </p:sp>
      <p:sp>
        <p:nvSpPr>
          <p:cNvPr id="14343" name="Rectangle 3"/>
          <p:cNvSpPr>
            <a:spLocks noGrp="1"/>
          </p:cNvSpPr>
          <p:nvPr>
            <p:ph type="body" idx="4294967295"/>
          </p:nvPr>
        </p:nvSpPr>
        <p:spPr/>
        <p:txBody>
          <a:bodyPr/>
          <a:lstStyle/>
          <a:p>
            <a:r>
              <a:rPr lang="en-US" altLang="zh-CN" sz="3200" smtClean="0"/>
              <a:t>1. </a:t>
            </a:r>
            <a:r>
              <a:rPr lang="zh-CN" altLang="en-US" sz="3200" smtClean="0"/>
              <a:t>文件系统</a:t>
            </a:r>
          </a:p>
          <a:p>
            <a:r>
              <a:rPr lang="en-US" altLang="zh-CN" sz="3200" smtClean="0">
                <a:solidFill>
                  <a:schemeClr val="hlink"/>
                </a:solidFill>
              </a:rPr>
              <a:t>2. </a:t>
            </a:r>
            <a:r>
              <a:rPr lang="zh-CN" altLang="en-US" sz="3200" smtClean="0">
                <a:solidFill>
                  <a:schemeClr val="hlink"/>
                </a:solidFill>
              </a:rPr>
              <a:t>分布式文件系统</a:t>
            </a:r>
          </a:p>
          <a:p>
            <a:r>
              <a:rPr lang="en-US" altLang="zh-CN" sz="3200" smtClean="0"/>
              <a:t>3. </a:t>
            </a:r>
            <a:r>
              <a:rPr lang="zh-CN" altLang="en-US" sz="3200" smtClean="0"/>
              <a:t>典型分布式文件系统</a:t>
            </a:r>
          </a:p>
          <a:p>
            <a:r>
              <a:rPr lang="en-US" altLang="zh-CN" sz="3200" smtClean="0"/>
              <a:t>4. Goolge File System </a:t>
            </a:r>
            <a:endParaRPr lang="zh-CN" altLang="en-US" sz="3200" smtClean="0"/>
          </a:p>
          <a:p>
            <a:r>
              <a:rPr lang="en-US" altLang="zh-CN" sz="3200" smtClean="0"/>
              <a:t>5. Hadoop Distributed File System</a:t>
            </a:r>
          </a:p>
          <a:p>
            <a:endParaRPr lang="zh-CN" altLang="en-US" sz="320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6B716C47-745D-444A-8150-52C8754705E3}" type="slidenum">
              <a:rPr lang="zh-CN" altLang="en-US"/>
              <a:pPr>
                <a:defRPr/>
              </a:pPr>
              <a:t>13</a:t>
            </a:fld>
            <a:endParaRPr lang="zh-CN" altLang="en-US"/>
          </a:p>
        </p:txBody>
      </p:sp>
      <p:sp>
        <p:nvSpPr>
          <p:cNvPr id="15363" name="Rectangle 2"/>
          <p:cNvSpPr>
            <a:spLocks noGrp="1"/>
          </p:cNvSpPr>
          <p:nvPr>
            <p:ph type="title"/>
          </p:nvPr>
        </p:nvSpPr>
        <p:spPr/>
        <p:txBody>
          <a:bodyPr/>
          <a:lstStyle/>
          <a:p>
            <a:r>
              <a:rPr lang="zh-CN" altLang="en-US" sz="4000" smtClean="0"/>
              <a:t>分布式文件系统的需求</a:t>
            </a:r>
          </a:p>
        </p:txBody>
      </p:sp>
      <p:sp>
        <p:nvSpPr>
          <p:cNvPr id="15364" name="Rectangle 3"/>
          <p:cNvSpPr>
            <a:spLocks noGrp="1"/>
          </p:cNvSpPr>
          <p:nvPr>
            <p:ph type="body" idx="1"/>
          </p:nvPr>
        </p:nvSpPr>
        <p:spPr/>
        <p:txBody>
          <a:bodyPr/>
          <a:lstStyle/>
          <a:p>
            <a:pPr eaLnBrk="1" hangingPunct="1">
              <a:lnSpc>
                <a:spcPct val="90000"/>
              </a:lnSpc>
            </a:pPr>
            <a:r>
              <a:rPr lang="en-GB" altLang="zh-CN" smtClean="0"/>
              <a:t>Transparency</a:t>
            </a:r>
          </a:p>
          <a:p>
            <a:pPr eaLnBrk="1" hangingPunct="1">
              <a:lnSpc>
                <a:spcPct val="90000"/>
              </a:lnSpc>
            </a:pPr>
            <a:r>
              <a:rPr lang="en-GB" altLang="zh-CN" smtClean="0"/>
              <a:t>Concurrency</a:t>
            </a:r>
          </a:p>
          <a:p>
            <a:pPr eaLnBrk="1" hangingPunct="1">
              <a:lnSpc>
                <a:spcPct val="90000"/>
              </a:lnSpc>
            </a:pPr>
            <a:r>
              <a:rPr lang="en-GB" altLang="zh-CN" smtClean="0"/>
              <a:t>Replication</a:t>
            </a:r>
          </a:p>
          <a:p>
            <a:pPr eaLnBrk="1" hangingPunct="1">
              <a:lnSpc>
                <a:spcPct val="90000"/>
              </a:lnSpc>
            </a:pPr>
            <a:r>
              <a:rPr lang="en-GB" altLang="zh-CN" smtClean="0"/>
              <a:t>Heterogeneity</a:t>
            </a:r>
          </a:p>
          <a:p>
            <a:pPr eaLnBrk="1" hangingPunct="1">
              <a:lnSpc>
                <a:spcPct val="90000"/>
              </a:lnSpc>
            </a:pPr>
            <a:r>
              <a:rPr lang="en-GB" altLang="zh-CN" smtClean="0"/>
              <a:t>Fault tolerance</a:t>
            </a:r>
          </a:p>
          <a:p>
            <a:pPr eaLnBrk="1" hangingPunct="1">
              <a:lnSpc>
                <a:spcPct val="90000"/>
              </a:lnSpc>
            </a:pPr>
            <a:r>
              <a:rPr lang="en-GB" altLang="zh-CN" smtClean="0"/>
              <a:t>Consistency</a:t>
            </a:r>
          </a:p>
          <a:p>
            <a:pPr eaLnBrk="1" hangingPunct="1">
              <a:lnSpc>
                <a:spcPct val="90000"/>
              </a:lnSpc>
            </a:pPr>
            <a:r>
              <a:rPr lang="en-GB" altLang="zh-CN" smtClean="0"/>
              <a:t>Security</a:t>
            </a:r>
          </a:p>
          <a:p>
            <a:pPr eaLnBrk="1" hangingPunct="1">
              <a:lnSpc>
                <a:spcPct val="90000"/>
              </a:lnSpc>
            </a:pPr>
            <a:r>
              <a:rPr lang="en-GB" altLang="zh-CN" smtClean="0"/>
              <a:t>Efficiency</a:t>
            </a:r>
          </a:p>
          <a:p>
            <a:pPr eaLnBrk="1" hangingPunct="1">
              <a:lnSpc>
                <a:spcPct val="90000"/>
              </a:lnSpc>
              <a:spcBef>
                <a:spcPct val="0"/>
              </a:spcBef>
              <a:buClr>
                <a:srgbClr val="0066FF"/>
              </a:buClr>
              <a:buSzTx/>
              <a:buFontTx/>
              <a:buNone/>
            </a:pPr>
            <a:r>
              <a:rPr lang="en-US" altLang="zh-CN" b="1" i="1" smtClean="0">
                <a:solidFill>
                  <a:srgbClr val="000066"/>
                </a:solidFill>
              </a:rPr>
              <a:t>   </a:t>
            </a:r>
          </a:p>
          <a:p>
            <a:pPr eaLnBrk="1" hangingPunct="1">
              <a:lnSpc>
                <a:spcPct val="90000"/>
              </a:lnSpc>
              <a:spcBef>
                <a:spcPct val="0"/>
              </a:spcBef>
              <a:buClr>
                <a:srgbClr val="0066FF"/>
              </a:buClr>
              <a:buSzTx/>
              <a:buFontTx/>
              <a:buNone/>
            </a:pPr>
            <a:r>
              <a:rPr lang="en-US" altLang="zh-CN" sz="1800" b="1" i="1" smtClean="0">
                <a:solidFill>
                  <a:srgbClr val="000066"/>
                </a:solidFill>
              </a:rPr>
              <a:t>    Source:</a:t>
            </a:r>
            <a:r>
              <a:rPr lang="zh-CN" altLang="en-US" sz="1800" b="1" i="1" smtClean="0">
                <a:solidFill>
                  <a:srgbClr val="000066"/>
                </a:solidFill>
              </a:rPr>
              <a:t>  </a:t>
            </a:r>
            <a:r>
              <a:rPr lang="en-US" altLang="zh-CN" sz="1800" b="1" i="1" smtClean="0">
                <a:solidFill>
                  <a:srgbClr val="000066"/>
                </a:solidFill>
              </a:rPr>
              <a:t>Couloris,Dollimore and Kindberg.</a:t>
            </a:r>
            <a:r>
              <a:rPr lang="zh-CN" altLang="en-US" sz="1800" b="1" i="1" smtClean="0">
                <a:solidFill>
                  <a:srgbClr val="000066"/>
                </a:solidFill>
              </a:rPr>
              <a:t>  </a:t>
            </a:r>
            <a:r>
              <a:rPr lang="en-US" altLang="zh-CN" sz="1800" b="1" i="1" smtClean="0">
                <a:solidFill>
                  <a:srgbClr val="000066"/>
                </a:solidFill>
              </a:rPr>
              <a:t>Distributed Systems: Concepts &amp; Design  Ed. 4 , Pearson Education 2005</a:t>
            </a:r>
            <a:endParaRPr lang="zh-CN" altLang="en-US" sz="180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5F2137EB-F117-4FE3-8B87-623A1DAA4C59}" type="slidenum">
              <a:rPr lang="zh-CN" altLang="en-US"/>
              <a:pPr>
                <a:defRPr/>
              </a:pPr>
              <a:t>14</a:t>
            </a:fld>
            <a:endParaRPr lang="zh-CN" altLang="en-US"/>
          </a:p>
        </p:txBody>
      </p:sp>
      <p:sp>
        <p:nvSpPr>
          <p:cNvPr id="16387" name="Rectangle 2"/>
          <p:cNvSpPr>
            <a:spLocks noGrp="1"/>
          </p:cNvSpPr>
          <p:nvPr>
            <p:ph type="title"/>
          </p:nvPr>
        </p:nvSpPr>
        <p:spPr/>
        <p:txBody>
          <a:bodyPr/>
          <a:lstStyle/>
          <a:p>
            <a:r>
              <a:rPr lang="zh-CN" altLang="en-US" sz="4000" smtClean="0"/>
              <a:t>分布式文件系统的需求</a:t>
            </a:r>
          </a:p>
        </p:txBody>
      </p:sp>
      <p:sp>
        <p:nvSpPr>
          <p:cNvPr id="16388" name="Rectangle 3"/>
          <p:cNvSpPr>
            <a:spLocks noGrp="1"/>
          </p:cNvSpPr>
          <p:nvPr>
            <p:ph type="body" idx="1"/>
          </p:nvPr>
        </p:nvSpPr>
        <p:spPr/>
        <p:txBody>
          <a:bodyPr/>
          <a:lstStyle/>
          <a:p>
            <a:r>
              <a:rPr lang="zh-CN" altLang="en-US" smtClean="0">
                <a:latin typeface="华文中宋" pitchFamily="2" charset="-122"/>
              </a:rPr>
              <a:t>透明性</a:t>
            </a:r>
          </a:p>
          <a:p>
            <a:pPr lvl="1"/>
            <a:r>
              <a:rPr lang="zh-CN" altLang="en-US" smtClean="0">
                <a:latin typeface="华文中宋" pitchFamily="2" charset="-122"/>
              </a:rPr>
              <a:t>访问透明性	</a:t>
            </a:r>
          </a:p>
          <a:p>
            <a:pPr lvl="1"/>
            <a:r>
              <a:rPr lang="zh-CN" altLang="en-US" smtClean="0">
                <a:latin typeface="华文中宋" pitchFamily="2" charset="-122"/>
              </a:rPr>
              <a:t>位置透明性</a:t>
            </a:r>
          </a:p>
          <a:p>
            <a:pPr lvl="1"/>
            <a:r>
              <a:rPr lang="zh-CN" altLang="en-US" smtClean="0">
                <a:latin typeface="华文中宋" pitchFamily="2" charset="-122"/>
              </a:rPr>
              <a:t>移动透明性</a:t>
            </a:r>
          </a:p>
          <a:p>
            <a:pPr lvl="1"/>
            <a:r>
              <a:rPr lang="zh-CN" altLang="en-US" smtClean="0">
                <a:latin typeface="华文中宋" pitchFamily="2" charset="-122"/>
              </a:rPr>
              <a:t>性能透明性：当服务负载在一定范围内变化时，客户程序可以保持满意的性能</a:t>
            </a:r>
          </a:p>
          <a:p>
            <a:pPr lvl="1"/>
            <a:r>
              <a:rPr lang="zh-CN" altLang="en-US" smtClean="0">
                <a:latin typeface="华文中宋" pitchFamily="2" charset="-122"/>
              </a:rPr>
              <a:t>扩展透明性：文件服务可以扩充，以满足负载和网络规模的增长</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0ED5B8DC-1AD3-484E-8EC4-A42C6D83D32E}" type="slidenum">
              <a:rPr lang="zh-CN" altLang="en-US"/>
              <a:pPr>
                <a:defRPr/>
              </a:pPr>
              <a:t>15</a:t>
            </a:fld>
            <a:endParaRPr lang="zh-CN" altLang="en-US"/>
          </a:p>
        </p:txBody>
      </p:sp>
      <p:sp>
        <p:nvSpPr>
          <p:cNvPr id="17411" name="Rectangle 2"/>
          <p:cNvSpPr>
            <a:spLocks noGrp="1"/>
          </p:cNvSpPr>
          <p:nvPr>
            <p:ph type="title"/>
          </p:nvPr>
        </p:nvSpPr>
        <p:spPr/>
        <p:txBody>
          <a:bodyPr/>
          <a:lstStyle/>
          <a:p>
            <a:r>
              <a:rPr lang="zh-CN" altLang="en-US" sz="4000" smtClean="0"/>
              <a:t>分布式文件系统的需求</a:t>
            </a:r>
          </a:p>
        </p:txBody>
      </p:sp>
      <p:sp>
        <p:nvSpPr>
          <p:cNvPr id="17412" name="Rectangle 3"/>
          <p:cNvSpPr>
            <a:spLocks noGrp="1"/>
          </p:cNvSpPr>
          <p:nvPr>
            <p:ph type="body" idx="1"/>
          </p:nvPr>
        </p:nvSpPr>
        <p:spPr/>
        <p:txBody>
          <a:bodyPr/>
          <a:lstStyle/>
          <a:p>
            <a:r>
              <a:rPr lang="zh-CN" altLang="en-US" smtClean="0"/>
              <a:t>并发控制</a:t>
            </a:r>
          </a:p>
          <a:p>
            <a:pPr lvl="1"/>
            <a:r>
              <a:rPr lang="zh-CN" altLang="en-US" smtClean="0"/>
              <a:t>并发文件更新：客户改变文件的操作不影响其他用户访问或改变同一文件的操作</a:t>
            </a:r>
          </a:p>
          <a:p>
            <a:r>
              <a:rPr lang="zh-CN" altLang="en-US" smtClean="0"/>
              <a:t>复制</a:t>
            </a:r>
          </a:p>
          <a:p>
            <a:pPr lvl="1"/>
            <a:r>
              <a:rPr lang="zh-CN" altLang="en-US" smtClean="0"/>
              <a:t>多个副本</a:t>
            </a:r>
          </a:p>
          <a:p>
            <a:pPr lvl="1"/>
            <a:r>
              <a:rPr lang="zh-CN" altLang="en-US" smtClean="0"/>
              <a:t>更好的性能与容错</a:t>
            </a:r>
          </a:p>
          <a:p>
            <a:r>
              <a:rPr lang="zh-CN" altLang="en-US" smtClean="0"/>
              <a:t>异构性</a:t>
            </a:r>
          </a:p>
          <a:p>
            <a:pPr lvl="1"/>
            <a:r>
              <a:rPr lang="zh-CN" altLang="en-US" smtClean="0"/>
              <a:t>允许硬件和操作系统异构</a:t>
            </a:r>
          </a:p>
          <a:p>
            <a:pPr lvl="1"/>
            <a:r>
              <a:rPr lang="zh-CN" altLang="en-US" smtClean="0"/>
              <a:t>文件服务的接口必须有明确的定义</a:t>
            </a:r>
          </a:p>
          <a:p>
            <a:pPr lvl="1"/>
            <a:r>
              <a:rPr lang="zh-CN" altLang="en-US" smtClean="0"/>
              <a:t>在不同操作系统和计算机上实现客户和服务器软件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984AA955-362E-4B3C-B3A3-4CE9BB9B5798}" type="slidenum">
              <a:rPr lang="zh-CN" altLang="en-US"/>
              <a:pPr>
                <a:defRPr/>
              </a:pPr>
              <a:t>16</a:t>
            </a:fld>
            <a:endParaRPr lang="zh-CN" altLang="en-US"/>
          </a:p>
        </p:txBody>
      </p:sp>
      <p:sp>
        <p:nvSpPr>
          <p:cNvPr id="18435" name="Rectangle 2"/>
          <p:cNvSpPr>
            <a:spLocks noGrp="1"/>
          </p:cNvSpPr>
          <p:nvPr>
            <p:ph type="title"/>
          </p:nvPr>
        </p:nvSpPr>
        <p:spPr/>
        <p:txBody>
          <a:bodyPr/>
          <a:lstStyle/>
          <a:p>
            <a:r>
              <a:rPr lang="zh-CN" altLang="en-US" smtClean="0"/>
              <a:t>分布式文件系统的需求</a:t>
            </a:r>
          </a:p>
        </p:txBody>
      </p:sp>
      <p:sp>
        <p:nvSpPr>
          <p:cNvPr id="18436" name="Rectangle 3"/>
          <p:cNvSpPr>
            <a:spLocks noGrp="1"/>
          </p:cNvSpPr>
          <p:nvPr>
            <p:ph type="body" idx="1"/>
          </p:nvPr>
        </p:nvSpPr>
        <p:spPr/>
        <p:txBody>
          <a:bodyPr/>
          <a:lstStyle/>
          <a:p>
            <a:r>
              <a:rPr lang="zh-CN" altLang="en-US" smtClean="0"/>
              <a:t>容错</a:t>
            </a:r>
          </a:p>
          <a:p>
            <a:pPr lvl="1"/>
            <a:r>
              <a:rPr lang="zh-CN" altLang="en-US" smtClean="0"/>
              <a:t>无状态的服务器</a:t>
            </a:r>
            <a:r>
              <a:rPr lang="en-US" altLang="zh-CN" smtClean="0"/>
              <a:t>: </a:t>
            </a:r>
            <a:r>
              <a:rPr lang="zh-CN" altLang="en-US" smtClean="0"/>
              <a:t>崩溃重启时不需恢复</a:t>
            </a:r>
          </a:p>
          <a:p>
            <a:r>
              <a:rPr lang="zh-CN" altLang="en-US" smtClean="0"/>
              <a:t>一致性</a:t>
            </a:r>
          </a:p>
          <a:p>
            <a:pPr lvl="1"/>
            <a:r>
              <a:rPr lang="zh-CN" altLang="en-US" smtClean="0"/>
              <a:t>当文件在不同地点被复制和缓存时，要保持多副本的一致性</a:t>
            </a:r>
          </a:p>
          <a:p>
            <a:r>
              <a:rPr lang="zh-CN" altLang="en-US" smtClean="0"/>
              <a:t>安全性</a:t>
            </a:r>
          </a:p>
          <a:p>
            <a:pPr lvl="1"/>
            <a:r>
              <a:rPr lang="zh-CN" altLang="en-US" smtClean="0"/>
              <a:t>身份验证，访问控制，安全通道</a:t>
            </a:r>
          </a:p>
          <a:p>
            <a:r>
              <a:rPr lang="zh-CN" altLang="en-US" smtClean="0"/>
              <a:t>效率</a:t>
            </a:r>
          </a:p>
          <a:p>
            <a:pPr lvl="1"/>
            <a:r>
              <a:rPr lang="zh-CN" altLang="en-US" smtClean="0"/>
              <a:t>应提供比传统文件系统相同或更强的性能和可靠性</a:t>
            </a:r>
          </a:p>
          <a:p>
            <a:endParaRPr lang="zh-CN" altLang="en-US"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43AC9150-453F-4F1F-8ACE-BAA3F9B28AFB}" type="slidenum">
              <a:rPr lang="zh-CN" altLang="en-US"/>
              <a:pPr>
                <a:defRPr/>
              </a:pPr>
              <a:t>17</a:t>
            </a:fld>
            <a:endParaRPr lang="zh-CN" altLang="en-US"/>
          </a:p>
        </p:txBody>
      </p:sp>
      <p:sp>
        <p:nvSpPr>
          <p:cNvPr id="19459" name="标题 1"/>
          <p:cNvSpPr>
            <a:spLocks noGrp="1"/>
          </p:cNvSpPr>
          <p:nvPr>
            <p:ph type="title"/>
          </p:nvPr>
        </p:nvSpPr>
        <p:spPr/>
        <p:txBody>
          <a:bodyPr/>
          <a:lstStyle/>
          <a:p>
            <a:r>
              <a:rPr lang="zh-CN" altLang="en-US" sz="4000" smtClean="0"/>
              <a:t>分布式文件系统的发展</a:t>
            </a:r>
          </a:p>
        </p:txBody>
      </p:sp>
      <p:sp>
        <p:nvSpPr>
          <p:cNvPr id="19460" name="内容占位符 2"/>
          <p:cNvSpPr>
            <a:spLocks noGrp="1"/>
          </p:cNvSpPr>
          <p:nvPr>
            <p:ph idx="1"/>
          </p:nvPr>
        </p:nvSpPr>
        <p:spPr/>
        <p:txBody>
          <a:bodyPr/>
          <a:lstStyle/>
          <a:p>
            <a:r>
              <a:rPr lang="zh-CN" altLang="en-US" sz="3200" b="1" smtClean="0">
                <a:latin typeface="华文中宋" pitchFamily="2" charset="-122"/>
              </a:rPr>
              <a:t>第一代分布式文件系统（</a:t>
            </a:r>
            <a:r>
              <a:rPr lang="en-US" altLang="zh-CN" sz="3200" b="1" smtClean="0">
                <a:latin typeface="华文中宋" pitchFamily="2" charset="-122"/>
              </a:rPr>
              <a:t>1980</a:t>
            </a:r>
            <a:r>
              <a:rPr lang="zh-CN" altLang="en-US" sz="3200" b="1" smtClean="0">
                <a:latin typeface="华文中宋" pitchFamily="2" charset="-122"/>
              </a:rPr>
              <a:t>年代）</a:t>
            </a:r>
          </a:p>
          <a:p>
            <a:pPr marL="742950" lvl="1" indent="-285750"/>
            <a:r>
              <a:rPr lang="zh-CN" altLang="en-US" sz="2800" smtClean="0">
                <a:latin typeface="华文中宋" pitchFamily="2" charset="-122"/>
              </a:rPr>
              <a:t>早期的分布式文件系统一般以提供标准接口的远程文件访问为目的，更多地关注访问的性能和数据的可靠性。</a:t>
            </a:r>
          </a:p>
          <a:p>
            <a:pPr marL="742950" lvl="1" indent="-285750"/>
            <a:r>
              <a:rPr lang="zh-CN" altLang="en-US" sz="2800" smtClean="0">
                <a:latin typeface="华文中宋" pitchFamily="2" charset="-122"/>
              </a:rPr>
              <a:t>以</a:t>
            </a:r>
            <a:r>
              <a:rPr lang="en-US" altLang="zh-CN" sz="2800" smtClean="0">
                <a:latin typeface="华文中宋" pitchFamily="2" charset="-122"/>
              </a:rPr>
              <a:t>NFS(Network File System)</a:t>
            </a:r>
            <a:r>
              <a:rPr lang="zh-CN" altLang="en-US" sz="2800" smtClean="0">
                <a:latin typeface="华文中宋" pitchFamily="2" charset="-122"/>
              </a:rPr>
              <a:t>和</a:t>
            </a:r>
            <a:r>
              <a:rPr lang="en-US" altLang="zh-CN" sz="2800" smtClean="0">
                <a:latin typeface="华文中宋" pitchFamily="2" charset="-122"/>
              </a:rPr>
              <a:t>AFS(Andrew File System)</a:t>
            </a:r>
            <a:r>
              <a:rPr lang="zh-CN" altLang="en-US" sz="2800" smtClean="0">
                <a:latin typeface="华文中宋" pitchFamily="2" charset="-122"/>
              </a:rPr>
              <a:t>最具代表性，它们对以后的文件系统设计也具有十分重要的影响。</a:t>
            </a:r>
          </a:p>
        </p:txBody>
      </p:sp>
      <p:sp>
        <p:nvSpPr>
          <p:cNvPr id="4" name="日期占位符 3"/>
          <p:cNvSpPr>
            <a:spLocks noGrp="1"/>
          </p:cNvSpPr>
          <p:nvPr>
            <p:ph type="dt" sz="quarter" idx="10"/>
          </p:nvPr>
        </p:nvSpPr>
        <p:spPr/>
        <p:txBody>
          <a:bodyPr/>
          <a:lstStyle/>
          <a:p>
            <a:pPr>
              <a:defRPr/>
            </a:pPr>
            <a:fld id="{F071A654-DD02-487E-A747-175BDF4FBB00}" type="datetime5">
              <a:rPr lang="zh-CN" altLang="en-US" smtClean="0"/>
              <a:pPr>
                <a:defRPr/>
              </a:pPr>
              <a:t>2017/10/24</a:t>
            </a:fld>
            <a:endParaRPr lang="zh-CN" altLang="en-US"/>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44FD6DAF-5FD9-42CD-BD75-96FCE8553FE4}" type="slidenum">
              <a:rPr lang="zh-CN" altLang="en-US" sz="1200">
                <a:solidFill>
                  <a:schemeClr val="bg2">
                    <a:shade val="50000"/>
                    <a:satMod val="200000"/>
                  </a:schemeClr>
                </a:solidFill>
                <a:latin typeface="+mn-lt"/>
                <a:ea typeface="+mn-ea"/>
              </a:rPr>
              <a:pPr algn="ctr" fontAlgn="auto">
                <a:spcBef>
                  <a:spcPts val="0"/>
                </a:spcBef>
                <a:spcAft>
                  <a:spcPts val="0"/>
                </a:spcAft>
                <a:defRPr/>
              </a:pPr>
              <a:t>17</a:t>
            </a:fld>
            <a:endParaRPr lang="zh-CN" altLang="en-US" sz="1200">
              <a:solidFill>
                <a:schemeClr val="bg2">
                  <a:shade val="50000"/>
                  <a:satMod val="200000"/>
                </a:schemeClr>
              </a:solidFill>
              <a:latin typeface="+mn-lt"/>
              <a:ea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43AC9150-453F-4F1F-8ACE-BAA3F9B28AFB}" type="slidenum">
              <a:rPr lang="zh-CN" altLang="en-US"/>
              <a:pPr>
                <a:defRPr/>
              </a:pPr>
              <a:t>18</a:t>
            </a:fld>
            <a:endParaRPr lang="zh-CN" altLang="en-US"/>
          </a:p>
        </p:txBody>
      </p:sp>
      <p:sp>
        <p:nvSpPr>
          <p:cNvPr id="19459" name="标题 1"/>
          <p:cNvSpPr>
            <a:spLocks noGrp="1"/>
          </p:cNvSpPr>
          <p:nvPr>
            <p:ph type="title"/>
          </p:nvPr>
        </p:nvSpPr>
        <p:spPr>
          <a:xfrm>
            <a:off x="395288" y="274638"/>
            <a:ext cx="8539162" cy="511156"/>
          </a:xfrm>
        </p:spPr>
        <p:txBody>
          <a:bodyPr/>
          <a:lstStyle/>
          <a:p>
            <a:r>
              <a:rPr lang="zh-CN" altLang="en-US" sz="4000" dirty="0" smtClean="0"/>
              <a:t>分布式文件系统的发展</a:t>
            </a:r>
          </a:p>
        </p:txBody>
      </p:sp>
      <p:sp>
        <p:nvSpPr>
          <p:cNvPr id="4" name="日期占位符 3"/>
          <p:cNvSpPr>
            <a:spLocks noGrp="1"/>
          </p:cNvSpPr>
          <p:nvPr>
            <p:ph type="dt" sz="quarter" idx="10"/>
          </p:nvPr>
        </p:nvSpPr>
        <p:spPr/>
        <p:txBody>
          <a:bodyPr/>
          <a:lstStyle/>
          <a:p>
            <a:pPr>
              <a:defRPr/>
            </a:pPr>
            <a:fld id="{F071A654-DD02-487E-A747-175BDF4FBB00}" type="datetime5">
              <a:rPr lang="zh-CN" altLang="en-US" smtClean="0"/>
              <a:pPr>
                <a:defRPr/>
              </a:pPr>
              <a:t>2017/10/24</a:t>
            </a:fld>
            <a:endParaRPr lang="zh-CN" altLang="en-US"/>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44FD6DAF-5FD9-42CD-BD75-96FCE8553FE4}" type="slidenum">
              <a:rPr lang="zh-CN" altLang="en-US" sz="1200">
                <a:solidFill>
                  <a:schemeClr val="bg2">
                    <a:shade val="50000"/>
                    <a:satMod val="200000"/>
                  </a:schemeClr>
                </a:solidFill>
                <a:latin typeface="+mn-lt"/>
                <a:ea typeface="+mn-ea"/>
              </a:rPr>
              <a:pPr algn="ctr" fontAlgn="auto">
                <a:spcBef>
                  <a:spcPts val="0"/>
                </a:spcBef>
                <a:spcAft>
                  <a:spcPts val="0"/>
                </a:spcAft>
                <a:defRPr/>
              </a:pPr>
              <a:t>18</a:t>
            </a:fld>
            <a:endParaRPr lang="zh-CN" altLang="en-US" sz="1200">
              <a:solidFill>
                <a:schemeClr val="bg2">
                  <a:shade val="50000"/>
                  <a:satMod val="200000"/>
                </a:schemeClr>
              </a:solidFill>
              <a:latin typeface="+mn-lt"/>
              <a:ea typeface="+mn-ea"/>
            </a:endParaRPr>
          </a:p>
        </p:txBody>
      </p:sp>
      <p:sp>
        <p:nvSpPr>
          <p:cNvPr id="9" name="矩形 8"/>
          <p:cNvSpPr/>
          <p:nvPr/>
        </p:nvSpPr>
        <p:spPr>
          <a:xfrm>
            <a:off x="214282" y="928670"/>
            <a:ext cx="8715436" cy="5909310"/>
          </a:xfrm>
          <a:prstGeom prst="rect">
            <a:avLst/>
          </a:prstGeom>
        </p:spPr>
        <p:txBody>
          <a:bodyPr wrap="square">
            <a:spAutoFit/>
          </a:bodyPr>
          <a:lstStyle/>
          <a:p>
            <a:r>
              <a:rPr lang="en-US" altLang="zh-CN" dirty="0" smtClean="0"/>
              <a:t>NFS</a:t>
            </a:r>
            <a:r>
              <a:rPr lang="zh-CN" altLang="en-US" dirty="0" smtClean="0"/>
              <a:t>从</a:t>
            </a:r>
            <a:r>
              <a:rPr lang="en-US" altLang="zh-CN" dirty="0" smtClean="0"/>
              <a:t>1985</a:t>
            </a:r>
            <a:r>
              <a:rPr lang="zh-CN" altLang="en-US" dirty="0" smtClean="0"/>
              <a:t>年出现至今，已经经历了四个版本的更新，被移植到了几乎所有主流的操作系统中，成为分布式文件系统事实上的标准。</a:t>
            </a:r>
            <a:r>
              <a:rPr lang="en-US" altLang="zh-CN" dirty="0" smtClean="0"/>
              <a:t>NFS</a:t>
            </a:r>
            <a:r>
              <a:rPr lang="zh-CN" altLang="en-US" dirty="0" smtClean="0"/>
              <a:t>利用</a:t>
            </a:r>
            <a:r>
              <a:rPr lang="en-US" altLang="zh-CN" dirty="0" smtClean="0"/>
              <a:t>Unix</a:t>
            </a:r>
            <a:r>
              <a:rPr lang="zh-CN" altLang="en-US" dirty="0" smtClean="0"/>
              <a:t>系统中的虚拟文件系统（</a:t>
            </a:r>
            <a:r>
              <a:rPr lang="en-US" altLang="zh-CN" dirty="0" smtClean="0"/>
              <a:t>Virtual File System</a:t>
            </a:r>
            <a:r>
              <a:rPr lang="zh-CN" altLang="en-US" dirty="0" smtClean="0"/>
              <a:t>，</a:t>
            </a:r>
            <a:r>
              <a:rPr lang="en-US" altLang="zh-CN" dirty="0" smtClean="0"/>
              <a:t>VFS</a:t>
            </a:r>
            <a:r>
              <a:rPr lang="zh-CN" altLang="en-US" dirty="0" smtClean="0"/>
              <a:t>）机制，将客户机对文件系统的请求，通过规范的文件访问协议和远程过程调用，转发到服务器端进行处理；服务器端在</a:t>
            </a:r>
            <a:r>
              <a:rPr lang="en-US" altLang="zh-CN" dirty="0" smtClean="0"/>
              <a:t>VFS</a:t>
            </a:r>
            <a:r>
              <a:rPr lang="zh-CN" altLang="en-US" dirty="0" smtClean="0"/>
              <a:t>之上，通过本地文件系统完成文件的处理，实现了全局的分布式文件系统。</a:t>
            </a:r>
            <a:r>
              <a:rPr lang="en-US" altLang="zh-CN" dirty="0" smtClean="0"/>
              <a:t>Sun</a:t>
            </a:r>
            <a:r>
              <a:rPr lang="zh-CN" altLang="en-US" dirty="0" smtClean="0"/>
              <a:t>公司公开了</a:t>
            </a:r>
            <a:r>
              <a:rPr lang="en-US" altLang="zh-CN" dirty="0" smtClean="0"/>
              <a:t>NFS</a:t>
            </a:r>
            <a:r>
              <a:rPr lang="zh-CN" altLang="en-US" dirty="0" smtClean="0"/>
              <a:t>的实施规范，互联网工程任务组（</a:t>
            </a:r>
            <a:r>
              <a:rPr lang="en-US" altLang="zh-CN" dirty="0" smtClean="0"/>
              <a:t>The Internet Engineering Task Force</a:t>
            </a:r>
            <a:r>
              <a:rPr lang="zh-CN" altLang="en-US" dirty="0" smtClean="0"/>
              <a:t>，</a:t>
            </a:r>
            <a:r>
              <a:rPr lang="en-US" altLang="zh-CN" dirty="0" smtClean="0"/>
              <a:t>IETF</a:t>
            </a:r>
            <a:r>
              <a:rPr lang="zh-CN" altLang="en-US" dirty="0" smtClean="0"/>
              <a:t>）将其列为征求意见稿（</a:t>
            </a:r>
            <a:r>
              <a:rPr lang="en-US" altLang="zh-CN" dirty="0" smtClean="0"/>
              <a:t>RFC-Request for Comments</a:t>
            </a:r>
            <a:r>
              <a:rPr lang="zh-CN" altLang="en-US" dirty="0" smtClean="0"/>
              <a:t>），这很大程度上促使</a:t>
            </a:r>
            <a:r>
              <a:rPr lang="en-US" altLang="zh-CN" dirty="0" smtClean="0"/>
              <a:t>NFS</a:t>
            </a:r>
            <a:r>
              <a:rPr lang="zh-CN" altLang="en-US" dirty="0" smtClean="0"/>
              <a:t>的很多设计实现方法成为标准，也促进了</a:t>
            </a:r>
            <a:r>
              <a:rPr lang="en-US" altLang="zh-CN" dirty="0" smtClean="0"/>
              <a:t>NFS</a:t>
            </a:r>
            <a:r>
              <a:rPr lang="zh-CN" altLang="en-US" dirty="0" smtClean="0"/>
              <a:t>的流行。</a:t>
            </a:r>
            <a:r>
              <a:rPr lang="en-US" altLang="zh-CN" dirty="0" smtClean="0"/>
              <a:t>NFS</a:t>
            </a:r>
            <a:r>
              <a:rPr lang="zh-CN" altLang="en-US" dirty="0" smtClean="0"/>
              <a:t>不断发展，在第四版中提供了基于租赁（</a:t>
            </a:r>
            <a:r>
              <a:rPr lang="en-US" altLang="zh-CN" dirty="0" smtClean="0"/>
              <a:t>Lease</a:t>
            </a:r>
            <a:r>
              <a:rPr lang="zh-CN" altLang="en-US" dirty="0" smtClean="0"/>
              <a:t>）的同步锁和基于会话（</a:t>
            </a:r>
            <a:r>
              <a:rPr lang="en-US" altLang="zh-CN" dirty="0" smtClean="0"/>
              <a:t>Session</a:t>
            </a:r>
            <a:r>
              <a:rPr lang="zh-CN" altLang="en-US" dirty="0" smtClean="0"/>
              <a:t>）语义的一致性等。 </a:t>
            </a:r>
          </a:p>
          <a:p>
            <a:r>
              <a:rPr lang="en-US" altLang="zh-CN" dirty="0" smtClean="0"/>
              <a:t>Carnegie Mellon</a:t>
            </a:r>
            <a:r>
              <a:rPr lang="zh-CN" altLang="en-US" dirty="0" smtClean="0"/>
              <a:t>大学在</a:t>
            </a:r>
            <a:r>
              <a:rPr lang="en-US" altLang="zh-CN" dirty="0" smtClean="0"/>
              <a:t>1983</a:t>
            </a:r>
            <a:r>
              <a:rPr lang="zh-CN" altLang="en-US" dirty="0" smtClean="0"/>
              <a:t>年设计开发的</a:t>
            </a:r>
            <a:r>
              <a:rPr lang="en-US" altLang="zh-CN" dirty="0" smtClean="0"/>
              <a:t>AFS</a:t>
            </a:r>
            <a:r>
              <a:rPr lang="zh-CN" altLang="en-US" dirty="0" smtClean="0"/>
              <a:t>将分布式文件系统的可扩展性放在了设计和实现的首要位置，并且着重考虑了在不安全的网络中实现安全访问的需求。因此，它在位置透明、用户迁移、与已有系统的兼容性等方面进行了特别设计。</a:t>
            </a:r>
            <a:r>
              <a:rPr lang="en-US" altLang="zh-CN" dirty="0" smtClean="0"/>
              <a:t>AFS</a:t>
            </a:r>
            <a:r>
              <a:rPr lang="zh-CN" altLang="en-US" dirty="0" smtClean="0"/>
              <a:t>具有很好的扩展性，能够很容易地支持数百个节点，甚至数千个节点的分布式环境。同时，在大规模的分布式文件系统中，</a:t>
            </a:r>
            <a:r>
              <a:rPr lang="en-US" altLang="zh-CN" dirty="0" smtClean="0"/>
              <a:t>AFS</a:t>
            </a:r>
            <a:r>
              <a:rPr lang="zh-CN" altLang="en-US" dirty="0" smtClean="0"/>
              <a:t>利用本地存储作为分布式文件的缓存，在远程文件无法访问时，依然可以部分工作，提高了系统可用性。后来的</a:t>
            </a:r>
            <a:r>
              <a:rPr lang="en-US" altLang="zh-CN" dirty="0" smtClean="0"/>
              <a:t>Coda File System</a:t>
            </a:r>
            <a:r>
              <a:rPr lang="zh-CN" altLang="en-US" dirty="0" smtClean="0"/>
              <a:t>、</a:t>
            </a:r>
            <a:r>
              <a:rPr lang="en-US" altLang="zh-CN" dirty="0" smtClean="0"/>
              <a:t>Inter-mezzo File System</a:t>
            </a:r>
            <a:r>
              <a:rPr lang="zh-CN" altLang="en-US" dirty="0" smtClean="0"/>
              <a:t>都受到</a:t>
            </a:r>
            <a:r>
              <a:rPr lang="en-US" altLang="zh-CN" dirty="0" smtClean="0"/>
              <a:t>AFS</a:t>
            </a:r>
            <a:r>
              <a:rPr lang="zh-CN" altLang="en-US" dirty="0" smtClean="0"/>
              <a:t>的影响，更加注重文件系统的高可用性（</a:t>
            </a:r>
            <a:r>
              <a:rPr lang="en-US" altLang="zh-CN" dirty="0" smtClean="0"/>
              <a:t>High Availability</a:t>
            </a:r>
            <a:r>
              <a:rPr lang="zh-CN" altLang="en-US" dirty="0" smtClean="0"/>
              <a:t>）和安全性，特别是</a:t>
            </a:r>
            <a:r>
              <a:rPr lang="en-US" altLang="zh-CN" dirty="0" smtClean="0"/>
              <a:t>Coda</a:t>
            </a:r>
            <a:r>
              <a:rPr lang="zh-CN" altLang="en-US" dirty="0" smtClean="0"/>
              <a:t>，在支持移动计算方面做了很多的研究工作。 早期的分布式文件系统一般以提供标准接口的远程文件访问为目的，在受网络环境、本地磁盘、处理器速度等方面限制的情况下，更多地关注访问的性能和数据的可靠性。</a:t>
            </a:r>
            <a:r>
              <a:rPr lang="en-US" altLang="zh-CN" dirty="0" smtClean="0"/>
              <a:t>AFS</a:t>
            </a:r>
            <a:r>
              <a:rPr lang="zh-CN" altLang="en-US" dirty="0" smtClean="0"/>
              <a:t>在系统结构方面进行了有意义的探索。它们所采用的协议和相关技术，为后来的分布式文件系统设计提供了很多借鉴。</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92E36CBF-88F1-4C08-B359-55DCB60C8E93}" type="slidenum">
              <a:rPr lang="zh-CN" altLang="en-US"/>
              <a:pPr>
                <a:defRPr/>
              </a:pPr>
              <a:t>19</a:t>
            </a:fld>
            <a:endParaRPr lang="zh-CN" altLang="en-US"/>
          </a:p>
        </p:txBody>
      </p:sp>
      <p:sp>
        <p:nvSpPr>
          <p:cNvPr id="20483" name="标题 1"/>
          <p:cNvSpPr>
            <a:spLocks noGrp="1"/>
          </p:cNvSpPr>
          <p:nvPr>
            <p:ph type="title" idx="4294967295"/>
          </p:nvPr>
        </p:nvSpPr>
        <p:spPr/>
        <p:txBody>
          <a:bodyPr/>
          <a:lstStyle/>
          <a:p>
            <a:r>
              <a:rPr lang="zh-CN" altLang="en-US" smtClean="0"/>
              <a:t>分布式文件系统的发展</a:t>
            </a:r>
          </a:p>
        </p:txBody>
      </p:sp>
      <p:sp>
        <p:nvSpPr>
          <p:cNvPr id="20484" name="内容占位符 2"/>
          <p:cNvSpPr>
            <a:spLocks noGrp="1"/>
          </p:cNvSpPr>
          <p:nvPr>
            <p:ph idx="4294967295"/>
          </p:nvPr>
        </p:nvSpPr>
        <p:spPr/>
        <p:txBody>
          <a:bodyPr/>
          <a:lstStyle/>
          <a:p>
            <a:r>
              <a:rPr lang="zh-CN" altLang="en-US" sz="3200" b="1" smtClean="0">
                <a:latin typeface="华文中宋" pitchFamily="2" charset="-122"/>
              </a:rPr>
              <a:t>第二代分布式文件系统（</a:t>
            </a:r>
            <a:r>
              <a:rPr lang="en-US" altLang="zh-CN" sz="3200" b="1" smtClean="0">
                <a:latin typeface="华文中宋" pitchFamily="2" charset="-122"/>
              </a:rPr>
              <a:t>1990</a:t>
            </a:r>
            <a:r>
              <a:rPr lang="zh-CN" altLang="en-US" sz="3200" b="1" smtClean="0">
                <a:latin typeface="华文中宋" pitchFamily="2" charset="-122"/>
              </a:rPr>
              <a:t>～</a:t>
            </a:r>
            <a:r>
              <a:rPr lang="en-US" altLang="zh-CN" sz="3200" b="1" smtClean="0">
                <a:latin typeface="华文中宋" pitchFamily="2" charset="-122"/>
              </a:rPr>
              <a:t>1995</a:t>
            </a:r>
            <a:r>
              <a:rPr lang="zh-CN" altLang="en-US" sz="3200" b="1" smtClean="0">
                <a:latin typeface="华文中宋" pitchFamily="2" charset="-122"/>
              </a:rPr>
              <a:t>）</a:t>
            </a:r>
            <a:r>
              <a:rPr lang="zh-CN" altLang="en-US" smtClean="0">
                <a:latin typeface="华文中宋" pitchFamily="2" charset="-122"/>
              </a:rPr>
              <a:t> </a:t>
            </a:r>
          </a:p>
          <a:p>
            <a:pPr marL="742950" lvl="1" indent="-285750"/>
            <a:r>
              <a:rPr lang="en-US" altLang="zh-CN" sz="2800" smtClean="0">
                <a:latin typeface="华文中宋" pitchFamily="2" charset="-122"/>
              </a:rPr>
              <a:t>20</a:t>
            </a:r>
            <a:r>
              <a:rPr lang="zh-CN" altLang="en-US" sz="2800" smtClean="0">
                <a:latin typeface="华文中宋" pitchFamily="2" charset="-122"/>
              </a:rPr>
              <a:t>世纪</a:t>
            </a:r>
            <a:r>
              <a:rPr lang="en-US" altLang="zh-CN" sz="2800" smtClean="0">
                <a:latin typeface="华文中宋" pitchFamily="2" charset="-122"/>
              </a:rPr>
              <a:t>90</a:t>
            </a:r>
            <a:r>
              <a:rPr lang="zh-CN" altLang="en-US" sz="2800" smtClean="0">
                <a:latin typeface="华文中宋" pitchFamily="2" charset="-122"/>
              </a:rPr>
              <a:t>年代初，面对广域网和大容量存储应用的需求，借鉴当时先进的高性能对称多处理器</a:t>
            </a:r>
            <a:r>
              <a:rPr lang="en-US" altLang="zh-CN" sz="2800" smtClean="0">
                <a:latin typeface="华文中宋" pitchFamily="2" charset="-122"/>
              </a:rPr>
              <a:t>(Symmetric Multiple Processor</a:t>
            </a:r>
            <a:r>
              <a:rPr lang="zh-CN" altLang="en-US" sz="2800" smtClean="0">
                <a:latin typeface="华文中宋" pitchFamily="2" charset="-122"/>
              </a:rPr>
              <a:t>，</a:t>
            </a:r>
            <a:r>
              <a:rPr lang="en-US" altLang="zh-CN" sz="2800" smtClean="0">
                <a:latin typeface="华文中宋" pitchFamily="2" charset="-122"/>
              </a:rPr>
              <a:t>SMP)</a:t>
            </a:r>
            <a:r>
              <a:rPr lang="zh-CN" altLang="en-US" sz="2800" smtClean="0">
                <a:latin typeface="华文中宋" pitchFamily="2" charset="-122"/>
              </a:rPr>
              <a:t>的设计思想，加利福尼亚大学设计开发的</a:t>
            </a:r>
            <a:r>
              <a:rPr lang="en-US" altLang="zh-CN" sz="2800" smtClean="0">
                <a:latin typeface="华文中宋" pitchFamily="2" charset="-122"/>
              </a:rPr>
              <a:t>xFS</a:t>
            </a:r>
            <a:r>
              <a:rPr lang="zh-CN" altLang="en-US" sz="2800" smtClean="0">
                <a:latin typeface="华文中宋" pitchFamily="2" charset="-122"/>
              </a:rPr>
              <a:t>，克服了以前的分布式文件系统一般都运行在局域网（</a:t>
            </a:r>
            <a:r>
              <a:rPr lang="en-US" altLang="zh-CN" sz="2800" smtClean="0">
                <a:latin typeface="华文中宋" pitchFamily="2" charset="-122"/>
              </a:rPr>
              <a:t>LAN</a:t>
            </a:r>
            <a:r>
              <a:rPr lang="zh-CN" altLang="en-US" sz="2800" smtClean="0">
                <a:latin typeface="华文中宋" pitchFamily="2" charset="-122"/>
              </a:rPr>
              <a:t>）上的弱点，很好地解决了在广域网上进行缓存，以减少网络流量的难题。</a:t>
            </a:r>
          </a:p>
        </p:txBody>
      </p:sp>
      <p:sp>
        <p:nvSpPr>
          <p:cNvPr id="4" name="日期占位符 3"/>
          <p:cNvSpPr txBox="1">
            <a:spLocks noGrp="1"/>
          </p:cNvSpPr>
          <p:nvPr/>
        </p:nvSpPr>
        <p:spPr>
          <a:xfrm>
            <a:off x="3662363" y="6300788"/>
            <a:ext cx="2133600" cy="476250"/>
          </a:xfrm>
          <a:prstGeom prst="rect">
            <a:avLst/>
          </a:prstGeom>
          <a:noFill/>
        </p:spPr>
        <p:txBody>
          <a:bodyPr anchor="b"/>
          <a:lstStyle/>
          <a:p>
            <a:pPr algn="r" fontAlgn="auto">
              <a:spcBef>
                <a:spcPts val="0"/>
              </a:spcBef>
              <a:spcAft>
                <a:spcPts val="0"/>
              </a:spcAft>
              <a:defRPr/>
            </a:pPr>
            <a:fld id="{F071A654-DD02-487E-A747-175BDF4FBB00}" type="datetime5">
              <a:rPr lang="zh-CN" altLang="en-US" sz="1200">
                <a:solidFill>
                  <a:schemeClr val="bg2">
                    <a:shade val="50000"/>
                    <a:satMod val="200000"/>
                  </a:schemeClr>
                </a:solidFill>
                <a:latin typeface="+mn-lt"/>
                <a:ea typeface="+mn-ea"/>
              </a:rPr>
              <a:pPr algn="r" fontAlgn="auto">
                <a:spcBef>
                  <a:spcPts val="0"/>
                </a:spcBef>
                <a:spcAft>
                  <a:spcPts val="0"/>
                </a:spcAft>
                <a:defRPr/>
              </a:pPr>
              <a:t>2017/10/24</a:t>
            </a:fld>
            <a:endParaRPr lang="zh-CN" altLang="en-US" sz="1200">
              <a:solidFill>
                <a:schemeClr val="bg2">
                  <a:shade val="50000"/>
                  <a:satMod val="200000"/>
                </a:schemeClr>
              </a:solidFill>
              <a:latin typeface="+mn-lt"/>
              <a:ea typeface="+mn-ea"/>
            </a:endParaRPr>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E163C579-3571-483C-9538-72563ED8FF3B}" type="slidenum">
              <a:rPr lang="zh-CN" altLang="en-US" sz="1200">
                <a:solidFill>
                  <a:schemeClr val="bg2">
                    <a:shade val="50000"/>
                    <a:satMod val="200000"/>
                  </a:schemeClr>
                </a:solidFill>
                <a:latin typeface="+mn-lt"/>
                <a:ea typeface="+mn-ea"/>
              </a:rPr>
              <a:pPr algn="ctr" fontAlgn="auto">
                <a:spcBef>
                  <a:spcPts val="0"/>
                </a:spcBef>
                <a:spcAft>
                  <a:spcPts val="0"/>
                </a:spcAft>
                <a:defRPr/>
              </a:pPr>
              <a:t>19</a:t>
            </a:fld>
            <a:endParaRPr lang="zh-CN" altLang="en-US" sz="1200">
              <a:solidFill>
                <a:schemeClr val="bg2">
                  <a:shade val="50000"/>
                  <a:satMod val="200000"/>
                </a:schemeClr>
              </a:solidFill>
              <a:latin typeface="+mn-lt"/>
              <a:ea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ECC6D8CF-D394-43F4-B565-DE35DC86E407}" type="slidenum">
              <a:rPr lang="zh-CN" altLang="en-US"/>
              <a:pPr>
                <a:defRPr/>
              </a:pPr>
              <a:t>20</a:t>
            </a:fld>
            <a:endParaRPr lang="zh-CN" altLang="en-US"/>
          </a:p>
        </p:txBody>
      </p:sp>
      <p:sp>
        <p:nvSpPr>
          <p:cNvPr id="21507" name="Rectangle 2"/>
          <p:cNvSpPr>
            <a:spLocks noGrp="1"/>
          </p:cNvSpPr>
          <p:nvPr>
            <p:ph type="title"/>
          </p:nvPr>
        </p:nvSpPr>
        <p:spPr/>
        <p:txBody>
          <a:bodyPr/>
          <a:lstStyle/>
          <a:p>
            <a:r>
              <a:rPr lang="zh-CN" altLang="en-US" smtClean="0"/>
              <a:t>分布式文件系统的发展</a:t>
            </a:r>
          </a:p>
        </p:txBody>
      </p:sp>
      <p:sp>
        <p:nvSpPr>
          <p:cNvPr id="21508" name="Rectangle 3"/>
          <p:cNvSpPr>
            <a:spLocks noGrp="1"/>
          </p:cNvSpPr>
          <p:nvPr>
            <p:ph type="body" idx="1"/>
          </p:nvPr>
        </p:nvSpPr>
        <p:spPr>
          <a:xfrm>
            <a:off x="250825" y="1484313"/>
            <a:ext cx="8539163" cy="4752975"/>
          </a:xfrm>
        </p:spPr>
        <p:txBody>
          <a:bodyPr/>
          <a:lstStyle/>
          <a:p>
            <a:pPr>
              <a:lnSpc>
                <a:spcPct val="90000"/>
              </a:lnSpc>
            </a:pPr>
            <a:r>
              <a:rPr lang="zh-CN" altLang="en-US" sz="2400" b="1" dirty="0" smtClean="0">
                <a:latin typeface="华文中宋" pitchFamily="2" charset="-122"/>
              </a:rPr>
              <a:t>第三代分布式文件系统（</a:t>
            </a:r>
            <a:r>
              <a:rPr lang="en-US" altLang="zh-CN" sz="2400" b="1" dirty="0" smtClean="0">
                <a:latin typeface="华文中宋" pitchFamily="2" charset="-122"/>
              </a:rPr>
              <a:t>1995</a:t>
            </a:r>
            <a:r>
              <a:rPr lang="zh-CN" altLang="en-US" sz="2400" b="1" dirty="0" smtClean="0">
                <a:latin typeface="华文中宋" pitchFamily="2" charset="-122"/>
              </a:rPr>
              <a:t>～</a:t>
            </a:r>
            <a:r>
              <a:rPr lang="en-US" altLang="zh-CN" sz="2400" b="1" dirty="0" smtClean="0">
                <a:latin typeface="华文中宋" pitchFamily="2" charset="-122"/>
              </a:rPr>
              <a:t>2000</a:t>
            </a:r>
            <a:r>
              <a:rPr lang="zh-CN" altLang="en-US" sz="2400" b="1" dirty="0" smtClean="0">
                <a:latin typeface="华文中宋" pitchFamily="2" charset="-122"/>
              </a:rPr>
              <a:t>）</a:t>
            </a:r>
            <a:r>
              <a:rPr lang="zh-CN" altLang="en-US" sz="2000" dirty="0" smtClean="0">
                <a:latin typeface="华文中宋" pitchFamily="2" charset="-122"/>
              </a:rPr>
              <a:t> </a:t>
            </a:r>
          </a:p>
          <a:p>
            <a:pPr lvl="1">
              <a:lnSpc>
                <a:spcPct val="90000"/>
              </a:lnSpc>
            </a:pPr>
            <a:r>
              <a:rPr lang="zh-CN" altLang="en-US" sz="2000" dirty="0" smtClean="0"/>
              <a:t>分布式文件系统管理的系统规模更大、系统更复杂，对性能和容量的追求更高。</a:t>
            </a:r>
            <a:endParaRPr lang="zh-CN" altLang="en-US" sz="2000" dirty="0" smtClean="0">
              <a:latin typeface="华文中宋" pitchFamily="2" charset="-122"/>
            </a:endParaRPr>
          </a:p>
          <a:p>
            <a:pPr lvl="1">
              <a:lnSpc>
                <a:spcPct val="90000"/>
              </a:lnSpc>
            </a:pPr>
            <a:r>
              <a:rPr lang="zh-CN" altLang="en-US" sz="2000" dirty="0" smtClean="0"/>
              <a:t>系统的动态性需求增强，如在线增减设备、缓存的一致性、系统可靠性等。</a:t>
            </a:r>
          </a:p>
          <a:p>
            <a:pPr lvl="1">
              <a:lnSpc>
                <a:spcPct val="90000"/>
              </a:lnSpc>
            </a:pPr>
            <a:r>
              <a:rPr lang="zh-CN" altLang="en-US" sz="2000" dirty="0" smtClean="0"/>
              <a:t>更多的先进技术应用到系统实现中，如分布式锁、缓存管理技术、</a:t>
            </a:r>
            <a:r>
              <a:rPr lang="en-US" altLang="zh-CN" sz="2000" dirty="0" err="1" smtClean="0"/>
              <a:t>SoftUpdates</a:t>
            </a:r>
            <a:r>
              <a:rPr lang="zh-CN" altLang="en-US" sz="2000" dirty="0" smtClean="0"/>
              <a:t>技术、文件级的负载平衡等。</a:t>
            </a:r>
            <a:endParaRPr lang="zh-CN" altLang="en-US" sz="2000" dirty="0" smtClean="0">
              <a:latin typeface="华文中宋" pitchFamily="2" charset="-122"/>
            </a:endParaRPr>
          </a:p>
          <a:p>
            <a:pPr lvl="1">
              <a:lnSpc>
                <a:spcPct val="90000"/>
              </a:lnSpc>
            </a:pPr>
            <a:r>
              <a:rPr lang="zh-CN" altLang="en-US" sz="2000" dirty="0" smtClean="0">
                <a:latin typeface="华文中宋" pitchFamily="2" charset="-122"/>
              </a:rPr>
              <a:t>典型代表：</a:t>
            </a:r>
            <a:r>
              <a:rPr lang="en-US" altLang="zh-CN" sz="2000" dirty="0" smtClean="0">
                <a:latin typeface="华文中宋" pitchFamily="2" charset="-122"/>
              </a:rPr>
              <a:t>Global File System</a:t>
            </a:r>
            <a:r>
              <a:rPr lang="zh-CN" altLang="en-US" sz="2000" dirty="0" smtClean="0">
                <a:latin typeface="华文中宋" pitchFamily="2" charset="-122"/>
              </a:rPr>
              <a:t>（</a:t>
            </a:r>
            <a:r>
              <a:rPr lang="en-US" altLang="zh-CN" sz="2000" dirty="0" smtClean="0">
                <a:latin typeface="华文中宋" pitchFamily="2" charset="-122"/>
              </a:rPr>
              <a:t>GFS</a:t>
            </a:r>
            <a:r>
              <a:rPr lang="zh-CN" altLang="en-US" sz="2000" dirty="0" smtClean="0">
                <a:latin typeface="华文中宋" pitchFamily="2" charset="-122"/>
              </a:rPr>
              <a:t>）、</a:t>
            </a:r>
            <a:r>
              <a:rPr lang="en-US" altLang="zh-CN" sz="2000" dirty="0" smtClean="0">
                <a:latin typeface="华文中宋" pitchFamily="2" charset="-122"/>
              </a:rPr>
              <a:t>General Parallel File System </a:t>
            </a:r>
            <a:r>
              <a:rPr lang="zh-CN" altLang="en-US" sz="2000" dirty="0" smtClean="0">
                <a:latin typeface="华文中宋" pitchFamily="2" charset="-122"/>
              </a:rPr>
              <a:t>（</a:t>
            </a:r>
            <a:r>
              <a:rPr lang="en-US" altLang="zh-CN" sz="2000" dirty="0" smtClean="0">
                <a:latin typeface="华文中宋" pitchFamily="2" charset="-122"/>
              </a:rPr>
              <a:t>GPFS</a:t>
            </a:r>
            <a:r>
              <a:rPr lang="zh-CN" altLang="en-US" sz="2000" dirty="0" smtClean="0">
                <a:latin typeface="华文中宋" pitchFamily="2" charset="-122"/>
              </a:rPr>
              <a:t>）、</a:t>
            </a:r>
            <a:r>
              <a:rPr lang="en-US" altLang="zh-CN" sz="2000" dirty="0" smtClean="0">
                <a:latin typeface="华文中宋" pitchFamily="2" charset="-122"/>
              </a:rPr>
              <a:t>HP</a:t>
            </a:r>
            <a:r>
              <a:rPr lang="zh-CN" altLang="en-US" sz="2000" dirty="0" smtClean="0">
                <a:latin typeface="华文中宋" pitchFamily="2" charset="-122"/>
              </a:rPr>
              <a:t>的</a:t>
            </a:r>
            <a:r>
              <a:rPr lang="en-US" altLang="zh-CN" sz="2000" dirty="0" err="1" smtClean="0">
                <a:latin typeface="华文中宋" pitchFamily="2" charset="-122"/>
              </a:rPr>
              <a:t>DiFFS</a:t>
            </a:r>
            <a:r>
              <a:rPr lang="zh-CN" altLang="en-US" sz="2000" dirty="0" smtClean="0">
                <a:latin typeface="华文中宋" pitchFamily="2" charset="-122"/>
              </a:rPr>
              <a:t>、</a:t>
            </a:r>
            <a:r>
              <a:rPr lang="en-US" altLang="zh-CN" sz="2000" dirty="0" smtClean="0">
                <a:latin typeface="华文中宋" pitchFamily="2" charset="-122"/>
              </a:rPr>
              <a:t>SGI</a:t>
            </a:r>
            <a:r>
              <a:rPr lang="zh-CN" altLang="en-US" sz="2000" dirty="0" smtClean="0">
                <a:latin typeface="华文中宋" pitchFamily="2" charset="-122"/>
              </a:rPr>
              <a:t>公司的</a:t>
            </a:r>
            <a:r>
              <a:rPr lang="en-US" altLang="zh-CN" sz="2000" dirty="0" smtClean="0">
                <a:latin typeface="华文中宋" pitchFamily="2" charset="-122"/>
              </a:rPr>
              <a:t>CXFS</a:t>
            </a:r>
            <a:r>
              <a:rPr lang="zh-CN" altLang="en-US" sz="2000" dirty="0" smtClean="0">
                <a:latin typeface="华文中宋" pitchFamily="2" charset="-122"/>
              </a:rPr>
              <a:t>、</a:t>
            </a:r>
            <a:r>
              <a:rPr lang="en-US" altLang="zh-CN" sz="2000" dirty="0" smtClean="0">
                <a:latin typeface="华文中宋" pitchFamily="2" charset="-122"/>
              </a:rPr>
              <a:t>EMC</a:t>
            </a:r>
            <a:r>
              <a:rPr lang="zh-CN" altLang="en-US" sz="2000" dirty="0" smtClean="0">
                <a:latin typeface="华文中宋" pitchFamily="2" charset="-122"/>
              </a:rPr>
              <a:t>的</a:t>
            </a:r>
            <a:r>
              <a:rPr lang="en-US" altLang="zh-CN" sz="2000" dirty="0" err="1" smtClean="0">
                <a:latin typeface="华文中宋" pitchFamily="2" charset="-122"/>
              </a:rPr>
              <a:t>HighRoad</a:t>
            </a:r>
            <a:r>
              <a:rPr lang="zh-CN" altLang="en-US" sz="2000" dirty="0" smtClean="0">
                <a:latin typeface="华文中宋" pitchFamily="2" charset="-122"/>
              </a:rPr>
              <a:t>、</a:t>
            </a:r>
            <a:r>
              <a:rPr lang="en-US" altLang="zh-CN" sz="2000" dirty="0" smtClean="0">
                <a:latin typeface="华文中宋" pitchFamily="2" charset="-122"/>
              </a:rPr>
              <a:t>Sun</a:t>
            </a:r>
            <a:r>
              <a:rPr lang="zh-CN" altLang="en-US" sz="2000" dirty="0" smtClean="0">
                <a:latin typeface="华文中宋" pitchFamily="2" charset="-122"/>
              </a:rPr>
              <a:t>的</a:t>
            </a:r>
            <a:r>
              <a:rPr lang="en-US" altLang="zh-CN" sz="2000" dirty="0" err="1" smtClean="0">
                <a:latin typeface="华文中宋" pitchFamily="2" charset="-122"/>
              </a:rPr>
              <a:t>qFS</a:t>
            </a:r>
            <a:r>
              <a:rPr lang="zh-CN" altLang="en-US" sz="2000" dirty="0" smtClean="0">
                <a:latin typeface="华文中宋" pitchFamily="2" charset="-122"/>
              </a:rPr>
              <a:t>、</a:t>
            </a:r>
            <a:r>
              <a:rPr lang="en-US" altLang="zh-CN" sz="2000" dirty="0" smtClean="0">
                <a:latin typeface="华文中宋" pitchFamily="2" charset="-122"/>
              </a:rPr>
              <a:t>XNFS</a:t>
            </a:r>
            <a:r>
              <a:rPr lang="zh-CN" altLang="en-US" sz="2000" dirty="0" smtClean="0">
                <a:latin typeface="华文中宋" pitchFamily="2" charset="-122"/>
              </a:rPr>
              <a:t>等</a:t>
            </a:r>
            <a:r>
              <a:rPr lang="zh-CN" altLang="en-US" dirty="0" smtClean="0">
                <a:latin typeface="华文中宋" pitchFamily="2" charset="-122"/>
              </a:rPr>
              <a:t/>
            </a:r>
            <a:br>
              <a:rPr lang="zh-CN" altLang="en-US" dirty="0" smtClean="0">
                <a:latin typeface="华文中宋" pitchFamily="2" charset="-122"/>
              </a:rPr>
            </a:br>
            <a:endParaRPr lang="zh-CN" altLang="en-US" dirty="0" smtClean="0">
              <a:latin typeface="华文中宋" pitchFamily="2" charset="-122"/>
            </a:endParaRPr>
          </a:p>
        </p:txBody>
      </p:sp>
      <p:sp>
        <p:nvSpPr>
          <p:cNvPr id="5" name="矩形 4"/>
          <p:cNvSpPr/>
          <p:nvPr/>
        </p:nvSpPr>
        <p:spPr>
          <a:xfrm>
            <a:off x="714348" y="4786322"/>
            <a:ext cx="7858180" cy="2031325"/>
          </a:xfrm>
          <a:prstGeom prst="rect">
            <a:avLst/>
          </a:prstGeom>
        </p:spPr>
        <p:txBody>
          <a:bodyPr wrap="square">
            <a:spAutoFit/>
          </a:bodyPr>
          <a:lstStyle/>
          <a:p>
            <a:r>
              <a:rPr lang="zh-CN" altLang="en-US" dirty="0" smtClean="0"/>
              <a:t>第三代：数据容量、性能和共享的需求使得这一时期的分布式文件系统管理的系统规模更大、系统更复杂，对物理设备的直接访问、磁盘布局和检索效率的优化、元数据的集</a:t>
            </a:r>
            <a:br>
              <a:rPr lang="zh-CN" altLang="en-US" dirty="0" smtClean="0"/>
            </a:br>
            <a:r>
              <a:rPr lang="zh-CN" altLang="en-US" dirty="0" smtClean="0"/>
              <a:t>中管理等都反映了对性能和容量的追求。规模的扩展使得系统的动态性，如在线增减设备、缓存的一致性、系统可靠性的需求逐渐增强，更多的先进技术应用到系统  实现中，如分布式锁、缓存管理技术、</a:t>
            </a:r>
            <a:r>
              <a:rPr lang="en-US" altLang="zh-CN" dirty="0" err="1" smtClean="0"/>
              <a:t>SoftUpdates</a:t>
            </a:r>
            <a:r>
              <a:rPr lang="zh-CN" altLang="en-US" dirty="0" smtClean="0"/>
              <a:t>技术、文件级的负载平衡等。</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7D9D743D-190F-4F33-81FA-06C626E1B3EA}" type="slidenum">
              <a:rPr lang="zh-CN" altLang="en-US"/>
              <a:pPr>
                <a:defRPr/>
              </a:pPr>
              <a:t>21</a:t>
            </a:fld>
            <a:endParaRPr lang="zh-CN" altLang="en-US"/>
          </a:p>
        </p:txBody>
      </p:sp>
      <p:sp>
        <p:nvSpPr>
          <p:cNvPr id="22531" name="Rectangle 2"/>
          <p:cNvSpPr>
            <a:spLocks noGrp="1"/>
          </p:cNvSpPr>
          <p:nvPr>
            <p:ph type="title"/>
          </p:nvPr>
        </p:nvSpPr>
        <p:spPr/>
        <p:txBody>
          <a:bodyPr/>
          <a:lstStyle/>
          <a:p>
            <a:r>
              <a:rPr lang="zh-CN" altLang="en-US" smtClean="0"/>
              <a:t>分布式文件系统的发展</a:t>
            </a:r>
          </a:p>
        </p:txBody>
      </p:sp>
      <p:sp>
        <p:nvSpPr>
          <p:cNvPr id="22532" name="Rectangle 3"/>
          <p:cNvSpPr>
            <a:spLocks noGrp="1"/>
          </p:cNvSpPr>
          <p:nvPr>
            <p:ph type="body" idx="1"/>
          </p:nvPr>
        </p:nvSpPr>
        <p:spPr>
          <a:xfrm>
            <a:off x="250825" y="1557338"/>
            <a:ext cx="8539163" cy="4824412"/>
          </a:xfrm>
        </p:spPr>
        <p:txBody>
          <a:bodyPr/>
          <a:lstStyle/>
          <a:p>
            <a:r>
              <a:rPr lang="zh-CN" altLang="en-US" b="1" smtClean="0">
                <a:latin typeface="华文中宋" pitchFamily="2" charset="-122"/>
              </a:rPr>
              <a:t>第四代分布式文件系统（</a:t>
            </a:r>
            <a:r>
              <a:rPr lang="en-US" altLang="zh-CN" b="1" smtClean="0">
                <a:latin typeface="华文中宋" pitchFamily="2" charset="-122"/>
              </a:rPr>
              <a:t>2000</a:t>
            </a:r>
            <a:r>
              <a:rPr lang="zh-CN" altLang="en-US" b="1" smtClean="0">
                <a:latin typeface="华文中宋" pitchFamily="2" charset="-122"/>
              </a:rPr>
              <a:t>年以后）</a:t>
            </a:r>
            <a:r>
              <a:rPr lang="zh-CN" altLang="en-US" sz="2400" smtClean="0">
                <a:latin typeface="华文中宋" pitchFamily="2" charset="-122"/>
              </a:rPr>
              <a:t> </a:t>
            </a:r>
          </a:p>
          <a:p>
            <a:pPr lvl="1"/>
            <a:r>
              <a:rPr lang="zh-CN" altLang="en-US" smtClean="0">
                <a:latin typeface="华文中宋" pitchFamily="2" charset="-122"/>
              </a:rPr>
              <a:t>随着</a:t>
            </a:r>
            <a:r>
              <a:rPr lang="en-US" altLang="zh-CN" smtClean="0">
                <a:latin typeface="华文中宋" pitchFamily="2" charset="-122"/>
              </a:rPr>
              <a:t>SAN</a:t>
            </a:r>
            <a:r>
              <a:rPr lang="zh-CN" altLang="en-US" smtClean="0">
                <a:latin typeface="华文中宋" pitchFamily="2" charset="-122"/>
              </a:rPr>
              <a:t>和</a:t>
            </a:r>
            <a:r>
              <a:rPr lang="en-US" altLang="zh-CN" smtClean="0">
                <a:latin typeface="华文中宋" pitchFamily="2" charset="-122"/>
              </a:rPr>
              <a:t>NAS</a:t>
            </a:r>
            <a:r>
              <a:rPr lang="zh-CN" altLang="en-US" smtClean="0">
                <a:latin typeface="华文中宋" pitchFamily="2" charset="-122"/>
              </a:rPr>
              <a:t>两种体系结构逐渐成熟，研究人员开始考虑如何将两种体系结构结合起来，以充分利用两者的优势。</a:t>
            </a:r>
          </a:p>
          <a:p>
            <a:pPr lvl="1"/>
            <a:r>
              <a:rPr lang="zh-CN" altLang="en-US" smtClean="0">
                <a:latin typeface="华文中宋" pitchFamily="2" charset="-122"/>
              </a:rPr>
              <a:t>另一方面，基于多种分布式文件系统的研究成果，人们对体系结构的认识不断深入，网格的研究成果等也推动了分布式文件系统体系结构的发展。</a:t>
            </a:r>
          </a:p>
          <a:p>
            <a:pPr lvl="1"/>
            <a:r>
              <a:rPr lang="zh-CN" altLang="en-US" smtClean="0">
                <a:latin typeface="华文中宋" pitchFamily="2" charset="-122"/>
              </a:rPr>
              <a:t>这一时期，</a:t>
            </a:r>
            <a:r>
              <a:rPr lang="en-US" altLang="zh-CN" smtClean="0">
                <a:latin typeface="华文中宋" pitchFamily="2" charset="-122"/>
              </a:rPr>
              <a:t>IBM</a:t>
            </a:r>
            <a:r>
              <a:rPr lang="zh-CN" altLang="en-US" smtClean="0">
                <a:latin typeface="华文中宋" pitchFamily="2" charset="-122"/>
              </a:rPr>
              <a:t>的</a:t>
            </a:r>
            <a:r>
              <a:rPr lang="en-US" altLang="zh-CN" b="1" smtClean="0">
                <a:latin typeface="华文中宋" pitchFamily="2" charset="-122"/>
              </a:rPr>
              <a:t>StorageTank</a:t>
            </a:r>
            <a:r>
              <a:rPr lang="zh-CN" altLang="en-US" smtClean="0">
                <a:latin typeface="华文中宋" pitchFamily="2" charset="-122"/>
              </a:rPr>
              <a:t>、</a:t>
            </a:r>
            <a:r>
              <a:rPr lang="en-US" altLang="zh-CN" smtClean="0">
                <a:latin typeface="华文中宋" pitchFamily="2" charset="-122"/>
              </a:rPr>
              <a:t>Cluster</a:t>
            </a:r>
            <a:r>
              <a:rPr lang="zh-CN" altLang="en-US" smtClean="0">
                <a:latin typeface="华文中宋" pitchFamily="2" charset="-122"/>
              </a:rPr>
              <a:t>的</a:t>
            </a:r>
            <a:r>
              <a:rPr lang="en-US" altLang="zh-CN" b="1" smtClean="0">
                <a:latin typeface="华文中宋" pitchFamily="2" charset="-122"/>
              </a:rPr>
              <a:t>Lustre</a:t>
            </a:r>
            <a:r>
              <a:rPr lang="zh-CN" altLang="en-US" smtClean="0">
                <a:latin typeface="华文中宋" pitchFamily="2" charset="-122"/>
              </a:rPr>
              <a:t>、</a:t>
            </a:r>
            <a:r>
              <a:rPr lang="en-US" altLang="zh-CN" smtClean="0">
                <a:latin typeface="华文中宋" pitchFamily="2" charset="-122"/>
              </a:rPr>
              <a:t>Panasas</a:t>
            </a:r>
            <a:r>
              <a:rPr lang="zh-CN" altLang="en-US" smtClean="0">
                <a:latin typeface="华文中宋" pitchFamily="2" charset="-122"/>
              </a:rPr>
              <a:t>的</a:t>
            </a:r>
            <a:r>
              <a:rPr lang="en-US" altLang="zh-CN" b="1" smtClean="0">
                <a:latin typeface="华文中宋" pitchFamily="2" charset="-122"/>
              </a:rPr>
              <a:t>PanFS</a:t>
            </a:r>
            <a:r>
              <a:rPr lang="zh-CN" altLang="en-US" smtClean="0">
                <a:latin typeface="华文中宋" pitchFamily="2" charset="-122"/>
              </a:rPr>
              <a:t>、蓝鲸文件系统（</a:t>
            </a:r>
            <a:r>
              <a:rPr lang="en-US" altLang="zh-CN" b="1" smtClean="0">
                <a:latin typeface="华文中宋" pitchFamily="2" charset="-122"/>
              </a:rPr>
              <a:t>BWFS</a:t>
            </a:r>
            <a:r>
              <a:rPr lang="zh-CN" altLang="en-US" smtClean="0">
                <a:latin typeface="华文中宋" pitchFamily="2" charset="-122"/>
              </a:rPr>
              <a:t>）等是这种体系结构的代表。</a:t>
            </a:r>
            <a:r>
              <a:rPr lang="zh-CN" altLang="en-US" sz="2000" smtClean="0"/>
              <a:t> </a:t>
            </a:r>
            <a:br>
              <a:rPr lang="zh-CN" altLang="en-US" sz="2000" smtClean="0"/>
            </a:br>
            <a:endParaRPr lang="zh-CN" altLang="en-US" sz="200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DAD39F81-2C0A-4954-B4A3-46E22D9C76F8}" type="slidenum">
              <a:rPr lang="zh-CN" altLang="en-US"/>
              <a:pPr>
                <a:defRPr/>
              </a:pPr>
              <a:t>22</a:t>
            </a:fld>
            <a:endParaRPr lang="zh-CN" altLang="en-US"/>
          </a:p>
        </p:txBody>
      </p:sp>
      <p:sp>
        <p:nvSpPr>
          <p:cNvPr id="23555" name="Rectangle 2"/>
          <p:cNvSpPr>
            <a:spLocks noGrp="1"/>
          </p:cNvSpPr>
          <p:nvPr>
            <p:ph type="title"/>
          </p:nvPr>
        </p:nvSpPr>
        <p:spPr/>
        <p:txBody>
          <a:bodyPr/>
          <a:lstStyle/>
          <a:p>
            <a:r>
              <a:rPr lang="en-US" altLang="zh-CN" sz="3900" smtClean="0"/>
              <a:t>The definition of Distributed file system</a:t>
            </a:r>
            <a:endParaRPr lang="zh-CN" altLang="en-US" sz="3900" smtClean="0"/>
          </a:p>
        </p:txBody>
      </p:sp>
      <p:sp>
        <p:nvSpPr>
          <p:cNvPr id="23556" name="Rectangle 3"/>
          <p:cNvSpPr>
            <a:spLocks noGrp="1"/>
          </p:cNvSpPr>
          <p:nvPr>
            <p:ph type="body" idx="1"/>
          </p:nvPr>
        </p:nvSpPr>
        <p:spPr/>
        <p:txBody>
          <a:bodyPr/>
          <a:lstStyle/>
          <a:p>
            <a:r>
              <a:rPr lang="en-US" altLang="zh-CN" smtClean="0"/>
              <a:t>In computing, a </a:t>
            </a:r>
            <a:r>
              <a:rPr lang="en-US" altLang="zh-CN" b="1" smtClean="0"/>
              <a:t>distributed file system</a:t>
            </a:r>
            <a:r>
              <a:rPr lang="en-US" altLang="zh-CN" smtClean="0"/>
              <a:t> or </a:t>
            </a:r>
            <a:r>
              <a:rPr lang="en-US" altLang="zh-CN" b="1" smtClean="0"/>
              <a:t>network file system</a:t>
            </a:r>
            <a:r>
              <a:rPr lang="en-US" altLang="zh-CN" smtClean="0"/>
              <a:t> is any file system that allows access to files from multiple hosts sharing via a computer network.This makes it possible for multiple users on multiple machines to share files and storage resources. ——Wilipedia</a:t>
            </a:r>
            <a:endParaRPr lang="zh-CN" altLang="en-US" smtClean="0"/>
          </a:p>
          <a:p>
            <a:r>
              <a:rPr lang="en-US" altLang="zh-CN" smtClean="0"/>
              <a:t>A </a:t>
            </a:r>
            <a:r>
              <a:rPr lang="en-US" altLang="zh-CN" b="1" smtClean="0"/>
              <a:t>distributed file system</a:t>
            </a:r>
            <a:r>
              <a:rPr lang="en-US" altLang="zh-CN" smtClean="0"/>
              <a:t> i</a:t>
            </a:r>
            <a:r>
              <a:rPr lang="en-US" altLang="zh-CN" smtClean="0">
                <a:ea typeface="宋体" pitchFamily="2" charset="-122"/>
                <a:cs typeface="Times New Roman" pitchFamily="18" charset="0"/>
              </a:rPr>
              <a:t>mplements a common file system that can be shared by all autonomous computers in a distributed system</a:t>
            </a:r>
            <a:endParaRPr lang="zh-CN" altLang="en-US"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0A40544-0FA0-4850-81F7-266AD7E6CB1B}" type="slidenum">
              <a:rPr lang="zh-CN" altLang="en-US"/>
              <a:pPr>
                <a:defRPr/>
              </a:pPr>
              <a:t>23</a:t>
            </a:fld>
            <a:endParaRPr lang="zh-CN" altLang="en-US"/>
          </a:p>
        </p:txBody>
      </p:sp>
      <p:sp>
        <p:nvSpPr>
          <p:cNvPr id="24579" name="Rectangle 2"/>
          <p:cNvSpPr>
            <a:spLocks noGrp="1"/>
          </p:cNvSpPr>
          <p:nvPr>
            <p:ph type="title"/>
          </p:nvPr>
        </p:nvSpPr>
        <p:spPr/>
        <p:txBody>
          <a:bodyPr/>
          <a:lstStyle/>
          <a:p>
            <a:r>
              <a:rPr lang="zh-CN" altLang="en-US" smtClean="0"/>
              <a:t>分布式文件系统的组成</a:t>
            </a:r>
          </a:p>
        </p:txBody>
      </p:sp>
      <p:sp>
        <p:nvSpPr>
          <p:cNvPr id="24580" name="Rectangle 3"/>
          <p:cNvSpPr>
            <a:spLocks noGrp="1"/>
          </p:cNvSpPr>
          <p:nvPr>
            <p:ph type="body" idx="1"/>
          </p:nvPr>
        </p:nvSpPr>
        <p:spPr/>
        <p:txBody>
          <a:bodyPr/>
          <a:lstStyle/>
          <a:p>
            <a:r>
              <a:rPr lang="zh-CN" altLang="en-US" smtClean="0"/>
              <a:t>分布式文件系统包含三个部分：</a:t>
            </a:r>
          </a:p>
          <a:p>
            <a:pPr lvl="1"/>
            <a:r>
              <a:rPr lang="zh-CN" altLang="en-US" smtClean="0">
                <a:solidFill>
                  <a:schemeClr val="accent2"/>
                </a:solidFill>
              </a:rPr>
              <a:t>文件服务器</a:t>
            </a:r>
            <a:r>
              <a:rPr lang="zh-CN" altLang="en-US" smtClean="0"/>
              <a:t>：存储和管理文件，实现对文件内容的操作，通过文件的唯一标示符</a:t>
            </a:r>
            <a:r>
              <a:rPr lang="en-US" altLang="zh-CN" smtClean="0"/>
              <a:t>UFID</a:t>
            </a:r>
            <a:r>
              <a:rPr lang="zh-CN" altLang="en-US" smtClean="0"/>
              <a:t>（</a:t>
            </a:r>
            <a:r>
              <a:rPr lang="en-US" altLang="zh-CN" smtClean="0"/>
              <a:t>Unique File Identifier</a:t>
            </a:r>
            <a:r>
              <a:rPr lang="zh-CN" altLang="en-US" smtClean="0"/>
              <a:t>）来标识文件。</a:t>
            </a:r>
          </a:p>
          <a:p>
            <a:pPr lvl="1"/>
            <a:r>
              <a:rPr lang="zh-CN" altLang="en-US" smtClean="0">
                <a:solidFill>
                  <a:schemeClr val="accent2"/>
                </a:solidFill>
              </a:rPr>
              <a:t>目录服务器</a:t>
            </a:r>
            <a:r>
              <a:rPr lang="zh-CN" altLang="en-US" smtClean="0"/>
              <a:t>：文件名和</a:t>
            </a:r>
            <a:r>
              <a:rPr lang="en-US" altLang="zh-CN" smtClean="0"/>
              <a:t>UFID</a:t>
            </a:r>
            <a:r>
              <a:rPr lang="zh-CN" altLang="en-US" smtClean="0"/>
              <a:t>都存储在文件目录中。提供文件名到</a:t>
            </a:r>
            <a:r>
              <a:rPr lang="en-US" altLang="zh-CN" smtClean="0"/>
              <a:t>UFID</a:t>
            </a:r>
            <a:r>
              <a:rPr lang="zh-CN" altLang="en-US" smtClean="0"/>
              <a:t>的映射。</a:t>
            </a:r>
          </a:p>
          <a:p>
            <a:pPr lvl="1"/>
            <a:r>
              <a:rPr lang="zh-CN" altLang="en-US" smtClean="0">
                <a:solidFill>
                  <a:schemeClr val="accent2"/>
                </a:solidFill>
              </a:rPr>
              <a:t>客户机</a:t>
            </a:r>
            <a:r>
              <a:rPr lang="zh-CN" altLang="en-US" smtClean="0"/>
              <a:t>：不同的客户机实现不同的编程接口，在客户机缓存常用文件块。</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9"/>
          <p:cNvSpPr>
            <a:spLocks noGrp="1"/>
          </p:cNvSpPr>
          <p:nvPr>
            <p:ph type="sldNum" sz="quarter" idx="12"/>
          </p:nvPr>
        </p:nvSpPr>
        <p:spPr/>
        <p:txBody>
          <a:bodyPr/>
          <a:lstStyle/>
          <a:p>
            <a:pPr>
              <a:defRPr/>
            </a:pPr>
            <a:fld id="{1247C9AB-F20E-45DA-9417-079BB4E10627}" type="slidenum">
              <a:rPr lang="zh-CN" altLang="en-US"/>
              <a:pPr>
                <a:defRPr/>
              </a:pPr>
              <a:t>24</a:t>
            </a:fld>
            <a:endParaRPr lang="zh-CN" altLang="en-US"/>
          </a:p>
        </p:txBody>
      </p:sp>
      <p:sp>
        <p:nvSpPr>
          <p:cNvPr id="25603" name="Rectangle 2"/>
          <p:cNvSpPr>
            <a:spLocks noGrp="1"/>
          </p:cNvSpPr>
          <p:nvPr>
            <p:ph type="title"/>
          </p:nvPr>
        </p:nvSpPr>
        <p:spPr/>
        <p:txBody>
          <a:bodyPr/>
          <a:lstStyle/>
          <a:p>
            <a:r>
              <a:rPr lang="zh-CN" altLang="en-US" smtClean="0"/>
              <a:t>文件服务</a:t>
            </a:r>
          </a:p>
        </p:txBody>
      </p:sp>
      <p:grpSp>
        <p:nvGrpSpPr>
          <p:cNvPr id="25604" name="Group 6"/>
          <p:cNvGrpSpPr>
            <a:grpSpLocks/>
          </p:cNvGrpSpPr>
          <p:nvPr/>
        </p:nvGrpSpPr>
        <p:grpSpPr bwMode="auto">
          <a:xfrm>
            <a:off x="1116013" y="3644900"/>
            <a:ext cx="6858000" cy="2408238"/>
            <a:chOff x="816" y="2514"/>
            <a:chExt cx="4080" cy="1645"/>
          </a:xfrm>
        </p:grpSpPr>
        <p:sp>
          <p:nvSpPr>
            <p:cNvPr id="25606" name="Rectangle 7"/>
            <p:cNvSpPr>
              <a:spLocks noChangeArrowheads="1"/>
            </p:cNvSpPr>
            <p:nvPr/>
          </p:nvSpPr>
          <p:spPr bwMode="auto">
            <a:xfrm>
              <a:off x="1440" y="3024"/>
              <a:ext cx="864" cy="48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07" name="Rectangle 8"/>
            <p:cNvSpPr>
              <a:spLocks noChangeArrowheads="1"/>
            </p:cNvSpPr>
            <p:nvPr/>
          </p:nvSpPr>
          <p:spPr bwMode="auto">
            <a:xfrm>
              <a:off x="1680" y="3147"/>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08" name="Rectangle 9"/>
            <p:cNvSpPr>
              <a:spLocks noChangeArrowheads="1"/>
            </p:cNvSpPr>
            <p:nvPr/>
          </p:nvSpPr>
          <p:spPr bwMode="auto">
            <a:xfrm>
              <a:off x="1776" y="3147"/>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09" name="Rectangle 10"/>
            <p:cNvSpPr>
              <a:spLocks noChangeArrowheads="1"/>
            </p:cNvSpPr>
            <p:nvPr/>
          </p:nvSpPr>
          <p:spPr bwMode="auto">
            <a:xfrm>
              <a:off x="1875" y="3150"/>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0" name="Rectangle 11"/>
            <p:cNvSpPr>
              <a:spLocks noChangeArrowheads="1"/>
            </p:cNvSpPr>
            <p:nvPr/>
          </p:nvSpPr>
          <p:spPr bwMode="auto">
            <a:xfrm>
              <a:off x="1968" y="3150"/>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1" name="Rectangle 12"/>
            <p:cNvSpPr>
              <a:spLocks noChangeArrowheads="1"/>
            </p:cNvSpPr>
            <p:nvPr/>
          </p:nvSpPr>
          <p:spPr bwMode="auto">
            <a:xfrm>
              <a:off x="3024" y="2832"/>
              <a:ext cx="864" cy="864"/>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2" name="Rectangle 13"/>
            <p:cNvSpPr>
              <a:spLocks noChangeArrowheads="1"/>
            </p:cNvSpPr>
            <p:nvPr/>
          </p:nvSpPr>
          <p:spPr bwMode="auto">
            <a:xfrm>
              <a:off x="3264" y="2976"/>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3" name="Rectangle 14"/>
            <p:cNvSpPr>
              <a:spLocks noChangeArrowheads="1"/>
            </p:cNvSpPr>
            <p:nvPr/>
          </p:nvSpPr>
          <p:spPr bwMode="auto">
            <a:xfrm>
              <a:off x="3360" y="2976"/>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4" name="Rectangle 15"/>
            <p:cNvSpPr>
              <a:spLocks noChangeArrowheads="1"/>
            </p:cNvSpPr>
            <p:nvPr/>
          </p:nvSpPr>
          <p:spPr bwMode="auto">
            <a:xfrm>
              <a:off x="3459" y="2979"/>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5" name="Rectangle 16"/>
            <p:cNvSpPr>
              <a:spLocks noChangeArrowheads="1"/>
            </p:cNvSpPr>
            <p:nvPr/>
          </p:nvSpPr>
          <p:spPr bwMode="auto">
            <a:xfrm>
              <a:off x="3552" y="2979"/>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6" name="Rectangle 17"/>
            <p:cNvSpPr>
              <a:spLocks noChangeArrowheads="1"/>
            </p:cNvSpPr>
            <p:nvPr/>
          </p:nvSpPr>
          <p:spPr bwMode="auto">
            <a:xfrm>
              <a:off x="3264" y="3360"/>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7" name="Rectangle 18"/>
            <p:cNvSpPr>
              <a:spLocks noChangeArrowheads="1"/>
            </p:cNvSpPr>
            <p:nvPr/>
          </p:nvSpPr>
          <p:spPr bwMode="auto">
            <a:xfrm>
              <a:off x="3360" y="3360"/>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8" name="Rectangle 19"/>
            <p:cNvSpPr>
              <a:spLocks noChangeArrowheads="1"/>
            </p:cNvSpPr>
            <p:nvPr/>
          </p:nvSpPr>
          <p:spPr bwMode="auto">
            <a:xfrm>
              <a:off x="3459" y="3363"/>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19" name="Rectangle 20"/>
            <p:cNvSpPr>
              <a:spLocks noChangeArrowheads="1"/>
            </p:cNvSpPr>
            <p:nvPr/>
          </p:nvSpPr>
          <p:spPr bwMode="auto">
            <a:xfrm>
              <a:off x="3552" y="3363"/>
              <a:ext cx="96" cy="24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5620" name="Line 21"/>
            <p:cNvSpPr>
              <a:spLocks noChangeShapeType="1"/>
            </p:cNvSpPr>
            <p:nvPr/>
          </p:nvSpPr>
          <p:spPr bwMode="auto">
            <a:xfrm flipH="1">
              <a:off x="2112" y="3072"/>
              <a:ext cx="1104" cy="144"/>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5621" name="Line 22"/>
            <p:cNvSpPr>
              <a:spLocks noChangeShapeType="1"/>
            </p:cNvSpPr>
            <p:nvPr/>
          </p:nvSpPr>
          <p:spPr bwMode="auto">
            <a:xfrm>
              <a:off x="2112" y="3312"/>
              <a:ext cx="1104" cy="144"/>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5622" name="Text Box 23"/>
            <p:cNvSpPr txBox="1">
              <a:spLocks noChangeArrowheads="1"/>
            </p:cNvSpPr>
            <p:nvPr/>
          </p:nvSpPr>
          <p:spPr bwMode="auto">
            <a:xfrm>
              <a:off x="1584" y="2745"/>
              <a:ext cx="624" cy="230"/>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客户机</a:t>
              </a:r>
            </a:p>
          </p:txBody>
        </p:sp>
        <p:sp>
          <p:nvSpPr>
            <p:cNvPr id="25623" name="Text Box 24"/>
            <p:cNvSpPr txBox="1">
              <a:spLocks noChangeArrowheads="1"/>
            </p:cNvSpPr>
            <p:nvPr/>
          </p:nvSpPr>
          <p:spPr bwMode="auto">
            <a:xfrm>
              <a:off x="3168" y="2592"/>
              <a:ext cx="624" cy="230"/>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服务器</a:t>
              </a:r>
            </a:p>
          </p:txBody>
        </p:sp>
        <p:sp>
          <p:nvSpPr>
            <p:cNvPr id="25624" name="Text Box 25"/>
            <p:cNvSpPr txBox="1">
              <a:spLocks noChangeArrowheads="1"/>
            </p:cNvSpPr>
            <p:nvPr/>
          </p:nvSpPr>
          <p:spPr bwMode="auto">
            <a:xfrm>
              <a:off x="2064" y="2514"/>
              <a:ext cx="864" cy="397"/>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  </a:t>
              </a:r>
              <a:r>
                <a:rPr kumimoji="1" lang="en-US" altLang="zh-CN" sz="1600" b="1">
                  <a:solidFill>
                    <a:srgbClr val="0000CC"/>
                  </a:solidFill>
                  <a:latin typeface="Arial Black" pitchFamily="34" charset="0"/>
                  <a:ea typeface="楷体_GB2312" pitchFamily="49" charset="-122"/>
                </a:rPr>
                <a:t>1.</a:t>
              </a:r>
              <a:r>
                <a:rPr kumimoji="1" lang="zh-CN" altLang="en-US" sz="1600" b="1">
                  <a:solidFill>
                    <a:srgbClr val="0000CC"/>
                  </a:solidFill>
                  <a:latin typeface="Arial Black" pitchFamily="34" charset="0"/>
                  <a:ea typeface="楷体_GB2312" pitchFamily="49" charset="-122"/>
                </a:rPr>
                <a:t>文件移动到客户端</a:t>
              </a:r>
            </a:p>
          </p:txBody>
        </p:sp>
        <p:sp>
          <p:nvSpPr>
            <p:cNvPr id="25625" name="Line 26"/>
            <p:cNvSpPr>
              <a:spLocks noChangeShapeType="1"/>
            </p:cNvSpPr>
            <p:nvPr/>
          </p:nvSpPr>
          <p:spPr bwMode="auto">
            <a:xfrm>
              <a:off x="2544" y="2832"/>
              <a:ext cx="48" cy="288"/>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5626" name="Text Box 27"/>
            <p:cNvSpPr txBox="1">
              <a:spLocks noChangeArrowheads="1"/>
            </p:cNvSpPr>
            <p:nvPr/>
          </p:nvSpPr>
          <p:spPr bwMode="auto">
            <a:xfrm>
              <a:off x="816" y="3666"/>
              <a:ext cx="864" cy="396"/>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  </a:t>
              </a:r>
              <a:r>
                <a:rPr kumimoji="1" lang="en-US" altLang="zh-CN" sz="1600" b="1">
                  <a:solidFill>
                    <a:srgbClr val="0000CC"/>
                  </a:solidFill>
                  <a:latin typeface="Arial Black" pitchFamily="34" charset="0"/>
                  <a:ea typeface="楷体_GB2312" pitchFamily="49" charset="-122"/>
                </a:rPr>
                <a:t>2.</a:t>
              </a:r>
              <a:r>
                <a:rPr kumimoji="1" lang="zh-CN" altLang="en-US" sz="1600" b="1">
                  <a:solidFill>
                    <a:srgbClr val="0000CC"/>
                  </a:solidFill>
                  <a:latin typeface="Arial Black" pitchFamily="34" charset="0"/>
                  <a:ea typeface="楷体_GB2312" pitchFamily="49" charset="-122"/>
                </a:rPr>
                <a:t>在客户端进行访问</a:t>
              </a:r>
            </a:p>
          </p:txBody>
        </p:sp>
        <p:sp>
          <p:nvSpPr>
            <p:cNvPr id="25627" name="Line 28"/>
            <p:cNvSpPr>
              <a:spLocks noChangeShapeType="1"/>
            </p:cNvSpPr>
            <p:nvPr/>
          </p:nvSpPr>
          <p:spPr bwMode="auto">
            <a:xfrm flipV="1">
              <a:off x="1632" y="3408"/>
              <a:ext cx="240" cy="336"/>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5628" name="Text Box 29"/>
            <p:cNvSpPr txBox="1">
              <a:spLocks noChangeArrowheads="1"/>
            </p:cNvSpPr>
            <p:nvPr/>
          </p:nvSpPr>
          <p:spPr bwMode="auto">
            <a:xfrm>
              <a:off x="1728" y="3762"/>
              <a:ext cx="1632" cy="397"/>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  </a:t>
              </a:r>
              <a:r>
                <a:rPr kumimoji="1" lang="en-US" altLang="zh-CN" sz="1600" b="1">
                  <a:solidFill>
                    <a:srgbClr val="0000CC"/>
                  </a:solidFill>
                  <a:latin typeface="Arial Black" pitchFamily="34" charset="0"/>
                  <a:ea typeface="楷体_GB2312" pitchFamily="49" charset="-122"/>
                </a:rPr>
                <a:t>3.</a:t>
              </a:r>
              <a:r>
                <a:rPr kumimoji="1" lang="zh-CN" altLang="en-US" sz="1600" b="1">
                  <a:solidFill>
                    <a:srgbClr val="0000CC"/>
                  </a:solidFill>
                  <a:latin typeface="Arial Black" pitchFamily="34" charset="0"/>
                  <a:ea typeface="楷体_GB2312" pitchFamily="49" charset="-122"/>
                </a:rPr>
                <a:t>当客户端工作完毕后，文件又移回服务器</a:t>
              </a:r>
            </a:p>
          </p:txBody>
        </p:sp>
        <p:sp>
          <p:nvSpPr>
            <p:cNvPr id="25629" name="Line 30"/>
            <p:cNvSpPr>
              <a:spLocks noChangeShapeType="1"/>
            </p:cNvSpPr>
            <p:nvPr/>
          </p:nvSpPr>
          <p:spPr bwMode="auto">
            <a:xfrm flipV="1">
              <a:off x="2496" y="3504"/>
              <a:ext cx="240" cy="240"/>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5630" name="Text Box 31"/>
            <p:cNvSpPr txBox="1">
              <a:spLocks noChangeArrowheads="1"/>
            </p:cNvSpPr>
            <p:nvPr/>
          </p:nvSpPr>
          <p:spPr bwMode="auto">
            <a:xfrm>
              <a:off x="4272" y="2812"/>
              <a:ext cx="624" cy="230"/>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老文件</a:t>
              </a:r>
            </a:p>
          </p:txBody>
        </p:sp>
        <p:sp>
          <p:nvSpPr>
            <p:cNvPr id="25631" name="Text Box 32"/>
            <p:cNvSpPr txBox="1">
              <a:spLocks noChangeArrowheads="1"/>
            </p:cNvSpPr>
            <p:nvPr/>
          </p:nvSpPr>
          <p:spPr bwMode="auto">
            <a:xfrm>
              <a:off x="4272" y="3312"/>
              <a:ext cx="624" cy="230"/>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新文件</a:t>
              </a:r>
            </a:p>
          </p:txBody>
        </p:sp>
        <p:sp>
          <p:nvSpPr>
            <p:cNvPr id="25632" name="Line 33"/>
            <p:cNvSpPr>
              <a:spLocks noChangeShapeType="1"/>
            </p:cNvSpPr>
            <p:nvPr/>
          </p:nvSpPr>
          <p:spPr bwMode="auto">
            <a:xfrm flipH="1">
              <a:off x="3696" y="2928"/>
              <a:ext cx="576" cy="144"/>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5633" name="Line 34"/>
            <p:cNvSpPr>
              <a:spLocks noChangeShapeType="1"/>
            </p:cNvSpPr>
            <p:nvPr/>
          </p:nvSpPr>
          <p:spPr bwMode="auto">
            <a:xfrm flipH="1">
              <a:off x="3744" y="3456"/>
              <a:ext cx="576" cy="0"/>
            </a:xfrm>
            <a:prstGeom prst="line">
              <a:avLst/>
            </a:prstGeom>
            <a:noFill/>
            <a:ln w="9525">
              <a:solidFill>
                <a:srgbClr val="000000"/>
              </a:solidFill>
              <a:round/>
              <a:headEnd type="none" w="sm" len="sm"/>
              <a:tailEnd type="triangle" w="lg" len="med"/>
            </a:ln>
          </p:spPr>
          <p:txBody>
            <a:bodyPr anchor="ctr"/>
            <a:lstStyle/>
            <a:p>
              <a:endParaRPr lang="zh-CN" altLang="en-US"/>
            </a:p>
          </p:txBody>
        </p:sp>
      </p:grpSp>
      <p:sp>
        <p:nvSpPr>
          <p:cNvPr id="25605" name="Rectangle 54"/>
          <p:cNvSpPr>
            <a:spLocks noGrp="1"/>
          </p:cNvSpPr>
          <p:nvPr>
            <p:ph type="body" idx="1"/>
          </p:nvPr>
        </p:nvSpPr>
        <p:spPr>
          <a:xfrm>
            <a:off x="395288" y="1557338"/>
            <a:ext cx="8539162" cy="4800600"/>
          </a:xfrm>
          <a:noFill/>
        </p:spPr>
        <p:txBody>
          <a:bodyPr/>
          <a:lstStyle/>
          <a:p>
            <a:r>
              <a:rPr lang="zh-CN" altLang="en-US" smtClean="0">
                <a:latin typeface="华文中宋" pitchFamily="2" charset="-122"/>
              </a:rPr>
              <a:t>文件服务分类</a:t>
            </a:r>
          </a:p>
          <a:p>
            <a:pPr lvl="1"/>
            <a:r>
              <a:rPr lang="zh-CN" altLang="en-US" smtClean="0">
                <a:solidFill>
                  <a:schemeClr val="accent2"/>
                </a:solidFill>
                <a:latin typeface="华文中宋" pitchFamily="2" charset="-122"/>
              </a:rPr>
              <a:t>上载</a:t>
            </a:r>
            <a:r>
              <a:rPr lang="en-US" altLang="zh-CN" smtClean="0">
                <a:solidFill>
                  <a:schemeClr val="accent2"/>
                </a:solidFill>
                <a:latin typeface="华文中宋" pitchFamily="2" charset="-122"/>
              </a:rPr>
              <a:t>/</a:t>
            </a:r>
            <a:r>
              <a:rPr lang="zh-CN" altLang="en-US" smtClean="0">
                <a:solidFill>
                  <a:schemeClr val="accent2"/>
                </a:solidFill>
                <a:latin typeface="华文中宋" pitchFamily="2" charset="-122"/>
              </a:rPr>
              <a:t>下载模式</a:t>
            </a:r>
            <a:r>
              <a:rPr lang="zh-CN" altLang="en-US" smtClean="0">
                <a:solidFill>
                  <a:srgbClr val="06070E"/>
                </a:solidFill>
                <a:latin typeface="华文中宋" pitchFamily="2" charset="-122"/>
              </a:rPr>
              <a:t>：文件服务只提供两种主要的操作：读文件和写文件。读文件将整个文件从一个文件服务器传送到提出请求的客户机。写操作将整个文件从客户机传送到服务器。</a:t>
            </a:r>
            <a:r>
              <a:rPr lang="zh-CN" altLang="en-US" smtClean="0">
                <a:solidFill>
                  <a:srgbClr val="06070E"/>
                </a:solidFill>
              </a:rPr>
              <a:t>          </a:t>
            </a:r>
          </a:p>
          <a:p>
            <a:pPr algn="just" eaLnBrk="1" hangingPunct="1">
              <a:spcBef>
                <a:spcPct val="20000"/>
              </a:spcBef>
              <a:buClr>
                <a:schemeClr val="tx2"/>
              </a:buClr>
              <a:buSzTx/>
              <a:buFont typeface="Wingdings" pitchFamily="2" charset="2"/>
              <a:buNone/>
            </a:pPr>
            <a:endParaRPr lang="zh-CN" altLang="en-US"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FD1FB7A9-C521-44A7-9A01-10F706249F5F}" type="slidenum">
              <a:rPr lang="zh-CN" altLang="en-US"/>
              <a:pPr>
                <a:defRPr/>
              </a:pPr>
              <a:t>25</a:t>
            </a:fld>
            <a:endParaRPr lang="zh-CN" altLang="en-US"/>
          </a:p>
        </p:txBody>
      </p:sp>
      <p:sp>
        <p:nvSpPr>
          <p:cNvPr id="26627" name="Rectangle 2"/>
          <p:cNvSpPr>
            <a:spLocks noGrp="1"/>
          </p:cNvSpPr>
          <p:nvPr>
            <p:ph type="title"/>
          </p:nvPr>
        </p:nvSpPr>
        <p:spPr/>
        <p:txBody>
          <a:bodyPr/>
          <a:lstStyle/>
          <a:p>
            <a:r>
              <a:rPr lang="zh-CN" altLang="en-US" smtClean="0"/>
              <a:t>文件服务</a:t>
            </a:r>
          </a:p>
        </p:txBody>
      </p:sp>
      <p:sp>
        <p:nvSpPr>
          <p:cNvPr id="26628" name="Rectangle 6"/>
          <p:cNvSpPr>
            <a:spLocks noGrp="1"/>
          </p:cNvSpPr>
          <p:nvPr>
            <p:ph type="body" idx="1"/>
          </p:nvPr>
        </p:nvSpPr>
        <p:spPr>
          <a:xfrm>
            <a:off x="323850" y="1628775"/>
            <a:ext cx="8539163" cy="4800600"/>
          </a:xfrm>
          <a:noFill/>
        </p:spPr>
        <p:txBody>
          <a:bodyPr/>
          <a:lstStyle/>
          <a:p>
            <a:r>
              <a:rPr lang="zh-CN" altLang="en-US" smtClean="0"/>
              <a:t>文件服务分类</a:t>
            </a:r>
          </a:p>
          <a:p>
            <a:pPr lvl="1"/>
            <a:r>
              <a:rPr lang="zh-CN" altLang="en-US" smtClean="0">
                <a:solidFill>
                  <a:srgbClr val="06070E"/>
                </a:solidFill>
              </a:rPr>
              <a:t>上载</a:t>
            </a:r>
            <a:r>
              <a:rPr lang="en-US" altLang="zh-CN" smtClean="0">
                <a:solidFill>
                  <a:srgbClr val="06070E"/>
                </a:solidFill>
              </a:rPr>
              <a:t>/</a:t>
            </a:r>
            <a:r>
              <a:rPr lang="zh-CN" altLang="en-US" smtClean="0">
                <a:solidFill>
                  <a:srgbClr val="06070E"/>
                </a:solidFill>
              </a:rPr>
              <a:t>下载模式</a:t>
            </a:r>
          </a:p>
          <a:p>
            <a:pPr lvl="2"/>
            <a:r>
              <a:rPr lang="zh-CN" altLang="en-US" smtClean="0">
                <a:solidFill>
                  <a:srgbClr val="06070E"/>
                </a:solidFill>
              </a:rPr>
              <a:t>优点：概念简单。使用这种模式不需要掌握复杂的文件接口。整个文件的传送是高效的。</a:t>
            </a:r>
          </a:p>
          <a:p>
            <a:pPr lvl="2"/>
            <a:r>
              <a:rPr lang="zh-CN" altLang="en-US" smtClean="0">
                <a:solidFill>
                  <a:srgbClr val="06070E"/>
                </a:solidFill>
              </a:rPr>
              <a:t>缺点：客户端必须具有足够大的存储空间来存储所需的所有文件。如果只需要文件的一小部分，移动整个文件是很浪费的。</a:t>
            </a:r>
            <a:endParaRPr lang="zh-CN" altLang="en-US"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9"/>
          <p:cNvSpPr>
            <a:spLocks noGrp="1"/>
          </p:cNvSpPr>
          <p:nvPr>
            <p:ph type="sldNum" sz="quarter" idx="12"/>
          </p:nvPr>
        </p:nvSpPr>
        <p:spPr/>
        <p:txBody>
          <a:bodyPr/>
          <a:lstStyle/>
          <a:p>
            <a:pPr>
              <a:defRPr/>
            </a:pPr>
            <a:fld id="{31935437-2DF7-427D-AEA2-C4EB3E0FDFD1}" type="slidenum">
              <a:rPr lang="zh-CN" altLang="en-US"/>
              <a:pPr>
                <a:defRPr/>
              </a:pPr>
              <a:t>26</a:t>
            </a:fld>
            <a:endParaRPr lang="zh-CN" altLang="en-US"/>
          </a:p>
        </p:txBody>
      </p:sp>
      <p:sp>
        <p:nvSpPr>
          <p:cNvPr id="27651" name="Rectangle 2"/>
          <p:cNvSpPr>
            <a:spLocks noGrp="1"/>
          </p:cNvSpPr>
          <p:nvPr>
            <p:ph type="title"/>
          </p:nvPr>
        </p:nvSpPr>
        <p:spPr/>
        <p:txBody>
          <a:bodyPr/>
          <a:lstStyle/>
          <a:p>
            <a:r>
              <a:rPr lang="zh-CN" altLang="en-US" sz="4000" smtClean="0"/>
              <a:t>文件服务</a:t>
            </a:r>
          </a:p>
        </p:txBody>
      </p:sp>
      <p:grpSp>
        <p:nvGrpSpPr>
          <p:cNvPr id="27652" name="Group 25"/>
          <p:cNvGrpSpPr>
            <a:grpSpLocks/>
          </p:cNvGrpSpPr>
          <p:nvPr/>
        </p:nvGrpSpPr>
        <p:grpSpPr bwMode="auto">
          <a:xfrm>
            <a:off x="2084388" y="4292600"/>
            <a:ext cx="5943600" cy="2071688"/>
            <a:chOff x="1313" y="2704"/>
            <a:chExt cx="3744" cy="1305"/>
          </a:xfrm>
        </p:grpSpPr>
        <p:sp>
          <p:nvSpPr>
            <p:cNvPr id="27654" name="Rectangle 7"/>
            <p:cNvSpPr>
              <a:spLocks noChangeArrowheads="1"/>
            </p:cNvSpPr>
            <p:nvPr/>
          </p:nvSpPr>
          <p:spPr bwMode="auto">
            <a:xfrm>
              <a:off x="1313" y="2990"/>
              <a:ext cx="1062" cy="492"/>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7655" name="Rectangle 8"/>
            <p:cNvSpPr>
              <a:spLocks noChangeArrowheads="1"/>
            </p:cNvSpPr>
            <p:nvPr/>
          </p:nvSpPr>
          <p:spPr bwMode="auto">
            <a:xfrm>
              <a:off x="3259" y="3001"/>
              <a:ext cx="1061" cy="475"/>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7656" name="Rectangle 9"/>
            <p:cNvSpPr>
              <a:spLocks noChangeArrowheads="1"/>
            </p:cNvSpPr>
            <p:nvPr/>
          </p:nvSpPr>
          <p:spPr bwMode="auto">
            <a:xfrm>
              <a:off x="3553" y="3125"/>
              <a:ext cx="119" cy="246"/>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7657" name="Rectangle 10"/>
            <p:cNvSpPr>
              <a:spLocks noChangeArrowheads="1"/>
            </p:cNvSpPr>
            <p:nvPr/>
          </p:nvSpPr>
          <p:spPr bwMode="auto">
            <a:xfrm>
              <a:off x="3672" y="3125"/>
              <a:ext cx="117" cy="246"/>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7658" name="Rectangle 11"/>
            <p:cNvSpPr>
              <a:spLocks noChangeArrowheads="1"/>
            </p:cNvSpPr>
            <p:nvPr/>
          </p:nvSpPr>
          <p:spPr bwMode="auto">
            <a:xfrm>
              <a:off x="3792" y="3129"/>
              <a:ext cx="119" cy="245"/>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7659" name="Rectangle 12"/>
            <p:cNvSpPr>
              <a:spLocks noChangeArrowheads="1"/>
            </p:cNvSpPr>
            <p:nvPr/>
          </p:nvSpPr>
          <p:spPr bwMode="auto">
            <a:xfrm>
              <a:off x="3907" y="3129"/>
              <a:ext cx="119" cy="245"/>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27660" name="Text Box 13"/>
            <p:cNvSpPr txBox="1">
              <a:spLocks noChangeArrowheads="1"/>
            </p:cNvSpPr>
            <p:nvPr/>
          </p:nvSpPr>
          <p:spPr bwMode="auto">
            <a:xfrm>
              <a:off x="1489" y="2704"/>
              <a:ext cx="767" cy="212"/>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客户机</a:t>
              </a:r>
            </a:p>
          </p:txBody>
        </p:sp>
        <p:sp>
          <p:nvSpPr>
            <p:cNvPr id="27661" name="Text Box 14"/>
            <p:cNvSpPr txBox="1">
              <a:spLocks noChangeArrowheads="1"/>
            </p:cNvSpPr>
            <p:nvPr/>
          </p:nvSpPr>
          <p:spPr bwMode="auto">
            <a:xfrm>
              <a:off x="3435" y="2712"/>
              <a:ext cx="767" cy="212"/>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服务器</a:t>
              </a:r>
            </a:p>
          </p:txBody>
        </p:sp>
        <p:sp>
          <p:nvSpPr>
            <p:cNvPr id="27662" name="Text Box 15"/>
            <p:cNvSpPr txBox="1">
              <a:spLocks noChangeArrowheads="1"/>
            </p:cNvSpPr>
            <p:nvPr/>
          </p:nvSpPr>
          <p:spPr bwMode="auto">
            <a:xfrm>
              <a:off x="1610" y="3566"/>
              <a:ext cx="2139" cy="443"/>
            </a:xfrm>
            <a:prstGeom prst="rect">
              <a:avLst/>
            </a:prstGeom>
            <a:noFill/>
            <a:ln w="9525">
              <a:noFill/>
              <a:miter lim="800000"/>
              <a:headEnd type="none" w="sm" len="sm"/>
              <a:tailEnd type="none" w="sm" len="sm"/>
            </a:ln>
          </p:spPr>
          <p:txBody>
            <a:bodyPr>
              <a:spAutoFit/>
            </a:bodyPr>
            <a:lstStyle/>
            <a:p>
              <a:pPr marL="342900" indent="-342900" algn="ctr">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客户请求访问</a:t>
              </a:r>
            </a:p>
            <a:p>
              <a:pPr marL="342900" indent="-342900" algn="ctr">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远程服务器上的文件</a:t>
              </a:r>
            </a:p>
          </p:txBody>
        </p:sp>
        <p:sp>
          <p:nvSpPr>
            <p:cNvPr id="27663" name="Line 16"/>
            <p:cNvSpPr>
              <a:spLocks noChangeShapeType="1"/>
            </p:cNvSpPr>
            <p:nvPr/>
          </p:nvSpPr>
          <p:spPr bwMode="auto">
            <a:xfrm>
              <a:off x="2384" y="3054"/>
              <a:ext cx="835" cy="0"/>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7664" name="Line 17"/>
            <p:cNvSpPr>
              <a:spLocks noChangeShapeType="1"/>
            </p:cNvSpPr>
            <p:nvPr/>
          </p:nvSpPr>
          <p:spPr bwMode="auto">
            <a:xfrm>
              <a:off x="2384" y="3321"/>
              <a:ext cx="835" cy="0"/>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7665" name="Line 18"/>
            <p:cNvSpPr>
              <a:spLocks noChangeShapeType="1"/>
            </p:cNvSpPr>
            <p:nvPr/>
          </p:nvSpPr>
          <p:spPr bwMode="auto">
            <a:xfrm flipH="1">
              <a:off x="2415" y="3128"/>
              <a:ext cx="780" cy="0"/>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7666" name="Line 19"/>
            <p:cNvSpPr>
              <a:spLocks noChangeShapeType="1"/>
            </p:cNvSpPr>
            <p:nvPr/>
          </p:nvSpPr>
          <p:spPr bwMode="auto">
            <a:xfrm flipH="1">
              <a:off x="2419" y="3394"/>
              <a:ext cx="779" cy="0"/>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7667" name="Text Box 20"/>
            <p:cNvSpPr txBox="1">
              <a:spLocks noChangeArrowheads="1"/>
            </p:cNvSpPr>
            <p:nvPr/>
          </p:nvSpPr>
          <p:spPr bwMode="auto">
            <a:xfrm>
              <a:off x="3442" y="3779"/>
              <a:ext cx="1615" cy="212"/>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文件保存在服务器上</a:t>
              </a:r>
            </a:p>
          </p:txBody>
        </p:sp>
        <p:sp>
          <p:nvSpPr>
            <p:cNvPr id="27668" name="Line 21"/>
            <p:cNvSpPr>
              <a:spLocks noChangeShapeType="1"/>
            </p:cNvSpPr>
            <p:nvPr/>
          </p:nvSpPr>
          <p:spPr bwMode="auto">
            <a:xfrm flipH="1" flipV="1">
              <a:off x="3832" y="3428"/>
              <a:ext cx="445" cy="320"/>
            </a:xfrm>
            <a:prstGeom prst="line">
              <a:avLst/>
            </a:prstGeom>
            <a:noFill/>
            <a:ln w="9525">
              <a:solidFill>
                <a:srgbClr val="000000"/>
              </a:solidFill>
              <a:round/>
              <a:headEnd type="none" w="sm" len="sm"/>
              <a:tailEnd type="triangle" w="lg" len="med"/>
            </a:ln>
          </p:spPr>
          <p:txBody>
            <a:bodyPr anchor="ctr"/>
            <a:lstStyle/>
            <a:p>
              <a:endParaRPr lang="zh-CN" altLang="en-US"/>
            </a:p>
          </p:txBody>
        </p:sp>
      </p:grpSp>
      <p:sp>
        <p:nvSpPr>
          <p:cNvPr id="27653" name="Rectangle 24"/>
          <p:cNvSpPr>
            <a:spLocks noGrp="1"/>
          </p:cNvSpPr>
          <p:nvPr>
            <p:ph type="body" idx="1"/>
          </p:nvPr>
        </p:nvSpPr>
        <p:spPr>
          <a:xfrm>
            <a:off x="323850" y="1628775"/>
            <a:ext cx="8539163" cy="4800600"/>
          </a:xfrm>
          <a:noFill/>
        </p:spPr>
        <p:txBody>
          <a:bodyPr/>
          <a:lstStyle/>
          <a:p>
            <a:r>
              <a:rPr lang="zh-CN" altLang="en-US" smtClean="0"/>
              <a:t>文件服务分类</a:t>
            </a:r>
          </a:p>
          <a:p>
            <a:pPr lvl="1"/>
            <a:r>
              <a:rPr lang="zh-CN" altLang="en-US" smtClean="0">
                <a:solidFill>
                  <a:schemeClr val="accent2"/>
                </a:solidFill>
              </a:rPr>
              <a:t>远程访问模式</a:t>
            </a:r>
            <a:r>
              <a:rPr lang="zh-CN" altLang="en-US" smtClean="0">
                <a:solidFill>
                  <a:srgbClr val="06070E"/>
                </a:solidFill>
              </a:rPr>
              <a:t>：文件服务提供了大量的操作用于打开和关闭文件，读写文件的一部分，在文件中来回移动，检查和改变文件属性等。</a:t>
            </a:r>
          </a:p>
          <a:p>
            <a:pPr lvl="2"/>
            <a:r>
              <a:rPr lang="zh-CN" altLang="en-US" smtClean="0">
                <a:solidFill>
                  <a:srgbClr val="06070E"/>
                </a:solidFill>
              </a:rPr>
              <a:t>优点：在客户端不需要很大的空间，当仅需要文件的一小部分时，不需要传送整个文件。</a:t>
            </a:r>
          </a:p>
          <a:p>
            <a:pPr lvl="1"/>
            <a:endParaRPr lang="zh-CN" altLang="en-US" smtClean="0">
              <a:solidFill>
                <a:srgbClr val="06070E"/>
              </a:solidFill>
            </a:endParaRPr>
          </a:p>
          <a:p>
            <a:pPr eaLnBrk="1" hangingPunct="1">
              <a:spcBef>
                <a:spcPct val="0"/>
              </a:spcBef>
              <a:buClrTx/>
              <a:buSzTx/>
              <a:buFontTx/>
              <a:buNone/>
            </a:pPr>
            <a:endParaRPr lang="zh-CN" altLang="en-US"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9"/>
          <p:cNvSpPr>
            <a:spLocks noGrp="1"/>
          </p:cNvSpPr>
          <p:nvPr>
            <p:ph type="sldNum" sz="quarter" idx="12"/>
          </p:nvPr>
        </p:nvSpPr>
        <p:spPr/>
        <p:txBody>
          <a:bodyPr/>
          <a:lstStyle/>
          <a:p>
            <a:pPr>
              <a:defRPr/>
            </a:pPr>
            <a:fld id="{54F6BE81-7B18-4DD2-B387-53F6B24C791B}" type="slidenum">
              <a:rPr lang="zh-CN" altLang="en-US"/>
              <a:pPr>
                <a:defRPr/>
              </a:pPr>
              <a:t>27</a:t>
            </a:fld>
            <a:endParaRPr lang="zh-CN" altLang="en-US"/>
          </a:p>
        </p:txBody>
      </p:sp>
      <p:sp>
        <p:nvSpPr>
          <p:cNvPr id="28675" name="Rectangle 2"/>
          <p:cNvSpPr>
            <a:spLocks noGrp="1"/>
          </p:cNvSpPr>
          <p:nvPr>
            <p:ph type="title"/>
          </p:nvPr>
        </p:nvSpPr>
        <p:spPr/>
        <p:txBody>
          <a:bodyPr/>
          <a:lstStyle/>
          <a:p>
            <a:r>
              <a:rPr lang="zh-CN" altLang="en-US" sz="4000" smtClean="0"/>
              <a:t>目录服务</a:t>
            </a:r>
          </a:p>
        </p:txBody>
      </p:sp>
      <p:sp>
        <p:nvSpPr>
          <p:cNvPr id="28676" name="Text Box 5"/>
          <p:cNvSpPr txBox="1">
            <a:spLocks noChangeArrowheads="1"/>
          </p:cNvSpPr>
          <p:nvPr/>
        </p:nvSpPr>
        <p:spPr bwMode="auto">
          <a:xfrm>
            <a:off x="4356100" y="5807075"/>
            <a:ext cx="7162800" cy="396875"/>
          </a:xfrm>
          <a:prstGeom prst="rect">
            <a:avLst/>
          </a:prstGeom>
          <a:noFill/>
          <a:ln w="9525">
            <a:noFill/>
            <a:miter lim="800000"/>
            <a:headEnd type="none" w="sm" len="sm"/>
            <a:tailEnd type="none" w="sm" len="sm"/>
          </a:ln>
        </p:spPr>
        <p:txBody>
          <a:bodyPr>
            <a:spAutoFit/>
          </a:bodyPr>
          <a:lstStyle/>
          <a:p>
            <a:pPr marL="342900" indent="-342900" algn="just">
              <a:spcBef>
                <a:spcPct val="20000"/>
              </a:spcBef>
              <a:buClr>
                <a:schemeClr val="tx2"/>
              </a:buClr>
              <a:buFont typeface="Wingdings" pitchFamily="2" charset="2"/>
              <a:buNone/>
            </a:pPr>
            <a:r>
              <a:rPr lang="zh-CN" altLang="en-US" sz="2000" b="1">
                <a:solidFill>
                  <a:srgbClr val="06070E"/>
                </a:solidFill>
                <a:latin typeface="Arial Black" pitchFamily="34" charset="0"/>
              </a:rPr>
              <a:t>  </a:t>
            </a:r>
            <a:endParaRPr lang="zh-CN" altLang="en-US" sz="2000" b="1">
              <a:solidFill>
                <a:srgbClr val="06070E"/>
              </a:solidFill>
              <a:latin typeface="宋体" pitchFamily="2" charset="-122"/>
            </a:endParaRPr>
          </a:p>
        </p:txBody>
      </p:sp>
      <p:grpSp>
        <p:nvGrpSpPr>
          <p:cNvPr id="28677" name="Group 21"/>
          <p:cNvGrpSpPr>
            <a:grpSpLocks/>
          </p:cNvGrpSpPr>
          <p:nvPr/>
        </p:nvGrpSpPr>
        <p:grpSpPr bwMode="auto">
          <a:xfrm>
            <a:off x="1476375" y="3789363"/>
            <a:ext cx="6781800" cy="2378075"/>
            <a:chOff x="1137" y="2400"/>
            <a:chExt cx="4272" cy="1498"/>
          </a:xfrm>
        </p:grpSpPr>
        <p:grpSp>
          <p:nvGrpSpPr>
            <p:cNvPr id="28679" name="Group 6"/>
            <p:cNvGrpSpPr>
              <a:grpSpLocks/>
            </p:cNvGrpSpPr>
            <p:nvPr/>
          </p:nvGrpSpPr>
          <p:grpSpPr bwMode="auto">
            <a:xfrm>
              <a:off x="1137" y="2592"/>
              <a:ext cx="1488" cy="960"/>
              <a:chOff x="1872" y="2832"/>
              <a:chExt cx="1488" cy="960"/>
            </a:xfrm>
          </p:grpSpPr>
          <p:sp>
            <p:nvSpPr>
              <p:cNvPr id="28683" name="Rectangle 7"/>
              <p:cNvSpPr>
                <a:spLocks noChangeArrowheads="1"/>
              </p:cNvSpPr>
              <p:nvPr/>
            </p:nvSpPr>
            <p:spPr bwMode="auto">
              <a:xfrm>
                <a:off x="2640" y="2832"/>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A</a:t>
                </a:r>
              </a:p>
            </p:txBody>
          </p:sp>
          <p:sp>
            <p:nvSpPr>
              <p:cNvPr id="28684" name="Rectangle 8"/>
              <p:cNvSpPr>
                <a:spLocks noChangeArrowheads="1"/>
              </p:cNvSpPr>
              <p:nvPr/>
            </p:nvSpPr>
            <p:spPr bwMode="auto">
              <a:xfrm>
                <a:off x="2208" y="3216"/>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B</a:t>
                </a:r>
              </a:p>
            </p:txBody>
          </p:sp>
          <p:sp>
            <p:nvSpPr>
              <p:cNvPr id="28685" name="Rectangle 9"/>
              <p:cNvSpPr>
                <a:spLocks noChangeArrowheads="1"/>
              </p:cNvSpPr>
              <p:nvPr/>
            </p:nvSpPr>
            <p:spPr bwMode="auto">
              <a:xfrm>
                <a:off x="3024" y="3216"/>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C</a:t>
                </a:r>
              </a:p>
            </p:txBody>
          </p:sp>
          <p:sp>
            <p:nvSpPr>
              <p:cNvPr id="28686" name="Rectangle 10"/>
              <p:cNvSpPr>
                <a:spLocks noChangeArrowheads="1"/>
              </p:cNvSpPr>
              <p:nvPr/>
            </p:nvSpPr>
            <p:spPr bwMode="auto">
              <a:xfrm>
                <a:off x="1872" y="3600"/>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D</a:t>
                </a:r>
              </a:p>
            </p:txBody>
          </p:sp>
          <p:sp>
            <p:nvSpPr>
              <p:cNvPr id="28687" name="Rectangle 11"/>
              <p:cNvSpPr>
                <a:spLocks noChangeArrowheads="1"/>
              </p:cNvSpPr>
              <p:nvPr/>
            </p:nvSpPr>
            <p:spPr bwMode="auto">
              <a:xfrm>
                <a:off x="2544" y="3600"/>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E</a:t>
                </a:r>
              </a:p>
            </p:txBody>
          </p:sp>
          <p:sp>
            <p:nvSpPr>
              <p:cNvPr id="28688" name="Line 12"/>
              <p:cNvSpPr>
                <a:spLocks noChangeShapeType="1"/>
              </p:cNvSpPr>
              <p:nvPr/>
            </p:nvSpPr>
            <p:spPr bwMode="auto">
              <a:xfrm flipH="1">
                <a:off x="2448" y="3024"/>
                <a:ext cx="240" cy="192"/>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28689" name="Line 13"/>
              <p:cNvSpPr>
                <a:spLocks noChangeShapeType="1"/>
              </p:cNvSpPr>
              <p:nvPr/>
            </p:nvSpPr>
            <p:spPr bwMode="auto">
              <a:xfrm>
                <a:off x="2928" y="3024"/>
                <a:ext cx="192" cy="192"/>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28690" name="Line 14"/>
              <p:cNvSpPr>
                <a:spLocks noChangeShapeType="1"/>
              </p:cNvSpPr>
              <p:nvPr/>
            </p:nvSpPr>
            <p:spPr bwMode="auto">
              <a:xfrm flipH="1">
                <a:off x="2064" y="3456"/>
                <a:ext cx="192" cy="144"/>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28691" name="Line 15"/>
              <p:cNvSpPr>
                <a:spLocks noChangeShapeType="1"/>
              </p:cNvSpPr>
              <p:nvPr/>
            </p:nvSpPr>
            <p:spPr bwMode="auto">
              <a:xfrm>
                <a:off x="2496" y="3456"/>
                <a:ext cx="144" cy="144"/>
              </a:xfrm>
              <a:prstGeom prst="line">
                <a:avLst/>
              </a:prstGeom>
              <a:noFill/>
              <a:ln w="9525">
                <a:solidFill>
                  <a:srgbClr val="000000"/>
                </a:solidFill>
                <a:round/>
                <a:headEnd type="none" w="sm" len="sm"/>
                <a:tailEnd type="none" w="sm" len="sm"/>
              </a:ln>
            </p:spPr>
            <p:txBody>
              <a:bodyPr anchor="ctr"/>
              <a:lstStyle/>
              <a:p>
                <a:endParaRPr lang="zh-CN" altLang="en-US"/>
              </a:p>
            </p:txBody>
          </p:sp>
        </p:grpSp>
        <p:sp>
          <p:nvSpPr>
            <p:cNvPr id="28680" name="Text Box 16"/>
            <p:cNvSpPr txBox="1">
              <a:spLocks noChangeArrowheads="1"/>
            </p:cNvSpPr>
            <p:nvPr/>
          </p:nvSpPr>
          <p:spPr bwMode="auto">
            <a:xfrm>
              <a:off x="1857" y="3648"/>
              <a:ext cx="2064" cy="250"/>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2000" b="1">
                  <a:solidFill>
                    <a:srgbClr val="0000CC"/>
                  </a:solidFill>
                  <a:latin typeface="Arial Black" pitchFamily="34" charset="0"/>
                  <a:ea typeface="楷体_GB2312" pitchFamily="49" charset="-122"/>
                </a:rPr>
                <a:t>一棵有</a:t>
              </a:r>
              <a:r>
                <a:rPr kumimoji="1" lang="en-US" altLang="zh-CN" sz="2000" b="1">
                  <a:solidFill>
                    <a:srgbClr val="0000CC"/>
                  </a:solidFill>
                  <a:latin typeface="Arial Black" pitchFamily="34" charset="0"/>
                  <a:ea typeface="楷体_GB2312" pitchFamily="49" charset="-122"/>
                </a:rPr>
                <a:t>5</a:t>
              </a:r>
              <a:r>
                <a:rPr kumimoji="1" lang="zh-CN" altLang="en-US" sz="2000" b="1">
                  <a:solidFill>
                    <a:srgbClr val="0000CC"/>
                  </a:solidFill>
                  <a:latin typeface="Arial Black" pitchFamily="34" charset="0"/>
                  <a:ea typeface="楷体_GB2312" pitchFamily="49" charset="-122"/>
                </a:rPr>
                <a:t>个目录的树</a:t>
              </a:r>
            </a:p>
          </p:txBody>
        </p:sp>
        <p:sp>
          <p:nvSpPr>
            <p:cNvPr id="28681" name="AutoShape 17"/>
            <p:cNvSpPr>
              <a:spLocks noChangeArrowheads="1"/>
            </p:cNvSpPr>
            <p:nvPr/>
          </p:nvSpPr>
          <p:spPr bwMode="auto">
            <a:xfrm>
              <a:off x="3681" y="2400"/>
              <a:ext cx="1728" cy="816"/>
            </a:xfrm>
            <a:prstGeom prst="cloudCallout">
              <a:avLst>
                <a:gd name="adj1" fmla="val -98148"/>
                <a:gd name="adj2" fmla="val 95222"/>
              </a:avLst>
            </a:prstGeom>
            <a:noFill/>
            <a:ln w="9525">
              <a:solidFill>
                <a:srgbClr val="000000"/>
              </a:solidFill>
              <a:round/>
              <a:headEnd type="none" w="sm" len="sm"/>
              <a:tailEnd type="none" w="sm" len="sm"/>
            </a:ln>
          </p:spPr>
          <p:txBody>
            <a:bodyPr lIns="0" tIns="0" rIns="0" bIns="0" anchor="ctr"/>
            <a:lstStyle/>
            <a:p>
              <a:pPr marL="342900" indent="-342900" algn="ctr">
                <a:spcBef>
                  <a:spcPct val="20000"/>
                </a:spcBef>
                <a:buClr>
                  <a:schemeClr val="tx2"/>
                </a:buClr>
                <a:buFont typeface="Wingdings" pitchFamily="2" charset="2"/>
                <a:buNone/>
              </a:pPr>
              <a:endParaRPr kumimoji="1" lang="zh-CN" altLang="en-US" sz="1600" b="1">
                <a:solidFill>
                  <a:srgbClr val="0000CC"/>
                </a:solidFill>
                <a:latin typeface="Arial Black" pitchFamily="34" charset="0"/>
                <a:ea typeface="楷体_GB2312" pitchFamily="49" charset="-122"/>
              </a:endParaRPr>
            </a:p>
          </p:txBody>
        </p:sp>
        <p:sp>
          <p:nvSpPr>
            <p:cNvPr id="28682" name="Text Box 18"/>
            <p:cNvSpPr txBox="1">
              <a:spLocks noChangeArrowheads="1"/>
            </p:cNvSpPr>
            <p:nvPr/>
          </p:nvSpPr>
          <p:spPr bwMode="auto">
            <a:xfrm>
              <a:off x="3585" y="2552"/>
              <a:ext cx="1728" cy="520"/>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        在树型层次结构中，仅当目录为空时，才能删除指向该目录的连接</a:t>
              </a:r>
            </a:p>
          </p:txBody>
        </p:sp>
      </p:grpSp>
      <p:sp>
        <p:nvSpPr>
          <p:cNvPr id="28678" name="Rectangle 20"/>
          <p:cNvSpPr>
            <a:spLocks noGrp="1"/>
          </p:cNvSpPr>
          <p:nvPr>
            <p:ph type="body" idx="1"/>
          </p:nvPr>
        </p:nvSpPr>
        <p:spPr>
          <a:xfrm>
            <a:off x="323850" y="1628775"/>
            <a:ext cx="8539163" cy="4800600"/>
          </a:xfrm>
          <a:noFill/>
        </p:spPr>
        <p:txBody>
          <a:bodyPr/>
          <a:lstStyle/>
          <a:p>
            <a:r>
              <a:rPr lang="zh-CN" altLang="en-US" smtClean="0"/>
              <a:t>目录服务</a:t>
            </a:r>
          </a:p>
          <a:p>
            <a:pPr lvl="1"/>
            <a:r>
              <a:rPr lang="zh-CN" altLang="en-US" smtClean="0">
                <a:solidFill>
                  <a:srgbClr val="06070E"/>
                </a:solidFill>
              </a:rPr>
              <a:t>提供诸如创建和删除目录，命名和重命名文件以及将文件从一个目录移动到另一个目录等操作。</a:t>
            </a:r>
          </a:p>
          <a:p>
            <a:pPr lvl="1"/>
            <a:r>
              <a:rPr lang="zh-CN" altLang="en-US" smtClean="0">
                <a:solidFill>
                  <a:srgbClr val="06070E"/>
                </a:solidFill>
              </a:rPr>
              <a:t>分布式系统允许目录包含子目录，形成一棵目录树。通常 称为分层文件系统。</a:t>
            </a:r>
          </a:p>
          <a:p>
            <a:pPr lvl="1"/>
            <a:endParaRPr lang="zh-CN" altLang="en-US" smtClean="0"/>
          </a:p>
          <a:p>
            <a:pPr lvl="1"/>
            <a:endParaRPr lang="zh-CN" altLang="en-US" smtClean="0"/>
          </a:p>
          <a:p>
            <a:pPr eaLnBrk="1" hangingPunct="1">
              <a:spcBef>
                <a:spcPct val="0"/>
              </a:spcBef>
              <a:buClrTx/>
              <a:buSzTx/>
              <a:buFontTx/>
              <a:buNone/>
            </a:pPr>
            <a:endParaRPr lang="zh-CN" altLang="en-US"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9"/>
          <p:cNvSpPr>
            <a:spLocks noGrp="1"/>
          </p:cNvSpPr>
          <p:nvPr>
            <p:ph type="sldNum" sz="quarter" idx="12"/>
          </p:nvPr>
        </p:nvSpPr>
        <p:spPr/>
        <p:txBody>
          <a:bodyPr/>
          <a:lstStyle/>
          <a:p>
            <a:pPr>
              <a:defRPr/>
            </a:pPr>
            <a:fld id="{8DAEDCD6-48D0-47B8-B555-6315BCCFF1F6}" type="slidenum">
              <a:rPr lang="zh-CN" altLang="en-US"/>
              <a:pPr>
                <a:defRPr/>
              </a:pPr>
              <a:t>28</a:t>
            </a:fld>
            <a:endParaRPr lang="zh-CN" altLang="en-US"/>
          </a:p>
        </p:txBody>
      </p:sp>
      <p:sp>
        <p:nvSpPr>
          <p:cNvPr id="29699" name="Rectangle 2"/>
          <p:cNvSpPr>
            <a:spLocks noGrp="1"/>
          </p:cNvSpPr>
          <p:nvPr>
            <p:ph type="title"/>
          </p:nvPr>
        </p:nvSpPr>
        <p:spPr/>
        <p:txBody>
          <a:bodyPr/>
          <a:lstStyle/>
          <a:p>
            <a:r>
              <a:rPr lang="zh-CN" altLang="en-US" sz="4000" smtClean="0"/>
              <a:t>目录服务</a:t>
            </a:r>
          </a:p>
        </p:txBody>
      </p:sp>
      <p:grpSp>
        <p:nvGrpSpPr>
          <p:cNvPr id="29700" name="Group 6"/>
          <p:cNvGrpSpPr>
            <a:grpSpLocks/>
          </p:cNvGrpSpPr>
          <p:nvPr/>
        </p:nvGrpSpPr>
        <p:grpSpPr bwMode="auto">
          <a:xfrm>
            <a:off x="914400" y="3276600"/>
            <a:ext cx="5257800" cy="3140075"/>
            <a:chOff x="1560" y="2016"/>
            <a:chExt cx="3048" cy="1978"/>
          </a:xfrm>
        </p:grpSpPr>
        <p:grpSp>
          <p:nvGrpSpPr>
            <p:cNvPr id="29704" name="Group 7"/>
            <p:cNvGrpSpPr>
              <a:grpSpLocks/>
            </p:cNvGrpSpPr>
            <p:nvPr/>
          </p:nvGrpSpPr>
          <p:grpSpPr bwMode="auto">
            <a:xfrm>
              <a:off x="1872" y="2448"/>
              <a:ext cx="1488" cy="960"/>
              <a:chOff x="1872" y="2832"/>
              <a:chExt cx="1488" cy="960"/>
            </a:xfrm>
          </p:grpSpPr>
          <p:sp>
            <p:nvSpPr>
              <p:cNvPr id="29720" name="Rectangle 8"/>
              <p:cNvSpPr>
                <a:spLocks noChangeArrowheads="1"/>
              </p:cNvSpPr>
              <p:nvPr/>
            </p:nvSpPr>
            <p:spPr bwMode="auto">
              <a:xfrm>
                <a:off x="2640" y="2832"/>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A</a:t>
                </a:r>
              </a:p>
            </p:txBody>
          </p:sp>
          <p:sp>
            <p:nvSpPr>
              <p:cNvPr id="29721" name="Rectangle 9"/>
              <p:cNvSpPr>
                <a:spLocks noChangeArrowheads="1"/>
              </p:cNvSpPr>
              <p:nvPr/>
            </p:nvSpPr>
            <p:spPr bwMode="auto">
              <a:xfrm>
                <a:off x="2208" y="3216"/>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B</a:t>
                </a:r>
              </a:p>
            </p:txBody>
          </p:sp>
          <p:sp>
            <p:nvSpPr>
              <p:cNvPr id="29722" name="Rectangle 10"/>
              <p:cNvSpPr>
                <a:spLocks noChangeArrowheads="1"/>
              </p:cNvSpPr>
              <p:nvPr/>
            </p:nvSpPr>
            <p:spPr bwMode="auto">
              <a:xfrm>
                <a:off x="3024" y="3216"/>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C</a:t>
                </a:r>
              </a:p>
            </p:txBody>
          </p:sp>
          <p:sp>
            <p:nvSpPr>
              <p:cNvPr id="29723" name="Rectangle 11"/>
              <p:cNvSpPr>
                <a:spLocks noChangeArrowheads="1"/>
              </p:cNvSpPr>
              <p:nvPr/>
            </p:nvSpPr>
            <p:spPr bwMode="auto">
              <a:xfrm>
                <a:off x="1872" y="3600"/>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D</a:t>
                </a:r>
              </a:p>
            </p:txBody>
          </p:sp>
          <p:sp>
            <p:nvSpPr>
              <p:cNvPr id="29724" name="Rectangle 12"/>
              <p:cNvSpPr>
                <a:spLocks noChangeArrowheads="1"/>
              </p:cNvSpPr>
              <p:nvPr/>
            </p:nvSpPr>
            <p:spPr bwMode="auto">
              <a:xfrm>
                <a:off x="2544" y="3600"/>
                <a:ext cx="336"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E</a:t>
                </a:r>
              </a:p>
            </p:txBody>
          </p:sp>
          <p:sp>
            <p:nvSpPr>
              <p:cNvPr id="29725" name="Line 13"/>
              <p:cNvSpPr>
                <a:spLocks noChangeShapeType="1"/>
              </p:cNvSpPr>
              <p:nvPr/>
            </p:nvSpPr>
            <p:spPr bwMode="auto">
              <a:xfrm flipH="1">
                <a:off x="2448" y="3024"/>
                <a:ext cx="240" cy="192"/>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29726" name="Line 14"/>
              <p:cNvSpPr>
                <a:spLocks noChangeShapeType="1"/>
              </p:cNvSpPr>
              <p:nvPr/>
            </p:nvSpPr>
            <p:spPr bwMode="auto">
              <a:xfrm>
                <a:off x="2928" y="3024"/>
                <a:ext cx="192" cy="192"/>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29727" name="Line 15"/>
              <p:cNvSpPr>
                <a:spLocks noChangeShapeType="1"/>
              </p:cNvSpPr>
              <p:nvPr/>
            </p:nvSpPr>
            <p:spPr bwMode="auto">
              <a:xfrm flipH="1">
                <a:off x="2064" y="3456"/>
                <a:ext cx="192" cy="144"/>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29728" name="Line 16"/>
              <p:cNvSpPr>
                <a:spLocks noChangeShapeType="1"/>
              </p:cNvSpPr>
              <p:nvPr/>
            </p:nvSpPr>
            <p:spPr bwMode="auto">
              <a:xfrm>
                <a:off x="2496" y="3456"/>
                <a:ext cx="144" cy="144"/>
              </a:xfrm>
              <a:prstGeom prst="line">
                <a:avLst/>
              </a:prstGeom>
              <a:noFill/>
              <a:ln w="9525">
                <a:solidFill>
                  <a:srgbClr val="000000"/>
                </a:solidFill>
                <a:round/>
                <a:headEnd type="none" w="sm" len="sm"/>
                <a:tailEnd type="none" w="sm" len="sm"/>
              </a:ln>
            </p:spPr>
            <p:txBody>
              <a:bodyPr anchor="ctr"/>
              <a:lstStyle/>
              <a:p>
                <a:endParaRPr lang="zh-CN" altLang="en-US"/>
              </a:p>
            </p:txBody>
          </p:sp>
        </p:grpSp>
        <p:sp>
          <p:nvSpPr>
            <p:cNvPr id="29705" name="Text Box 17"/>
            <p:cNvSpPr txBox="1">
              <a:spLocks noChangeArrowheads="1"/>
            </p:cNvSpPr>
            <p:nvPr/>
          </p:nvSpPr>
          <p:spPr bwMode="auto">
            <a:xfrm>
              <a:off x="1920" y="3744"/>
              <a:ext cx="2064" cy="250"/>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2000" b="1">
                  <a:solidFill>
                    <a:srgbClr val="0000CC"/>
                  </a:solidFill>
                  <a:latin typeface="Arial Black" pitchFamily="34" charset="0"/>
                  <a:ea typeface="楷体_GB2312" pitchFamily="49" charset="-122"/>
                </a:rPr>
                <a:t>在两台机器中的目录图</a:t>
              </a:r>
            </a:p>
          </p:txBody>
        </p:sp>
        <p:sp>
          <p:nvSpPr>
            <p:cNvPr id="29706" name="Rectangle 18"/>
            <p:cNvSpPr>
              <a:spLocks noChangeArrowheads="1"/>
            </p:cNvSpPr>
            <p:nvPr/>
          </p:nvSpPr>
          <p:spPr bwMode="auto">
            <a:xfrm>
              <a:off x="2880" y="2448"/>
              <a:ext cx="96"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0</a:t>
              </a:r>
            </a:p>
          </p:txBody>
        </p:sp>
        <p:sp>
          <p:nvSpPr>
            <p:cNvPr id="29707" name="Rectangle 19"/>
            <p:cNvSpPr>
              <a:spLocks noChangeArrowheads="1"/>
            </p:cNvSpPr>
            <p:nvPr/>
          </p:nvSpPr>
          <p:spPr bwMode="auto">
            <a:xfrm>
              <a:off x="3264" y="2832"/>
              <a:ext cx="96"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1</a:t>
              </a:r>
            </a:p>
          </p:txBody>
        </p:sp>
        <p:sp>
          <p:nvSpPr>
            <p:cNvPr id="29708" name="Rectangle 20"/>
            <p:cNvSpPr>
              <a:spLocks noChangeArrowheads="1"/>
            </p:cNvSpPr>
            <p:nvPr/>
          </p:nvSpPr>
          <p:spPr bwMode="auto">
            <a:xfrm>
              <a:off x="2448" y="2832"/>
              <a:ext cx="96"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2</a:t>
              </a:r>
            </a:p>
          </p:txBody>
        </p:sp>
        <p:sp>
          <p:nvSpPr>
            <p:cNvPr id="29709" name="Rectangle 21"/>
            <p:cNvSpPr>
              <a:spLocks noChangeArrowheads="1"/>
            </p:cNvSpPr>
            <p:nvPr/>
          </p:nvSpPr>
          <p:spPr bwMode="auto">
            <a:xfrm>
              <a:off x="2784" y="3216"/>
              <a:ext cx="96"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1</a:t>
              </a:r>
            </a:p>
          </p:txBody>
        </p:sp>
        <p:sp>
          <p:nvSpPr>
            <p:cNvPr id="29710" name="Rectangle 22"/>
            <p:cNvSpPr>
              <a:spLocks noChangeArrowheads="1"/>
            </p:cNvSpPr>
            <p:nvPr/>
          </p:nvSpPr>
          <p:spPr bwMode="auto">
            <a:xfrm>
              <a:off x="2112" y="3216"/>
              <a:ext cx="96"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1</a:t>
              </a:r>
            </a:p>
          </p:txBody>
        </p:sp>
        <p:sp>
          <p:nvSpPr>
            <p:cNvPr id="29711" name="Text Box 23"/>
            <p:cNvSpPr txBox="1">
              <a:spLocks noChangeArrowheads="1"/>
            </p:cNvSpPr>
            <p:nvPr/>
          </p:nvSpPr>
          <p:spPr bwMode="auto">
            <a:xfrm>
              <a:off x="3408" y="2016"/>
              <a:ext cx="1200" cy="366"/>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计算指向这个目录的目录数量</a:t>
              </a:r>
            </a:p>
          </p:txBody>
        </p:sp>
        <p:sp>
          <p:nvSpPr>
            <p:cNvPr id="29712" name="Line 24"/>
            <p:cNvSpPr>
              <a:spLocks noChangeShapeType="1"/>
            </p:cNvSpPr>
            <p:nvPr/>
          </p:nvSpPr>
          <p:spPr bwMode="auto">
            <a:xfrm flipH="1">
              <a:off x="3024" y="2304"/>
              <a:ext cx="480" cy="144"/>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9713" name="Freeform 25"/>
            <p:cNvSpPr>
              <a:spLocks/>
            </p:cNvSpPr>
            <p:nvPr/>
          </p:nvSpPr>
          <p:spPr bwMode="auto">
            <a:xfrm>
              <a:off x="1560" y="2536"/>
              <a:ext cx="744" cy="1000"/>
            </a:xfrm>
            <a:custGeom>
              <a:avLst/>
              <a:gdLst>
                <a:gd name="T0" fmla="*/ 744 w 744"/>
                <a:gd name="T1" fmla="*/ 248 h 1000"/>
                <a:gd name="T2" fmla="*/ 552 w 744"/>
                <a:gd name="T3" fmla="*/ 104 h 1000"/>
                <a:gd name="T4" fmla="*/ 24 w 744"/>
                <a:gd name="T5" fmla="*/ 872 h 1000"/>
                <a:gd name="T6" fmla="*/ 408 w 744"/>
                <a:gd name="T7" fmla="*/ 872 h 1000"/>
                <a:gd name="T8" fmla="*/ 0 60000 65536"/>
                <a:gd name="T9" fmla="*/ 0 60000 65536"/>
                <a:gd name="T10" fmla="*/ 0 60000 65536"/>
                <a:gd name="T11" fmla="*/ 0 60000 65536"/>
                <a:gd name="T12" fmla="*/ 0 w 744"/>
                <a:gd name="T13" fmla="*/ 0 h 1000"/>
                <a:gd name="T14" fmla="*/ 744 w 744"/>
                <a:gd name="T15" fmla="*/ 1000 h 1000"/>
              </a:gdLst>
              <a:ahLst/>
              <a:cxnLst>
                <a:cxn ang="T8">
                  <a:pos x="T0" y="T1"/>
                </a:cxn>
                <a:cxn ang="T9">
                  <a:pos x="T2" y="T3"/>
                </a:cxn>
                <a:cxn ang="T10">
                  <a:pos x="T4" y="T5"/>
                </a:cxn>
                <a:cxn ang="T11">
                  <a:pos x="T6" y="T7"/>
                </a:cxn>
              </a:cxnLst>
              <a:rect l="T12" t="T13" r="T14" b="T15"/>
              <a:pathLst>
                <a:path w="744" h="1000">
                  <a:moveTo>
                    <a:pt x="744" y="248"/>
                  </a:moveTo>
                  <a:cubicBezTo>
                    <a:pt x="708" y="124"/>
                    <a:pt x="672" y="0"/>
                    <a:pt x="552" y="104"/>
                  </a:cubicBezTo>
                  <a:cubicBezTo>
                    <a:pt x="432" y="208"/>
                    <a:pt x="48" y="744"/>
                    <a:pt x="24" y="872"/>
                  </a:cubicBezTo>
                  <a:cubicBezTo>
                    <a:pt x="0" y="1000"/>
                    <a:pt x="344" y="872"/>
                    <a:pt x="408" y="872"/>
                  </a:cubicBezTo>
                </a:path>
              </a:pathLst>
            </a:custGeom>
            <a:noFill/>
            <a:ln w="9525" cap="flat" cmpd="sng">
              <a:solidFill>
                <a:srgbClr val="000000"/>
              </a:solidFill>
              <a:prstDash val="solid"/>
              <a:round/>
              <a:headEnd type="none" w="sm" len="sm"/>
              <a:tailEnd type="none" w="sm" len="sm"/>
            </a:ln>
          </p:spPr>
          <p:txBody>
            <a:bodyPr anchor="ctr"/>
            <a:lstStyle/>
            <a:p>
              <a:endParaRPr lang="zh-CN" altLang="en-US"/>
            </a:p>
          </p:txBody>
        </p:sp>
        <p:sp>
          <p:nvSpPr>
            <p:cNvPr id="29714" name="AutoShape 26"/>
            <p:cNvSpPr>
              <a:spLocks noChangeArrowheads="1"/>
            </p:cNvSpPr>
            <p:nvPr/>
          </p:nvSpPr>
          <p:spPr bwMode="auto">
            <a:xfrm>
              <a:off x="1776" y="3120"/>
              <a:ext cx="1248" cy="384"/>
            </a:xfrm>
            <a:prstGeom prst="flowChartAlternateProcess">
              <a:avLst/>
            </a:prstGeom>
            <a:noFill/>
            <a:ln w="9525">
              <a:solidFill>
                <a:srgbClr val="000000"/>
              </a:solidFill>
              <a:prstDash val="dash"/>
              <a:miter lim="800000"/>
              <a:headEnd type="none" w="sm" len="sm"/>
              <a:tailEnd type="none" w="sm" len="sm"/>
            </a:ln>
          </p:spPr>
          <p:txBody>
            <a:bodyPr wrap="none" anchor="ctr"/>
            <a:lstStyle/>
            <a:p>
              <a:endParaRPr lang="zh-CN" altLang="en-US"/>
            </a:p>
          </p:txBody>
        </p:sp>
        <p:sp>
          <p:nvSpPr>
            <p:cNvPr id="29715" name="Rectangle 27"/>
            <p:cNvSpPr>
              <a:spLocks noChangeArrowheads="1"/>
            </p:cNvSpPr>
            <p:nvPr/>
          </p:nvSpPr>
          <p:spPr bwMode="auto">
            <a:xfrm>
              <a:off x="2112" y="2352"/>
              <a:ext cx="1440" cy="720"/>
            </a:xfrm>
            <a:prstGeom prst="rect">
              <a:avLst/>
            </a:prstGeom>
            <a:noFill/>
            <a:ln w="9525">
              <a:solidFill>
                <a:srgbClr val="000000"/>
              </a:solidFill>
              <a:prstDash val="dash"/>
              <a:miter lim="800000"/>
              <a:headEnd type="none" w="sm" len="sm"/>
              <a:tailEnd type="none" w="sm" len="sm"/>
            </a:ln>
          </p:spPr>
          <p:txBody>
            <a:bodyPr wrap="none" anchor="ctr"/>
            <a:lstStyle/>
            <a:p>
              <a:endParaRPr lang="zh-CN" altLang="en-US"/>
            </a:p>
          </p:txBody>
        </p:sp>
        <p:sp>
          <p:nvSpPr>
            <p:cNvPr id="29716" name="Text Box 28"/>
            <p:cNvSpPr txBox="1">
              <a:spLocks noChangeArrowheads="1"/>
            </p:cNvSpPr>
            <p:nvPr/>
          </p:nvSpPr>
          <p:spPr bwMode="auto">
            <a:xfrm>
              <a:off x="3888" y="2640"/>
              <a:ext cx="576" cy="212"/>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机器</a:t>
              </a:r>
              <a:r>
                <a:rPr kumimoji="1" lang="en-US" altLang="zh-CN" sz="1600" b="1">
                  <a:solidFill>
                    <a:srgbClr val="0000CC"/>
                  </a:solidFill>
                  <a:latin typeface="Arial Black" pitchFamily="34" charset="0"/>
                  <a:ea typeface="楷体_GB2312" pitchFamily="49" charset="-122"/>
                </a:rPr>
                <a:t>1</a:t>
              </a:r>
            </a:p>
          </p:txBody>
        </p:sp>
        <p:sp>
          <p:nvSpPr>
            <p:cNvPr id="29717" name="Text Box 29"/>
            <p:cNvSpPr txBox="1">
              <a:spLocks noChangeArrowheads="1"/>
            </p:cNvSpPr>
            <p:nvPr/>
          </p:nvSpPr>
          <p:spPr bwMode="auto">
            <a:xfrm>
              <a:off x="3312" y="3196"/>
              <a:ext cx="576" cy="212"/>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机器</a:t>
              </a:r>
              <a:r>
                <a:rPr kumimoji="1" lang="en-US" altLang="zh-CN" sz="1600" b="1">
                  <a:solidFill>
                    <a:srgbClr val="0000CC"/>
                  </a:solidFill>
                  <a:latin typeface="Arial Black" pitchFamily="34" charset="0"/>
                  <a:ea typeface="楷体_GB2312" pitchFamily="49" charset="-122"/>
                </a:rPr>
                <a:t>2</a:t>
              </a:r>
            </a:p>
          </p:txBody>
        </p:sp>
        <p:sp>
          <p:nvSpPr>
            <p:cNvPr id="29718" name="Line 30"/>
            <p:cNvSpPr>
              <a:spLocks noChangeShapeType="1"/>
            </p:cNvSpPr>
            <p:nvPr/>
          </p:nvSpPr>
          <p:spPr bwMode="auto">
            <a:xfrm flipH="1">
              <a:off x="3600" y="2736"/>
              <a:ext cx="288" cy="0"/>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29719" name="Line 31"/>
            <p:cNvSpPr>
              <a:spLocks noChangeShapeType="1"/>
            </p:cNvSpPr>
            <p:nvPr/>
          </p:nvSpPr>
          <p:spPr bwMode="auto">
            <a:xfrm flipH="1">
              <a:off x="3072" y="3312"/>
              <a:ext cx="288" cy="0"/>
            </a:xfrm>
            <a:prstGeom prst="line">
              <a:avLst/>
            </a:prstGeom>
            <a:noFill/>
            <a:ln w="9525">
              <a:solidFill>
                <a:srgbClr val="000000"/>
              </a:solidFill>
              <a:round/>
              <a:headEnd type="none" w="sm" len="sm"/>
              <a:tailEnd type="triangle" w="lg" len="med"/>
            </a:ln>
          </p:spPr>
          <p:txBody>
            <a:bodyPr anchor="ctr"/>
            <a:lstStyle/>
            <a:p>
              <a:endParaRPr lang="zh-CN" altLang="en-US"/>
            </a:p>
          </p:txBody>
        </p:sp>
      </p:grpSp>
      <p:sp>
        <p:nvSpPr>
          <p:cNvPr id="29701" name="AutoShape 32"/>
          <p:cNvSpPr>
            <a:spLocks noChangeArrowheads="1"/>
          </p:cNvSpPr>
          <p:nvPr/>
        </p:nvSpPr>
        <p:spPr bwMode="auto">
          <a:xfrm>
            <a:off x="6096000" y="3733800"/>
            <a:ext cx="2743200" cy="1447800"/>
          </a:xfrm>
          <a:prstGeom prst="cloudCallout">
            <a:avLst>
              <a:gd name="adj1" fmla="val -107352"/>
              <a:gd name="adj2" fmla="val 48356"/>
            </a:avLst>
          </a:prstGeom>
          <a:noFill/>
          <a:ln w="9525">
            <a:solidFill>
              <a:srgbClr val="000000"/>
            </a:solidFill>
            <a:round/>
            <a:headEnd type="none" w="sm" len="sm"/>
            <a:tailEnd type="none" w="sm" len="sm"/>
          </a:ln>
        </p:spPr>
        <p:txBody>
          <a:bodyPr lIns="0" tIns="0" rIns="0" bIns="0" anchor="ctr"/>
          <a:lstStyle/>
          <a:p>
            <a:pPr marL="342900" indent="-342900" algn="ctr">
              <a:spcBef>
                <a:spcPct val="20000"/>
              </a:spcBef>
              <a:buClr>
                <a:schemeClr val="tx2"/>
              </a:buClr>
              <a:buFont typeface="Wingdings" pitchFamily="2" charset="2"/>
              <a:buNone/>
            </a:pPr>
            <a:endParaRPr kumimoji="1" lang="zh-CN" altLang="en-US" sz="1600" b="1">
              <a:solidFill>
                <a:schemeClr val="accent2"/>
              </a:solidFill>
              <a:latin typeface="Arial Black" pitchFamily="34" charset="0"/>
              <a:ea typeface="楷体_GB2312" pitchFamily="49" charset="-122"/>
            </a:endParaRPr>
          </a:p>
        </p:txBody>
      </p:sp>
      <p:sp>
        <p:nvSpPr>
          <p:cNvPr id="29702" name="Text Box 33"/>
          <p:cNvSpPr txBox="1">
            <a:spLocks noChangeArrowheads="1"/>
          </p:cNvSpPr>
          <p:nvPr/>
        </p:nvSpPr>
        <p:spPr bwMode="auto">
          <a:xfrm>
            <a:off x="6096000" y="3962400"/>
            <a:ext cx="2743200" cy="1069975"/>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chemeClr val="accent2"/>
                </a:solidFill>
                <a:latin typeface="Arial Black" pitchFamily="34" charset="0"/>
                <a:ea typeface="楷体_GB2312" pitchFamily="49" charset="-122"/>
              </a:rPr>
              <a:t>        在目录图中，一个目录只要存在至少另一条链接时就可以删除指向该目录的链接</a:t>
            </a:r>
          </a:p>
        </p:txBody>
      </p:sp>
      <p:sp>
        <p:nvSpPr>
          <p:cNvPr id="29703" name="Rectangle 34"/>
          <p:cNvSpPr>
            <a:spLocks noGrp="1"/>
          </p:cNvSpPr>
          <p:nvPr>
            <p:ph type="body" idx="1"/>
          </p:nvPr>
        </p:nvSpPr>
        <p:spPr>
          <a:xfrm>
            <a:off x="323850" y="1628775"/>
            <a:ext cx="8539163" cy="4800600"/>
          </a:xfrm>
          <a:noFill/>
        </p:spPr>
        <p:txBody>
          <a:bodyPr/>
          <a:lstStyle/>
          <a:p>
            <a:r>
              <a:rPr lang="zh-CN" altLang="en-US" smtClean="0"/>
              <a:t>目录服务</a:t>
            </a:r>
          </a:p>
          <a:p>
            <a:pPr lvl="1"/>
            <a:r>
              <a:rPr lang="zh-CN" altLang="en-US" smtClean="0">
                <a:solidFill>
                  <a:srgbClr val="06070E"/>
                </a:solidFill>
              </a:rPr>
              <a:t>对任意目录建立连接或指针。使得可以将目录组织成更强有力的任意目录图。</a:t>
            </a:r>
          </a:p>
          <a:p>
            <a:pPr lvl="1"/>
            <a:endParaRPr lang="zh-CN" altLang="en-US" smtClean="0"/>
          </a:p>
          <a:p>
            <a:pPr lvl="1"/>
            <a:endParaRPr lang="zh-CN" altLang="en-US" smtClean="0"/>
          </a:p>
          <a:p>
            <a:pPr lvl="1"/>
            <a:endParaRPr lang="zh-CN" altLang="en-US" smtClean="0"/>
          </a:p>
          <a:p>
            <a:pPr lvl="1"/>
            <a:endParaRPr lang="zh-CN" altLang="en-US" smtClean="0"/>
          </a:p>
          <a:p>
            <a:pPr eaLnBrk="1" hangingPunct="1">
              <a:spcBef>
                <a:spcPct val="0"/>
              </a:spcBef>
              <a:buClrTx/>
              <a:buSzTx/>
              <a:buFontTx/>
              <a:buNone/>
            </a:pPr>
            <a:endParaRPr lang="zh-CN" altLang="en-US"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9"/>
          <p:cNvSpPr>
            <a:spLocks noGrp="1"/>
          </p:cNvSpPr>
          <p:nvPr>
            <p:ph type="sldNum" sz="quarter" idx="12"/>
          </p:nvPr>
        </p:nvSpPr>
        <p:spPr/>
        <p:txBody>
          <a:bodyPr/>
          <a:lstStyle/>
          <a:p>
            <a:pPr>
              <a:defRPr/>
            </a:pPr>
            <a:fld id="{2A966C22-16EC-4500-94B2-04699D5B2534}" type="slidenum">
              <a:rPr lang="zh-CN" altLang="en-US"/>
              <a:pPr>
                <a:defRPr/>
              </a:pPr>
              <a:t>29</a:t>
            </a:fld>
            <a:endParaRPr lang="zh-CN" altLang="en-US"/>
          </a:p>
        </p:txBody>
      </p:sp>
      <p:sp>
        <p:nvSpPr>
          <p:cNvPr id="30723" name="Rectangle 2"/>
          <p:cNvSpPr>
            <a:spLocks noGrp="1"/>
          </p:cNvSpPr>
          <p:nvPr>
            <p:ph type="title"/>
          </p:nvPr>
        </p:nvSpPr>
        <p:spPr/>
        <p:txBody>
          <a:bodyPr/>
          <a:lstStyle/>
          <a:p>
            <a:r>
              <a:rPr lang="zh-CN" altLang="en-US" sz="4000" smtClean="0"/>
              <a:t>目录服务</a:t>
            </a:r>
          </a:p>
        </p:txBody>
      </p:sp>
      <p:grpSp>
        <p:nvGrpSpPr>
          <p:cNvPr id="30724" name="Group 6"/>
          <p:cNvGrpSpPr>
            <a:grpSpLocks/>
          </p:cNvGrpSpPr>
          <p:nvPr/>
        </p:nvGrpSpPr>
        <p:grpSpPr bwMode="auto">
          <a:xfrm>
            <a:off x="3124200" y="3546475"/>
            <a:ext cx="5257800" cy="3006725"/>
            <a:chOff x="1488" y="2016"/>
            <a:chExt cx="3312" cy="1991"/>
          </a:xfrm>
        </p:grpSpPr>
        <p:sp>
          <p:nvSpPr>
            <p:cNvPr id="30728" name="Rectangle 7"/>
            <p:cNvSpPr>
              <a:spLocks noChangeArrowheads="1"/>
            </p:cNvSpPr>
            <p:nvPr/>
          </p:nvSpPr>
          <p:spPr bwMode="auto">
            <a:xfrm>
              <a:off x="2662" y="2448"/>
              <a:ext cx="365"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A</a:t>
              </a:r>
            </a:p>
          </p:txBody>
        </p:sp>
        <p:sp>
          <p:nvSpPr>
            <p:cNvPr id="30729" name="Rectangle 8"/>
            <p:cNvSpPr>
              <a:spLocks noChangeArrowheads="1"/>
            </p:cNvSpPr>
            <p:nvPr/>
          </p:nvSpPr>
          <p:spPr bwMode="auto">
            <a:xfrm>
              <a:off x="2192" y="2832"/>
              <a:ext cx="365"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B</a:t>
              </a:r>
            </a:p>
          </p:txBody>
        </p:sp>
        <p:sp>
          <p:nvSpPr>
            <p:cNvPr id="30730" name="Rectangle 9"/>
            <p:cNvSpPr>
              <a:spLocks noChangeArrowheads="1"/>
            </p:cNvSpPr>
            <p:nvPr/>
          </p:nvSpPr>
          <p:spPr bwMode="auto">
            <a:xfrm>
              <a:off x="3079" y="2832"/>
              <a:ext cx="365"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C</a:t>
              </a:r>
            </a:p>
          </p:txBody>
        </p:sp>
        <p:sp>
          <p:nvSpPr>
            <p:cNvPr id="30731" name="Rectangle 10"/>
            <p:cNvSpPr>
              <a:spLocks noChangeArrowheads="1"/>
            </p:cNvSpPr>
            <p:nvPr/>
          </p:nvSpPr>
          <p:spPr bwMode="auto">
            <a:xfrm>
              <a:off x="1827" y="3216"/>
              <a:ext cx="365"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D</a:t>
              </a:r>
            </a:p>
          </p:txBody>
        </p:sp>
        <p:sp>
          <p:nvSpPr>
            <p:cNvPr id="30732" name="Rectangle 11"/>
            <p:cNvSpPr>
              <a:spLocks noChangeArrowheads="1"/>
            </p:cNvSpPr>
            <p:nvPr/>
          </p:nvSpPr>
          <p:spPr bwMode="auto">
            <a:xfrm>
              <a:off x="2557" y="3216"/>
              <a:ext cx="365"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2000" b="1">
                  <a:solidFill>
                    <a:srgbClr val="0000CC"/>
                  </a:solidFill>
                  <a:latin typeface="Times New Roman" pitchFamily="18" charset="0"/>
                  <a:ea typeface="楷体_GB2312" pitchFamily="49" charset="-122"/>
                </a:rPr>
                <a:t>E</a:t>
              </a:r>
            </a:p>
          </p:txBody>
        </p:sp>
        <p:sp>
          <p:nvSpPr>
            <p:cNvPr id="30733" name="Line 12"/>
            <p:cNvSpPr>
              <a:spLocks noChangeShapeType="1"/>
            </p:cNvSpPr>
            <p:nvPr/>
          </p:nvSpPr>
          <p:spPr bwMode="auto">
            <a:xfrm>
              <a:off x="2975" y="2640"/>
              <a:ext cx="208" cy="192"/>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30734" name="Line 13"/>
            <p:cNvSpPr>
              <a:spLocks noChangeShapeType="1"/>
            </p:cNvSpPr>
            <p:nvPr/>
          </p:nvSpPr>
          <p:spPr bwMode="auto">
            <a:xfrm flipH="1">
              <a:off x="2036" y="3072"/>
              <a:ext cx="208" cy="144"/>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30735" name="Line 14"/>
            <p:cNvSpPr>
              <a:spLocks noChangeShapeType="1"/>
            </p:cNvSpPr>
            <p:nvPr/>
          </p:nvSpPr>
          <p:spPr bwMode="auto">
            <a:xfrm>
              <a:off x="2505" y="3072"/>
              <a:ext cx="157" cy="144"/>
            </a:xfrm>
            <a:prstGeom prst="line">
              <a:avLst/>
            </a:prstGeom>
            <a:noFill/>
            <a:ln w="9525">
              <a:solidFill>
                <a:srgbClr val="000000"/>
              </a:solidFill>
              <a:round/>
              <a:headEnd type="none" w="sm" len="sm"/>
              <a:tailEnd type="none" w="sm" len="sm"/>
            </a:ln>
          </p:spPr>
          <p:txBody>
            <a:bodyPr anchor="ctr"/>
            <a:lstStyle/>
            <a:p>
              <a:endParaRPr lang="zh-CN" altLang="en-US"/>
            </a:p>
          </p:txBody>
        </p:sp>
        <p:sp>
          <p:nvSpPr>
            <p:cNvPr id="30736" name="Text Box 15"/>
            <p:cNvSpPr txBox="1">
              <a:spLocks noChangeArrowheads="1"/>
            </p:cNvSpPr>
            <p:nvPr/>
          </p:nvSpPr>
          <p:spPr bwMode="auto">
            <a:xfrm>
              <a:off x="1879" y="3744"/>
              <a:ext cx="2243" cy="263"/>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endParaRPr kumimoji="1" lang="zh-CN" altLang="en-US" sz="2000" b="1">
                <a:solidFill>
                  <a:srgbClr val="0000CC"/>
                </a:solidFill>
                <a:latin typeface="Arial Black" pitchFamily="34" charset="0"/>
                <a:ea typeface="楷体_GB2312" pitchFamily="49" charset="-122"/>
              </a:endParaRPr>
            </a:p>
          </p:txBody>
        </p:sp>
        <p:sp>
          <p:nvSpPr>
            <p:cNvPr id="30737" name="Rectangle 16"/>
            <p:cNvSpPr>
              <a:spLocks noChangeArrowheads="1"/>
            </p:cNvSpPr>
            <p:nvPr/>
          </p:nvSpPr>
          <p:spPr bwMode="auto">
            <a:xfrm>
              <a:off x="2922" y="2448"/>
              <a:ext cx="105"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0</a:t>
              </a:r>
            </a:p>
          </p:txBody>
        </p:sp>
        <p:sp>
          <p:nvSpPr>
            <p:cNvPr id="30738" name="Rectangle 17"/>
            <p:cNvSpPr>
              <a:spLocks noChangeArrowheads="1"/>
            </p:cNvSpPr>
            <p:nvPr/>
          </p:nvSpPr>
          <p:spPr bwMode="auto">
            <a:xfrm>
              <a:off x="3340" y="2832"/>
              <a:ext cx="104"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1</a:t>
              </a:r>
            </a:p>
          </p:txBody>
        </p:sp>
        <p:sp>
          <p:nvSpPr>
            <p:cNvPr id="30739" name="Rectangle 18"/>
            <p:cNvSpPr>
              <a:spLocks noChangeArrowheads="1"/>
            </p:cNvSpPr>
            <p:nvPr/>
          </p:nvSpPr>
          <p:spPr bwMode="auto">
            <a:xfrm>
              <a:off x="2453" y="2832"/>
              <a:ext cx="104"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1</a:t>
              </a:r>
            </a:p>
          </p:txBody>
        </p:sp>
        <p:sp>
          <p:nvSpPr>
            <p:cNvPr id="30740" name="Rectangle 19"/>
            <p:cNvSpPr>
              <a:spLocks noChangeArrowheads="1"/>
            </p:cNvSpPr>
            <p:nvPr/>
          </p:nvSpPr>
          <p:spPr bwMode="auto">
            <a:xfrm>
              <a:off x="2818" y="3216"/>
              <a:ext cx="104"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1</a:t>
              </a:r>
            </a:p>
          </p:txBody>
        </p:sp>
        <p:sp>
          <p:nvSpPr>
            <p:cNvPr id="30741" name="Rectangle 20"/>
            <p:cNvSpPr>
              <a:spLocks noChangeArrowheads="1"/>
            </p:cNvSpPr>
            <p:nvPr/>
          </p:nvSpPr>
          <p:spPr bwMode="auto">
            <a:xfrm>
              <a:off x="2088" y="3216"/>
              <a:ext cx="104" cy="96"/>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sz="1400" b="1">
                  <a:solidFill>
                    <a:srgbClr val="0000CC"/>
                  </a:solidFill>
                  <a:latin typeface="Times New Roman" pitchFamily="18" charset="0"/>
                  <a:ea typeface="楷体_GB2312" pitchFamily="49" charset="-122"/>
                </a:rPr>
                <a:t>1</a:t>
              </a:r>
            </a:p>
          </p:txBody>
        </p:sp>
        <p:sp>
          <p:nvSpPr>
            <p:cNvPr id="30742" name="Text Box 21"/>
            <p:cNvSpPr txBox="1">
              <a:spLocks noChangeArrowheads="1"/>
            </p:cNvSpPr>
            <p:nvPr/>
          </p:nvSpPr>
          <p:spPr bwMode="auto">
            <a:xfrm>
              <a:off x="3496" y="2016"/>
              <a:ext cx="1304" cy="385"/>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计算指向这个目录的目录数量</a:t>
              </a:r>
            </a:p>
          </p:txBody>
        </p:sp>
        <p:sp>
          <p:nvSpPr>
            <p:cNvPr id="30743" name="Line 22"/>
            <p:cNvSpPr>
              <a:spLocks noChangeShapeType="1"/>
            </p:cNvSpPr>
            <p:nvPr/>
          </p:nvSpPr>
          <p:spPr bwMode="auto">
            <a:xfrm flipH="1">
              <a:off x="3079" y="2304"/>
              <a:ext cx="521" cy="144"/>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0744" name="Freeform 23"/>
            <p:cNvSpPr>
              <a:spLocks/>
            </p:cNvSpPr>
            <p:nvPr/>
          </p:nvSpPr>
          <p:spPr bwMode="auto">
            <a:xfrm>
              <a:off x="1488" y="2536"/>
              <a:ext cx="808" cy="1000"/>
            </a:xfrm>
            <a:custGeom>
              <a:avLst/>
              <a:gdLst>
                <a:gd name="T0" fmla="*/ 744 w 744"/>
                <a:gd name="T1" fmla="*/ 248 h 1000"/>
                <a:gd name="T2" fmla="*/ 552 w 744"/>
                <a:gd name="T3" fmla="*/ 104 h 1000"/>
                <a:gd name="T4" fmla="*/ 24 w 744"/>
                <a:gd name="T5" fmla="*/ 872 h 1000"/>
                <a:gd name="T6" fmla="*/ 408 w 744"/>
                <a:gd name="T7" fmla="*/ 872 h 1000"/>
                <a:gd name="T8" fmla="*/ 0 60000 65536"/>
                <a:gd name="T9" fmla="*/ 0 60000 65536"/>
                <a:gd name="T10" fmla="*/ 0 60000 65536"/>
                <a:gd name="T11" fmla="*/ 0 60000 65536"/>
                <a:gd name="T12" fmla="*/ 0 w 744"/>
                <a:gd name="T13" fmla="*/ 0 h 1000"/>
                <a:gd name="T14" fmla="*/ 744 w 744"/>
                <a:gd name="T15" fmla="*/ 1000 h 1000"/>
              </a:gdLst>
              <a:ahLst/>
              <a:cxnLst>
                <a:cxn ang="T8">
                  <a:pos x="T0" y="T1"/>
                </a:cxn>
                <a:cxn ang="T9">
                  <a:pos x="T2" y="T3"/>
                </a:cxn>
                <a:cxn ang="T10">
                  <a:pos x="T4" y="T5"/>
                </a:cxn>
                <a:cxn ang="T11">
                  <a:pos x="T6" y="T7"/>
                </a:cxn>
              </a:cxnLst>
              <a:rect l="T12" t="T13" r="T14" b="T15"/>
              <a:pathLst>
                <a:path w="744" h="1000">
                  <a:moveTo>
                    <a:pt x="744" y="248"/>
                  </a:moveTo>
                  <a:cubicBezTo>
                    <a:pt x="708" y="124"/>
                    <a:pt x="672" y="0"/>
                    <a:pt x="552" y="104"/>
                  </a:cubicBezTo>
                  <a:cubicBezTo>
                    <a:pt x="432" y="208"/>
                    <a:pt x="48" y="744"/>
                    <a:pt x="24" y="872"/>
                  </a:cubicBezTo>
                  <a:cubicBezTo>
                    <a:pt x="0" y="1000"/>
                    <a:pt x="344" y="872"/>
                    <a:pt x="408" y="872"/>
                  </a:cubicBezTo>
                </a:path>
              </a:pathLst>
            </a:custGeom>
            <a:noFill/>
            <a:ln w="9525" cap="flat" cmpd="sng">
              <a:solidFill>
                <a:srgbClr val="000000"/>
              </a:solidFill>
              <a:prstDash val="solid"/>
              <a:round/>
              <a:headEnd type="none" w="sm" len="sm"/>
              <a:tailEnd type="none" w="sm" len="sm"/>
            </a:ln>
          </p:spPr>
          <p:txBody>
            <a:bodyPr anchor="ctr"/>
            <a:lstStyle/>
            <a:p>
              <a:endParaRPr lang="zh-CN" altLang="en-US"/>
            </a:p>
          </p:txBody>
        </p:sp>
        <p:sp>
          <p:nvSpPr>
            <p:cNvPr id="30745" name="AutoShape 24"/>
            <p:cNvSpPr>
              <a:spLocks noChangeArrowheads="1"/>
            </p:cNvSpPr>
            <p:nvPr/>
          </p:nvSpPr>
          <p:spPr bwMode="auto">
            <a:xfrm>
              <a:off x="1723" y="3120"/>
              <a:ext cx="1356" cy="384"/>
            </a:xfrm>
            <a:prstGeom prst="flowChartAlternateProcess">
              <a:avLst/>
            </a:prstGeom>
            <a:noFill/>
            <a:ln w="9525">
              <a:solidFill>
                <a:srgbClr val="000000"/>
              </a:solidFill>
              <a:prstDash val="dash"/>
              <a:miter lim="800000"/>
              <a:headEnd type="none" w="sm" len="sm"/>
              <a:tailEnd type="none" w="sm" len="sm"/>
            </a:ln>
          </p:spPr>
          <p:txBody>
            <a:bodyPr wrap="none" anchor="ctr"/>
            <a:lstStyle/>
            <a:p>
              <a:endParaRPr lang="zh-CN" altLang="en-US"/>
            </a:p>
          </p:txBody>
        </p:sp>
        <p:sp>
          <p:nvSpPr>
            <p:cNvPr id="30746" name="Rectangle 25"/>
            <p:cNvSpPr>
              <a:spLocks noChangeArrowheads="1"/>
            </p:cNvSpPr>
            <p:nvPr/>
          </p:nvSpPr>
          <p:spPr bwMode="auto">
            <a:xfrm>
              <a:off x="2088" y="2352"/>
              <a:ext cx="1565" cy="720"/>
            </a:xfrm>
            <a:prstGeom prst="rect">
              <a:avLst/>
            </a:prstGeom>
            <a:noFill/>
            <a:ln w="9525">
              <a:solidFill>
                <a:srgbClr val="000000"/>
              </a:solidFill>
              <a:prstDash val="dash"/>
              <a:miter lim="800000"/>
              <a:headEnd type="none" w="sm" len="sm"/>
              <a:tailEnd type="none" w="sm" len="sm"/>
            </a:ln>
          </p:spPr>
          <p:txBody>
            <a:bodyPr wrap="none" anchor="ctr"/>
            <a:lstStyle/>
            <a:p>
              <a:endParaRPr lang="zh-CN" altLang="en-US"/>
            </a:p>
          </p:txBody>
        </p:sp>
        <p:sp>
          <p:nvSpPr>
            <p:cNvPr id="30747" name="Text Box 26"/>
            <p:cNvSpPr txBox="1">
              <a:spLocks noChangeArrowheads="1"/>
            </p:cNvSpPr>
            <p:nvPr/>
          </p:nvSpPr>
          <p:spPr bwMode="auto">
            <a:xfrm>
              <a:off x="4018" y="2640"/>
              <a:ext cx="626" cy="223"/>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机器</a:t>
              </a:r>
              <a:r>
                <a:rPr kumimoji="1" lang="en-US" altLang="zh-CN" sz="1600" b="1">
                  <a:solidFill>
                    <a:srgbClr val="0000CC"/>
                  </a:solidFill>
                  <a:latin typeface="Arial Black" pitchFamily="34" charset="0"/>
                  <a:ea typeface="楷体_GB2312" pitchFamily="49" charset="-122"/>
                </a:rPr>
                <a:t>1</a:t>
              </a:r>
            </a:p>
          </p:txBody>
        </p:sp>
        <p:sp>
          <p:nvSpPr>
            <p:cNvPr id="30748" name="Text Box 27"/>
            <p:cNvSpPr txBox="1">
              <a:spLocks noChangeArrowheads="1"/>
            </p:cNvSpPr>
            <p:nvPr/>
          </p:nvSpPr>
          <p:spPr bwMode="auto">
            <a:xfrm>
              <a:off x="3392" y="3196"/>
              <a:ext cx="626" cy="223"/>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sz="1600" b="1">
                  <a:solidFill>
                    <a:srgbClr val="0000CC"/>
                  </a:solidFill>
                  <a:latin typeface="Arial Black" pitchFamily="34" charset="0"/>
                  <a:ea typeface="楷体_GB2312" pitchFamily="49" charset="-122"/>
                </a:rPr>
                <a:t>机器</a:t>
              </a:r>
              <a:r>
                <a:rPr kumimoji="1" lang="en-US" altLang="zh-CN" sz="1600" b="1">
                  <a:solidFill>
                    <a:srgbClr val="0000CC"/>
                  </a:solidFill>
                  <a:latin typeface="Arial Black" pitchFamily="34" charset="0"/>
                  <a:ea typeface="楷体_GB2312" pitchFamily="49" charset="-122"/>
                </a:rPr>
                <a:t>2</a:t>
              </a:r>
            </a:p>
          </p:txBody>
        </p:sp>
        <p:sp>
          <p:nvSpPr>
            <p:cNvPr id="30749" name="Line 28"/>
            <p:cNvSpPr>
              <a:spLocks noChangeShapeType="1"/>
            </p:cNvSpPr>
            <p:nvPr/>
          </p:nvSpPr>
          <p:spPr bwMode="auto">
            <a:xfrm flipH="1">
              <a:off x="3705" y="2736"/>
              <a:ext cx="313" cy="0"/>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0750" name="Line 29"/>
            <p:cNvSpPr>
              <a:spLocks noChangeShapeType="1"/>
            </p:cNvSpPr>
            <p:nvPr/>
          </p:nvSpPr>
          <p:spPr bwMode="auto">
            <a:xfrm flipH="1">
              <a:off x="3131" y="3312"/>
              <a:ext cx="313" cy="0"/>
            </a:xfrm>
            <a:prstGeom prst="line">
              <a:avLst/>
            </a:prstGeom>
            <a:noFill/>
            <a:ln w="9525">
              <a:solidFill>
                <a:srgbClr val="000000"/>
              </a:solidFill>
              <a:round/>
              <a:headEnd type="none" w="sm" len="sm"/>
              <a:tailEnd type="triangle" w="lg" len="med"/>
            </a:ln>
          </p:spPr>
          <p:txBody>
            <a:bodyPr anchor="ctr"/>
            <a:lstStyle/>
            <a:p>
              <a:endParaRPr lang="zh-CN" altLang="en-US"/>
            </a:p>
          </p:txBody>
        </p:sp>
      </p:grpSp>
      <p:sp>
        <p:nvSpPr>
          <p:cNvPr id="30725" name="AutoShape 30"/>
          <p:cNvSpPr>
            <a:spLocks noChangeArrowheads="1"/>
          </p:cNvSpPr>
          <p:nvPr/>
        </p:nvSpPr>
        <p:spPr bwMode="auto">
          <a:xfrm>
            <a:off x="457200" y="3810000"/>
            <a:ext cx="1828800" cy="1143000"/>
          </a:xfrm>
          <a:prstGeom prst="wedgeEllipseCallout">
            <a:avLst>
              <a:gd name="adj1" fmla="val 94097"/>
              <a:gd name="adj2" fmla="val 35278"/>
            </a:avLst>
          </a:prstGeom>
          <a:noFill/>
          <a:ln w="9525">
            <a:solidFill>
              <a:srgbClr val="000000"/>
            </a:solidFill>
            <a:miter lim="800000"/>
            <a:headEnd type="none" w="sm" len="sm"/>
            <a:tailEnd type="none" w="sm" len="sm"/>
          </a:ln>
        </p:spPr>
        <p:txBody>
          <a:bodyPr anchor="ctr"/>
          <a:lstStyle/>
          <a:p>
            <a:pPr marL="342900" indent="-342900" algn="ctr">
              <a:spcBef>
                <a:spcPct val="20000"/>
              </a:spcBef>
              <a:buClr>
                <a:schemeClr val="tx2"/>
              </a:buClr>
              <a:buFont typeface="Wingdings" pitchFamily="2" charset="2"/>
              <a:buNone/>
            </a:pPr>
            <a:endParaRPr kumimoji="1" lang="zh-CN" altLang="en-US" b="1">
              <a:latin typeface="Arial Black" pitchFamily="34" charset="0"/>
              <a:ea typeface="楷体_GB2312" pitchFamily="49" charset="-122"/>
            </a:endParaRPr>
          </a:p>
        </p:txBody>
      </p:sp>
      <p:sp>
        <p:nvSpPr>
          <p:cNvPr id="30726" name="Text Box 31"/>
          <p:cNvSpPr txBox="1">
            <a:spLocks noChangeArrowheads="1"/>
          </p:cNvSpPr>
          <p:nvPr/>
        </p:nvSpPr>
        <p:spPr bwMode="auto">
          <a:xfrm>
            <a:off x="381000" y="3962400"/>
            <a:ext cx="1905000" cy="915988"/>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b="1">
                <a:solidFill>
                  <a:schemeClr val="accent2"/>
                </a:solidFill>
                <a:latin typeface="Arial Black" pitchFamily="34" charset="0"/>
                <a:ea typeface="楷体_GB2312" pitchFamily="49" charset="-122"/>
              </a:rPr>
              <a:t>     分布式系统中的孤立目录问题</a:t>
            </a:r>
          </a:p>
        </p:txBody>
      </p:sp>
      <p:sp>
        <p:nvSpPr>
          <p:cNvPr id="30727" name="Rectangle 32"/>
          <p:cNvSpPr>
            <a:spLocks noGrp="1"/>
          </p:cNvSpPr>
          <p:nvPr>
            <p:ph type="body" idx="1"/>
          </p:nvPr>
        </p:nvSpPr>
        <p:spPr>
          <a:xfrm>
            <a:off x="323850" y="1628775"/>
            <a:ext cx="8539163" cy="2016125"/>
          </a:xfrm>
          <a:noFill/>
        </p:spPr>
        <p:txBody>
          <a:bodyPr/>
          <a:lstStyle/>
          <a:p>
            <a:r>
              <a:rPr lang="zh-CN" altLang="en-US" smtClean="0"/>
              <a:t>孤立目录</a:t>
            </a:r>
          </a:p>
          <a:p>
            <a:pPr lvl="1"/>
            <a:r>
              <a:rPr lang="zh-CN" altLang="en-US" smtClean="0">
                <a:solidFill>
                  <a:srgbClr val="06070E"/>
                </a:solidFill>
              </a:rPr>
              <a:t>删除</a:t>
            </a:r>
            <a:r>
              <a:rPr lang="en-US" altLang="zh-CN" smtClean="0">
                <a:solidFill>
                  <a:srgbClr val="06070E"/>
                </a:solidFill>
              </a:rPr>
              <a:t>A</a:t>
            </a:r>
            <a:r>
              <a:rPr lang="zh-CN" altLang="en-US" smtClean="0">
                <a:solidFill>
                  <a:srgbClr val="06070E"/>
                </a:solidFill>
              </a:rPr>
              <a:t>到</a:t>
            </a:r>
            <a:r>
              <a:rPr lang="en-US" altLang="zh-CN" smtClean="0">
                <a:solidFill>
                  <a:srgbClr val="06070E"/>
                </a:solidFill>
              </a:rPr>
              <a:t>B</a:t>
            </a:r>
            <a:r>
              <a:rPr lang="zh-CN" altLang="en-US" smtClean="0">
                <a:solidFill>
                  <a:srgbClr val="06070E"/>
                </a:solidFill>
              </a:rPr>
              <a:t>的连接。结果从文件系统（</a:t>
            </a:r>
            <a:r>
              <a:rPr lang="en-US" altLang="zh-CN" smtClean="0">
                <a:solidFill>
                  <a:srgbClr val="06070E"/>
                </a:solidFill>
              </a:rPr>
              <a:t>A</a:t>
            </a:r>
            <a:r>
              <a:rPr lang="zh-CN" altLang="en-US" smtClean="0">
                <a:solidFill>
                  <a:srgbClr val="06070E"/>
                </a:solidFill>
              </a:rPr>
              <a:t>）的根已不能到达</a:t>
            </a:r>
            <a:r>
              <a:rPr lang="en-US" altLang="zh-CN" smtClean="0">
                <a:solidFill>
                  <a:srgbClr val="06070E"/>
                </a:solidFill>
              </a:rPr>
              <a:t>B</a:t>
            </a:r>
            <a:r>
              <a:rPr lang="zh-CN" altLang="en-US" smtClean="0">
                <a:solidFill>
                  <a:srgbClr val="06070E"/>
                </a:solidFill>
              </a:rPr>
              <a:t>。</a:t>
            </a:r>
            <a:r>
              <a:rPr lang="en-US" altLang="zh-CN" smtClean="0">
                <a:solidFill>
                  <a:srgbClr val="06070E"/>
                </a:solidFill>
              </a:rPr>
              <a:t>B</a:t>
            </a:r>
            <a:r>
              <a:rPr lang="zh-CN" altLang="en-US" smtClean="0">
                <a:solidFill>
                  <a:srgbClr val="06070E"/>
                </a:solidFill>
              </a:rPr>
              <a:t>、</a:t>
            </a:r>
            <a:r>
              <a:rPr lang="en-US" altLang="zh-CN" smtClean="0">
                <a:solidFill>
                  <a:srgbClr val="06070E"/>
                </a:solidFill>
              </a:rPr>
              <a:t>D</a:t>
            </a:r>
            <a:r>
              <a:rPr lang="zh-CN" altLang="en-US" smtClean="0">
                <a:solidFill>
                  <a:srgbClr val="06070E"/>
                </a:solidFill>
              </a:rPr>
              <a:t>、</a:t>
            </a:r>
            <a:r>
              <a:rPr lang="en-US" altLang="zh-CN" smtClean="0">
                <a:solidFill>
                  <a:srgbClr val="06070E"/>
                </a:solidFill>
              </a:rPr>
              <a:t>E</a:t>
            </a:r>
            <a:r>
              <a:rPr lang="zh-CN" altLang="en-US" smtClean="0">
                <a:solidFill>
                  <a:srgbClr val="06070E"/>
                </a:solidFill>
              </a:rPr>
              <a:t>三个目录以及它们的所有文件实际上是孤立了。</a:t>
            </a:r>
            <a:endParaRPr lang="zh-CN" altLang="en-US"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9"/>
          <p:cNvSpPr>
            <a:spLocks noGrp="1"/>
          </p:cNvSpPr>
          <p:nvPr>
            <p:ph type="sldNum" sz="quarter" idx="12"/>
          </p:nvPr>
        </p:nvSpPr>
        <p:spPr/>
        <p:txBody>
          <a:bodyPr/>
          <a:lstStyle/>
          <a:p>
            <a:pPr>
              <a:defRPr/>
            </a:pPr>
            <a:fld id="{A80D3F5C-10BB-40EC-A2B0-B0F72DE084A8}" type="slidenum">
              <a:rPr lang="zh-CN" altLang="en-US"/>
              <a:pPr>
                <a:defRPr/>
              </a:pPr>
              <a:t>30</a:t>
            </a:fld>
            <a:endParaRPr lang="zh-CN" altLang="en-US"/>
          </a:p>
        </p:txBody>
      </p:sp>
      <p:sp>
        <p:nvSpPr>
          <p:cNvPr id="31747" name="Rectangle 2"/>
          <p:cNvSpPr>
            <a:spLocks noGrp="1"/>
          </p:cNvSpPr>
          <p:nvPr>
            <p:ph type="title"/>
          </p:nvPr>
        </p:nvSpPr>
        <p:spPr/>
        <p:txBody>
          <a:bodyPr/>
          <a:lstStyle/>
          <a:p>
            <a:r>
              <a:rPr lang="zh-CN" altLang="en-US" smtClean="0"/>
              <a:t>文件共享语义</a:t>
            </a:r>
          </a:p>
        </p:txBody>
      </p:sp>
      <p:grpSp>
        <p:nvGrpSpPr>
          <p:cNvPr id="31748" name="Group 6"/>
          <p:cNvGrpSpPr>
            <a:grpSpLocks/>
          </p:cNvGrpSpPr>
          <p:nvPr/>
        </p:nvGrpSpPr>
        <p:grpSpPr bwMode="auto">
          <a:xfrm>
            <a:off x="1352550" y="3960813"/>
            <a:ext cx="5715000" cy="2636837"/>
            <a:chOff x="768" y="2592"/>
            <a:chExt cx="3600" cy="1661"/>
          </a:xfrm>
        </p:grpSpPr>
        <p:sp>
          <p:nvSpPr>
            <p:cNvPr id="31750" name="Rectangle 7"/>
            <p:cNvSpPr>
              <a:spLocks noChangeArrowheads="1"/>
            </p:cNvSpPr>
            <p:nvPr/>
          </p:nvSpPr>
          <p:spPr bwMode="auto">
            <a:xfrm>
              <a:off x="1824" y="2928"/>
              <a:ext cx="1968" cy="1056"/>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31751" name="Rectangle 8"/>
            <p:cNvSpPr>
              <a:spLocks noChangeArrowheads="1"/>
            </p:cNvSpPr>
            <p:nvPr/>
          </p:nvSpPr>
          <p:spPr bwMode="auto">
            <a:xfrm>
              <a:off x="2544" y="3120"/>
              <a:ext cx="288"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1752" name="Rectangle 9"/>
            <p:cNvSpPr>
              <a:spLocks noChangeArrowheads="1"/>
            </p:cNvSpPr>
            <p:nvPr/>
          </p:nvSpPr>
          <p:spPr bwMode="auto">
            <a:xfrm>
              <a:off x="2832" y="3120"/>
              <a:ext cx="288"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1753" name="Rectangle 10"/>
            <p:cNvSpPr>
              <a:spLocks noChangeArrowheads="1"/>
            </p:cNvSpPr>
            <p:nvPr/>
          </p:nvSpPr>
          <p:spPr bwMode="auto">
            <a:xfrm>
              <a:off x="2448" y="3504"/>
              <a:ext cx="288"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1754" name="Rectangle 11"/>
            <p:cNvSpPr>
              <a:spLocks noChangeArrowheads="1"/>
            </p:cNvSpPr>
            <p:nvPr/>
          </p:nvSpPr>
          <p:spPr bwMode="auto">
            <a:xfrm>
              <a:off x="2736" y="3504"/>
              <a:ext cx="288"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1755" name="Rectangle 12"/>
            <p:cNvSpPr>
              <a:spLocks noChangeArrowheads="1"/>
            </p:cNvSpPr>
            <p:nvPr/>
          </p:nvSpPr>
          <p:spPr bwMode="auto">
            <a:xfrm>
              <a:off x="3024" y="3504"/>
              <a:ext cx="288" cy="192"/>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c</a:t>
              </a:r>
            </a:p>
          </p:txBody>
        </p:sp>
        <p:sp>
          <p:nvSpPr>
            <p:cNvPr id="31756" name="Oval 13"/>
            <p:cNvSpPr>
              <a:spLocks noChangeArrowheads="1"/>
            </p:cNvSpPr>
            <p:nvPr/>
          </p:nvSpPr>
          <p:spPr bwMode="auto">
            <a:xfrm>
              <a:off x="1968" y="3120"/>
              <a:ext cx="240" cy="192"/>
            </a:xfrm>
            <a:prstGeom prst="ellipse">
              <a:avLst/>
            </a:prstGeom>
            <a:noFill/>
            <a:ln w="9525">
              <a:solidFill>
                <a:srgbClr val="000000"/>
              </a:solidFill>
              <a:round/>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1757" name="Oval 14"/>
            <p:cNvSpPr>
              <a:spLocks noChangeArrowheads="1"/>
            </p:cNvSpPr>
            <p:nvPr/>
          </p:nvSpPr>
          <p:spPr bwMode="auto">
            <a:xfrm>
              <a:off x="3408" y="3744"/>
              <a:ext cx="240" cy="192"/>
            </a:xfrm>
            <a:prstGeom prst="ellipse">
              <a:avLst/>
            </a:prstGeom>
            <a:noFill/>
            <a:ln w="9525">
              <a:solidFill>
                <a:srgbClr val="000000"/>
              </a:solidFill>
              <a:round/>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1758" name="Line 15"/>
            <p:cNvSpPr>
              <a:spLocks noChangeShapeType="1"/>
            </p:cNvSpPr>
            <p:nvPr/>
          </p:nvSpPr>
          <p:spPr bwMode="auto">
            <a:xfrm>
              <a:off x="2256" y="3312"/>
              <a:ext cx="192" cy="144"/>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1759" name="Line 16"/>
            <p:cNvSpPr>
              <a:spLocks noChangeShapeType="1"/>
            </p:cNvSpPr>
            <p:nvPr/>
          </p:nvSpPr>
          <p:spPr bwMode="auto">
            <a:xfrm>
              <a:off x="2928" y="3744"/>
              <a:ext cx="432" cy="96"/>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1760" name="Text Box 17"/>
            <p:cNvSpPr txBox="1">
              <a:spLocks noChangeArrowheads="1"/>
            </p:cNvSpPr>
            <p:nvPr/>
          </p:nvSpPr>
          <p:spPr bwMode="auto">
            <a:xfrm>
              <a:off x="2304" y="2592"/>
              <a:ext cx="816"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b="1">
                  <a:solidFill>
                    <a:srgbClr val="0000CC"/>
                  </a:solidFill>
                  <a:latin typeface="Arial Black" pitchFamily="34" charset="0"/>
                  <a:ea typeface="楷体_GB2312" pitchFamily="49" charset="-122"/>
                </a:rPr>
                <a:t>单处理器</a:t>
              </a:r>
            </a:p>
          </p:txBody>
        </p:sp>
        <p:sp>
          <p:nvSpPr>
            <p:cNvPr id="31761" name="Text Box 18"/>
            <p:cNvSpPr txBox="1">
              <a:spLocks noChangeArrowheads="1"/>
            </p:cNvSpPr>
            <p:nvPr/>
          </p:nvSpPr>
          <p:spPr bwMode="auto">
            <a:xfrm>
              <a:off x="768" y="3014"/>
              <a:ext cx="816"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1.</a:t>
              </a:r>
              <a:r>
                <a:rPr kumimoji="1" lang="zh-CN" altLang="en-US" b="1">
                  <a:solidFill>
                    <a:srgbClr val="0000CC"/>
                  </a:solidFill>
                  <a:latin typeface="Times New Roman" pitchFamily="18" charset="0"/>
                  <a:ea typeface="楷体_GB2312" pitchFamily="49" charset="-122"/>
                </a:rPr>
                <a:t>写“</a:t>
              </a:r>
              <a:r>
                <a:rPr kumimoji="1" lang="en-US" altLang="zh-CN" b="1">
                  <a:solidFill>
                    <a:srgbClr val="0000CC"/>
                  </a:solidFill>
                  <a:latin typeface="Times New Roman" pitchFamily="18" charset="0"/>
                  <a:ea typeface="楷体_GB2312" pitchFamily="49" charset="-122"/>
                </a:rPr>
                <a:t>c”</a:t>
              </a:r>
            </a:p>
          </p:txBody>
        </p:sp>
        <p:sp>
          <p:nvSpPr>
            <p:cNvPr id="31762" name="Text Box 19"/>
            <p:cNvSpPr txBox="1">
              <a:spLocks noChangeArrowheads="1"/>
            </p:cNvSpPr>
            <p:nvPr/>
          </p:nvSpPr>
          <p:spPr bwMode="auto">
            <a:xfrm>
              <a:off x="2112" y="4022"/>
              <a:ext cx="1584"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2.</a:t>
              </a:r>
              <a:r>
                <a:rPr kumimoji="1" lang="zh-CN" altLang="en-US" b="1">
                  <a:solidFill>
                    <a:srgbClr val="0000CC"/>
                  </a:solidFill>
                  <a:latin typeface="Times New Roman" pitchFamily="18" charset="0"/>
                  <a:ea typeface="楷体_GB2312" pitchFamily="49" charset="-122"/>
                </a:rPr>
                <a:t>读出“</a:t>
              </a:r>
              <a:r>
                <a:rPr kumimoji="1" lang="en-US" altLang="zh-CN" b="1">
                  <a:solidFill>
                    <a:srgbClr val="0000CC"/>
                  </a:solidFill>
                  <a:latin typeface="Times New Roman" pitchFamily="18" charset="0"/>
                  <a:ea typeface="楷体_GB2312" pitchFamily="49" charset="-122"/>
                </a:rPr>
                <a:t>abc”</a:t>
              </a:r>
            </a:p>
          </p:txBody>
        </p:sp>
        <p:sp>
          <p:nvSpPr>
            <p:cNvPr id="31763" name="Line 20"/>
            <p:cNvSpPr>
              <a:spLocks noChangeShapeType="1"/>
            </p:cNvSpPr>
            <p:nvPr/>
          </p:nvSpPr>
          <p:spPr bwMode="auto">
            <a:xfrm>
              <a:off x="1344" y="3216"/>
              <a:ext cx="912" cy="192"/>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1764" name="Line 21"/>
            <p:cNvSpPr>
              <a:spLocks noChangeShapeType="1"/>
            </p:cNvSpPr>
            <p:nvPr/>
          </p:nvSpPr>
          <p:spPr bwMode="auto">
            <a:xfrm flipV="1">
              <a:off x="2640" y="3840"/>
              <a:ext cx="384" cy="192"/>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1765" name="Text Box 22"/>
            <p:cNvSpPr txBox="1">
              <a:spLocks noChangeArrowheads="1"/>
            </p:cNvSpPr>
            <p:nvPr/>
          </p:nvSpPr>
          <p:spPr bwMode="auto">
            <a:xfrm>
              <a:off x="3552" y="2640"/>
              <a:ext cx="816"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b="1">
                  <a:solidFill>
                    <a:srgbClr val="0000CC"/>
                  </a:solidFill>
                  <a:latin typeface="Arial Black" pitchFamily="34" charset="0"/>
                  <a:ea typeface="楷体_GB2312" pitchFamily="49" charset="-122"/>
                </a:rPr>
                <a:t>初始文件</a:t>
              </a:r>
            </a:p>
          </p:txBody>
        </p:sp>
        <p:sp>
          <p:nvSpPr>
            <p:cNvPr id="31766" name="Line 23"/>
            <p:cNvSpPr>
              <a:spLocks noChangeShapeType="1"/>
            </p:cNvSpPr>
            <p:nvPr/>
          </p:nvSpPr>
          <p:spPr bwMode="auto">
            <a:xfrm flipH="1">
              <a:off x="3216" y="2832"/>
              <a:ext cx="480" cy="288"/>
            </a:xfrm>
            <a:prstGeom prst="line">
              <a:avLst/>
            </a:prstGeom>
            <a:noFill/>
            <a:ln w="9525">
              <a:solidFill>
                <a:srgbClr val="000000"/>
              </a:solidFill>
              <a:round/>
              <a:headEnd type="none" w="sm" len="sm"/>
              <a:tailEnd type="triangle" w="med" len="med"/>
            </a:ln>
          </p:spPr>
          <p:txBody>
            <a:bodyPr anchor="ctr"/>
            <a:lstStyle/>
            <a:p>
              <a:endParaRPr lang="zh-CN" altLang="en-US"/>
            </a:p>
          </p:txBody>
        </p:sp>
      </p:grpSp>
      <p:sp>
        <p:nvSpPr>
          <p:cNvPr id="31749" name="Rectangle 24"/>
          <p:cNvSpPr>
            <a:spLocks noGrp="1"/>
          </p:cNvSpPr>
          <p:nvPr>
            <p:ph type="body" idx="1"/>
          </p:nvPr>
        </p:nvSpPr>
        <p:spPr>
          <a:xfrm>
            <a:off x="323850" y="1628775"/>
            <a:ext cx="8539163" cy="2160588"/>
          </a:xfrm>
          <a:noFill/>
        </p:spPr>
        <p:txBody>
          <a:bodyPr/>
          <a:lstStyle/>
          <a:p>
            <a:r>
              <a:rPr lang="en-US" altLang="zh-CN" smtClean="0"/>
              <a:t>UNIX</a:t>
            </a:r>
            <a:r>
              <a:rPr lang="zh-CN" altLang="en-US" smtClean="0"/>
              <a:t>语义</a:t>
            </a:r>
          </a:p>
          <a:p>
            <a:pPr lvl="1"/>
            <a:r>
              <a:rPr lang="zh-CN" altLang="en-US" smtClean="0">
                <a:solidFill>
                  <a:srgbClr val="06070E"/>
                </a:solidFill>
              </a:rPr>
              <a:t>在</a:t>
            </a:r>
            <a:r>
              <a:rPr lang="en-US" altLang="zh-CN" smtClean="0">
                <a:solidFill>
                  <a:srgbClr val="06070E"/>
                </a:solidFill>
              </a:rPr>
              <a:t>READ</a:t>
            </a:r>
            <a:r>
              <a:rPr lang="zh-CN" altLang="en-US" smtClean="0">
                <a:solidFill>
                  <a:srgbClr val="06070E"/>
                </a:solidFill>
              </a:rPr>
              <a:t>操作紧跟在</a:t>
            </a:r>
            <a:r>
              <a:rPr lang="en-US" altLang="zh-CN" smtClean="0">
                <a:solidFill>
                  <a:srgbClr val="06070E"/>
                </a:solidFill>
              </a:rPr>
              <a:t>WRITE</a:t>
            </a:r>
            <a:r>
              <a:rPr lang="zh-CN" altLang="en-US" smtClean="0">
                <a:solidFill>
                  <a:srgbClr val="06070E"/>
                </a:solidFill>
              </a:rPr>
              <a:t>操作后执行时，</a:t>
            </a:r>
            <a:r>
              <a:rPr lang="en-US" altLang="zh-CN" smtClean="0">
                <a:solidFill>
                  <a:srgbClr val="06070E"/>
                </a:solidFill>
              </a:rPr>
              <a:t>READ</a:t>
            </a:r>
            <a:r>
              <a:rPr lang="zh-CN" altLang="en-US" smtClean="0">
                <a:solidFill>
                  <a:srgbClr val="06070E"/>
                </a:solidFill>
              </a:rPr>
              <a:t>操作返回刚刚写入的值。</a:t>
            </a:r>
          </a:p>
          <a:p>
            <a:pPr lvl="1"/>
            <a:r>
              <a:rPr lang="zh-CN" altLang="en-US" smtClean="0">
                <a:solidFill>
                  <a:srgbClr val="06070E"/>
                </a:solidFill>
              </a:rPr>
              <a:t>当一个</a:t>
            </a:r>
            <a:r>
              <a:rPr lang="en-US" altLang="zh-CN" smtClean="0">
                <a:solidFill>
                  <a:srgbClr val="06070E"/>
                </a:solidFill>
              </a:rPr>
              <a:t>READ</a:t>
            </a:r>
            <a:r>
              <a:rPr lang="zh-CN" altLang="en-US" smtClean="0">
                <a:solidFill>
                  <a:srgbClr val="06070E"/>
                </a:solidFill>
              </a:rPr>
              <a:t>操作跟在两个紧相连发生的</a:t>
            </a:r>
            <a:r>
              <a:rPr lang="en-US" altLang="zh-CN" smtClean="0">
                <a:solidFill>
                  <a:srgbClr val="06070E"/>
                </a:solidFill>
              </a:rPr>
              <a:t>WRITE</a:t>
            </a:r>
            <a:r>
              <a:rPr lang="zh-CN" altLang="en-US" smtClean="0">
                <a:solidFill>
                  <a:srgbClr val="06070E"/>
                </a:solidFill>
              </a:rPr>
              <a:t>操作后，读入的值是后一个写操作写入的值。</a:t>
            </a:r>
            <a:endParaRPr lang="zh-CN" altLang="en-US"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9"/>
          <p:cNvSpPr>
            <a:spLocks noGrp="1"/>
          </p:cNvSpPr>
          <p:nvPr>
            <p:ph type="sldNum" sz="quarter" idx="12"/>
          </p:nvPr>
        </p:nvSpPr>
        <p:spPr/>
        <p:txBody>
          <a:bodyPr/>
          <a:lstStyle/>
          <a:p>
            <a:pPr>
              <a:defRPr/>
            </a:pPr>
            <a:fld id="{4977DAE7-F754-47FC-9D8A-97E2B15B7A83}" type="slidenum">
              <a:rPr lang="zh-CN" altLang="en-US"/>
              <a:pPr>
                <a:defRPr/>
              </a:pPr>
              <a:t>31</a:t>
            </a:fld>
            <a:endParaRPr lang="zh-CN" altLang="en-US"/>
          </a:p>
        </p:txBody>
      </p:sp>
      <p:sp>
        <p:nvSpPr>
          <p:cNvPr id="32771" name="Rectangle 2"/>
          <p:cNvSpPr>
            <a:spLocks noGrp="1"/>
          </p:cNvSpPr>
          <p:nvPr>
            <p:ph type="title"/>
          </p:nvPr>
        </p:nvSpPr>
        <p:spPr/>
        <p:txBody>
          <a:bodyPr/>
          <a:lstStyle/>
          <a:p>
            <a:r>
              <a:rPr lang="zh-CN" altLang="en-US" smtClean="0"/>
              <a:t>文件共享语义</a:t>
            </a:r>
          </a:p>
        </p:txBody>
      </p:sp>
      <p:grpSp>
        <p:nvGrpSpPr>
          <p:cNvPr id="32772" name="Group 6"/>
          <p:cNvGrpSpPr>
            <a:grpSpLocks/>
          </p:cNvGrpSpPr>
          <p:nvPr/>
        </p:nvGrpSpPr>
        <p:grpSpPr bwMode="auto">
          <a:xfrm>
            <a:off x="1447800" y="3471863"/>
            <a:ext cx="6629400" cy="3005137"/>
            <a:chOff x="912" y="2160"/>
            <a:chExt cx="4176" cy="1893"/>
          </a:xfrm>
        </p:grpSpPr>
        <p:sp>
          <p:nvSpPr>
            <p:cNvPr id="32775" name="Rectangle 7"/>
            <p:cNvSpPr>
              <a:spLocks noChangeArrowheads="1"/>
            </p:cNvSpPr>
            <p:nvPr/>
          </p:nvSpPr>
          <p:spPr bwMode="auto">
            <a:xfrm>
              <a:off x="1750" y="2160"/>
              <a:ext cx="1475" cy="609"/>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32776" name="Rectangle 8"/>
            <p:cNvSpPr>
              <a:spLocks noChangeArrowheads="1"/>
            </p:cNvSpPr>
            <p:nvPr/>
          </p:nvSpPr>
          <p:spPr bwMode="auto">
            <a:xfrm>
              <a:off x="2321" y="2271"/>
              <a:ext cx="229" cy="110"/>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2777" name="Rectangle 9"/>
            <p:cNvSpPr>
              <a:spLocks noChangeArrowheads="1"/>
            </p:cNvSpPr>
            <p:nvPr/>
          </p:nvSpPr>
          <p:spPr bwMode="auto">
            <a:xfrm>
              <a:off x="2550" y="2271"/>
              <a:ext cx="228" cy="110"/>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2778" name="Rectangle 10"/>
            <p:cNvSpPr>
              <a:spLocks noChangeArrowheads="1"/>
            </p:cNvSpPr>
            <p:nvPr/>
          </p:nvSpPr>
          <p:spPr bwMode="auto">
            <a:xfrm>
              <a:off x="2244" y="2493"/>
              <a:ext cx="229" cy="110"/>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2779" name="Rectangle 11"/>
            <p:cNvSpPr>
              <a:spLocks noChangeArrowheads="1"/>
            </p:cNvSpPr>
            <p:nvPr/>
          </p:nvSpPr>
          <p:spPr bwMode="auto">
            <a:xfrm>
              <a:off x="2473" y="2493"/>
              <a:ext cx="228" cy="110"/>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2780" name="Rectangle 12"/>
            <p:cNvSpPr>
              <a:spLocks noChangeArrowheads="1"/>
            </p:cNvSpPr>
            <p:nvPr/>
          </p:nvSpPr>
          <p:spPr bwMode="auto">
            <a:xfrm>
              <a:off x="2701" y="2493"/>
              <a:ext cx="229" cy="110"/>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c</a:t>
              </a:r>
            </a:p>
          </p:txBody>
        </p:sp>
        <p:sp>
          <p:nvSpPr>
            <p:cNvPr id="32781" name="Oval 13"/>
            <p:cNvSpPr>
              <a:spLocks noChangeArrowheads="1"/>
            </p:cNvSpPr>
            <p:nvPr/>
          </p:nvSpPr>
          <p:spPr bwMode="auto">
            <a:xfrm>
              <a:off x="1864" y="2271"/>
              <a:ext cx="190" cy="110"/>
            </a:xfrm>
            <a:prstGeom prst="ellipse">
              <a:avLst/>
            </a:prstGeom>
            <a:noFill/>
            <a:ln w="9525">
              <a:solidFill>
                <a:srgbClr val="000000"/>
              </a:solidFill>
              <a:round/>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2782" name="Line 14"/>
            <p:cNvSpPr>
              <a:spLocks noChangeShapeType="1"/>
            </p:cNvSpPr>
            <p:nvPr/>
          </p:nvSpPr>
          <p:spPr bwMode="auto">
            <a:xfrm>
              <a:off x="2093" y="2381"/>
              <a:ext cx="151" cy="84"/>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2783" name="Text Box 15"/>
            <p:cNvSpPr txBox="1">
              <a:spLocks noChangeArrowheads="1"/>
            </p:cNvSpPr>
            <p:nvPr/>
          </p:nvSpPr>
          <p:spPr bwMode="auto">
            <a:xfrm>
              <a:off x="912" y="2210"/>
              <a:ext cx="647"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2.</a:t>
              </a:r>
              <a:r>
                <a:rPr kumimoji="1" lang="zh-CN" altLang="en-US" b="1">
                  <a:solidFill>
                    <a:srgbClr val="0000CC"/>
                  </a:solidFill>
                  <a:latin typeface="Times New Roman" pitchFamily="18" charset="0"/>
                  <a:ea typeface="楷体_GB2312" pitchFamily="49" charset="-122"/>
                </a:rPr>
                <a:t>写“</a:t>
              </a:r>
              <a:r>
                <a:rPr kumimoji="1" lang="en-US" altLang="zh-CN" b="1">
                  <a:solidFill>
                    <a:srgbClr val="0000CC"/>
                  </a:solidFill>
                  <a:latin typeface="Times New Roman" pitchFamily="18" charset="0"/>
                  <a:ea typeface="楷体_GB2312" pitchFamily="49" charset="-122"/>
                </a:rPr>
                <a:t>c”</a:t>
              </a:r>
            </a:p>
          </p:txBody>
        </p:sp>
        <p:sp>
          <p:nvSpPr>
            <p:cNvPr id="32784" name="Line 16"/>
            <p:cNvSpPr>
              <a:spLocks noChangeShapeType="1"/>
            </p:cNvSpPr>
            <p:nvPr/>
          </p:nvSpPr>
          <p:spPr bwMode="auto">
            <a:xfrm>
              <a:off x="1369" y="2326"/>
              <a:ext cx="724" cy="111"/>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2785" name="Rectangle 17"/>
            <p:cNvSpPr>
              <a:spLocks noChangeArrowheads="1"/>
            </p:cNvSpPr>
            <p:nvPr/>
          </p:nvSpPr>
          <p:spPr bwMode="auto">
            <a:xfrm>
              <a:off x="3464" y="2421"/>
              <a:ext cx="1389" cy="610"/>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32786" name="Rectangle 18"/>
            <p:cNvSpPr>
              <a:spLocks noChangeArrowheads="1"/>
            </p:cNvSpPr>
            <p:nvPr/>
          </p:nvSpPr>
          <p:spPr bwMode="auto">
            <a:xfrm>
              <a:off x="4035" y="2659"/>
              <a:ext cx="228" cy="110"/>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2787" name="Rectangle 19"/>
            <p:cNvSpPr>
              <a:spLocks noChangeArrowheads="1"/>
            </p:cNvSpPr>
            <p:nvPr/>
          </p:nvSpPr>
          <p:spPr bwMode="auto">
            <a:xfrm>
              <a:off x="4263" y="2659"/>
              <a:ext cx="229" cy="110"/>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2788" name="Rectangle 20"/>
            <p:cNvSpPr>
              <a:spLocks noChangeArrowheads="1"/>
            </p:cNvSpPr>
            <p:nvPr/>
          </p:nvSpPr>
          <p:spPr bwMode="auto">
            <a:xfrm>
              <a:off x="1769" y="3205"/>
              <a:ext cx="1456" cy="609"/>
            </a:xfrm>
            <a:prstGeom prst="rect">
              <a:avLst/>
            </a:prstGeom>
            <a:noFill/>
            <a:ln w="9525">
              <a:solidFill>
                <a:srgbClr val="000000"/>
              </a:solidFill>
              <a:miter lim="800000"/>
              <a:headEnd type="none" w="sm" len="sm"/>
              <a:tailEnd type="none" w="sm" len="sm"/>
            </a:ln>
          </p:spPr>
          <p:txBody>
            <a:bodyPr wrap="none" anchor="ctr"/>
            <a:lstStyle/>
            <a:p>
              <a:endParaRPr lang="zh-CN" altLang="en-US"/>
            </a:p>
          </p:txBody>
        </p:sp>
        <p:sp>
          <p:nvSpPr>
            <p:cNvPr id="32789" name="Rectangle 21"/>
            <p:cNvSpPr>
              <a:spLocks noChangeArrowheads="1"/>
            </p:cNvSpPr>
            <p:nvPr/>
          </p:nvSpPr>
          <p:spPr bwMode="auto">
            <a:xfrm>
              <a:off x="2340" y="3442"/>
              <a:ext cx="228" cy="111"/>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a</a:t>
              </a:r>
            </a:p>
          </p:txBody>
        </p:sp>
        <p:sp>
          <p:nvSpPr>
            <p:cNvPr id="32790" name="Rectangle 22"/>
            <p:cNvSpPr>
              <a:spLocks noChangeArrowheads="1"/>
            </p:cNvSpPr>
            <p:nvPr/>
          </p:nvSpPr>
          <p:spPr bwMode="auto">
            <a:xfrm>
              <a:off x="2568" y="3442"/>
              <a:ext cx="229" cy="111"/>
            </a:xfrm>
            <a:prstGeom prst="rect">
              <a:avLst/>
            </a:prstGeom>
            <a:noFill/>
            <a:ln w="9525">
              <a:solidFill>
                <a:srgbClr val="000000"/>
              </a:solidFill>
              <a:miter lim="800000"/>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2791" name="Line 23"/>
            <p:cNvSpPr>
              <a:spLocks noChangeShapeType="1"/>
            </p:cNvSpPr>
            <p:nvPr/>
          </p:nvSpPr>
          <p:spPr bwMode="auto">
            <a:xfrm flipH="1" flipV="1">
              <a:off x="2840" y="2334"/>
              <a:ext cx="1285" cy="305"/>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2792" name="Line 24"/>
            <p:cNvSpPr>
              <a:spLocks noChangeShapeType="1"/>
            </p:cNvSpPr>
            <p:nvPr/>
          </p:nvSpPr>
          <p:spPr bwMode="auto">
            <a:xfrm flipH="1">
              <a:off x="2711" y="2813"/>
              <a:ext cx="1457" cy="566"/>
            </a:xfrm>
            <a:prstGeom prst="line">
              <a:avLst/>
            </a:prstGeom>
            <a:noFill/>
            <a:ln w="9525">
              <a:solidFill>
                <a:srgbClr val="000000"/>
              </a:solidFill>
              <a:round/>
              <a:headEnd type="none" w="sm" len="sm"/>
              <a:tailEnd type="triangle" w="lg" len="med"/>
            </a:ln>
          </p:spPr>
          <p:txBody>
            <a:bodyPr anchor="ctr"/>
            <a:lstStyle/>
            <a:p>
              <a:endParaRPr lang="zh-CN" altLang="en-US"/>
            </a:p>
          </p:txBody>
        </p:sp>
        <p:sp>
          <p:nvSpPr>
            <p:cNvPr id="32793" name="Oval 25"/>
            <p:cNvSpPr>
              <a:spLocks noChangeArrowheads="1"/>
            </p:cNvSpPr>
            <p:nvPr/>
          </p:nvSpPr>
          <p:spPr bwMode="auto">
            <a:xfrm>
              <a:off x="1897" y="3422"/>
              <a:ext cx="214" cy="131"/>
            </a:xfrm>
            <a:prstGeom prst="ellipse">
              <a:avLst/>
            </a:prstGeom>
            <a:noFill/>
            <a:ln w="9525">
              <a:solidFill>
                <a:srgbClr val="000000"/>
              </a:solidFill>
              <a:round/>
              <a:headEnd type="none" w="sm" len="sm"/>
              <a:tailEnd type="none" w="sm" len="sm"/>
            </a:ln>
          </p:spPr>
          <p:txBody>
            <a:bodyPr wrap="none" anchor="ctr"/>
            <a:lstStyle/>
            <a:p>
              <a:pPr marL="342900" indent="-342900" algn="ctr">
                <a:spcBef>
                  <a:spcPct val="2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B</a:t>
              </a:r>
            </a:p>
          </p:txBody>
        </p:sp>
        <p:sp>
          <p:nvSpPr>
            <p:cNvPr id="32794" name="Text Box 26"/>
            <p:cNvSpPr txBox="1">
              <a:spLocks noChangeArrowheads="1"/>
            </p:cNvSpPr>
            <p:nvPr/>
          </p:nvSpPr>
          <p:spPr bwMode="auto">
            <a:xfrm>
              <a:off x="3268" y="2204"/>
              <a:ext cx="956"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1.</a:t>
              </a:r>
              <a:r>
                <a:rPr kumimoji="1" lang="zh-CN" altLang="en-US" b="1">
                  <a:solidFill>
                    <a:srgbClr val="0000CC"/>
                  </a:solidFill>
                  <a:latin typeface="Times New Roman" pitchFamily="18" charset="0"/>
                  <a:ea typeface="楷体_GB2312" pitchFamily="49" charset="-122"/>
                </a:rPr>
                <a:t>读“</a:t>
              </a:r>
              <a:r>
                <a:rPr kumimoji="1" lang="en-US" altLang="zh-CN" b="1">
                  <a:solidFill>
                    <a:srgbClr val="0000CC"/>
                  </a:solidFill>
                  <a:latin typeface="Times New Roman" pitchFamily="18" charset="0"/>
                  <a:ea typeface="楷体_GB2312" pitchFamily="49" charset="-122"/>
                </a:rPr>
                <a:t>ab”</a:t>
              </a:r>
            </a:p>
          </p:txBody>
        </p:sp>
        <p:sp>
          <p:nvSpPr>
            <p:cNvPr id="32795" name="Text Box 27"/>
            <p:cNvSpPr txBox="1">
              <a:spLocks noChangeArrowheads="1"/>
            </p:cNvSpPr>
            <p:nvPr/>
          </p:nvSpPr>
          <p:spPr bwMode="auto">
            <a:xfrm>
              <a:off x="3268" y="3126"/>
              <a:ext cx="908"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en-US" altLang="zh-CN" b="1">
                  <a:solidFill>
                    <a:srgbClr val="0000CC"/>
                  </a:solidFill>
                  <a:latin typeface="Times New Roman" pitchFamily="18" charset="0"/>
                  <a:ea typeface="楷体_GB2312" pitchFamily="49" charset="-122"/>
                </a:rPr>
                <a:t>3.</a:t>
              </a:r>
              <a:r>
                <a:rPr kumimoji="1" lang="zh-CN" altLang="en-US" b="1">
                  <a:solidFill>
                    <a:srgbClr val="0000CC"/>
                  </a:solidFill>
                  <a:latin typeface="Times New Roman" pitchFamily="18" charset="0"/>
                  <a:ea typeface="楷体_GB2312" pitchFamily="49" charset="-122"/>
                </a:rPr>
                <a:t>读出“</a:t>
              </a:r>
              <a:r>
                <a:rPr kumimoji="1" lang="en-US" altLang="zh-CN" b="1">
                  <a:solidFill>
                    <a:srgbClr val="0000CC"/>
                  </a:solidFill>
                  <a:latin typeface="Times New Roman" pitchFamily="18" charset="0"/>
                  <a:ea typeface="楷体_GB2312" pitchFamily="49" charset="-122"/>
                </a:rPr>
                <a:t>ab”</a:t>
              </a:r>
            </a:p>
          </p:txBody>
        </p:sp>
        <p:sp>
          <p:nvSpPr>
            <p:cNvPr id="32796" name="Text Box 28"/>
            <p:cNvSpPr txBox="1">
              <a:spLocks noChangeArrowheads="1"/>
            </p:cNvSpPr>
            <p:nvPr/>
          </p:nvSpPr>
          <p:spPr bwMode="auto">
            <a:xfrm>
              <a:off x="2154" y="3822"/>
              <a:ext cx="678"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b="1">
                  <a:solidFill>
                    <a:srgbClr val="0000CC"/>
                  </a:solidFill>
                  <a:latin typeface="Times New Roman" pitchFamily="18" charset="0"/>
                  <a:ea typeface="楷体_GB2312" pitchFamily="49" charset="-122"/>
                </a:rPr>
                <a:t>客户</a:t>
              </a:r>
              <a:r>
                <a:rPr kumimoji="1" lang="en-US" altLang="zh-CN" b="1">
                  <a:solidFill>
                    <a:srgbClr val="0000CC"/>
                  </a:solidFill>
                  <a:latin typeface="Times New Roman" pitchFamily="18" charset="0"/>
                  <a:ea typeface="楷体_GB2312" pitchFamily="49" charset="-122"/>
                </a:rPr>
                <a:t>2</a:t>
              </a:r>
            </a:p>
          </p:txBody>
        </p:sp>
        <p:sp>
          <p:nvSpPr>
            <p:cNvPr id="32797" name="Text Box 29"/>
            <p:cNvSpPr txBox="1">
              <a:spLocks noChangeArrowheads="1"/>
            </p:cNvSpPr>
            <p:nvPr/>
          </p:nvSpPr>
          <p:spPr bwMode="auto">
            <a:xfrm>
              <a:off x="2154" y="2769"/>
              <a:ext cx="630"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b="1">
                  <a:solidFill>
                    <a:srgbClr val="0000CC"/>
                  </a:solidFill>
                  <a:latin typeface="Times New Roman" pitchFamily="18" charset="0"/>
                  <a:ea typeface="楷体_GB2312" pitchFamily="49" charset="-122"/>
                </a:rPr>
                <a:t>客户</a:t>
              </a:r>
              <a:r>
                <a:rPr kumimoji="1" lang="en-US" altLang="zh-CN" b="1">
                  <a:solidFill>
                    <a:srgbClr val="0000CC"/>
                  </a:solidFill>
                  <a:latin typeface="Times New Roman" pitchFamily="18" charset="0"/>
                  <a:ea typeface="楷体_GB2312" pitchFamily="49" charset="-122"/>
                </a:rPr>
                <a:t>1</a:t>
              </a:r>
            </a:p>
          </p:txBody>
        </p:sp>
        <p:sp>
          <p:nvSpPr>
            <p:cNvPr id="32798" name="Text Box 30"/>
            <p:cNvSpPr txBox="1">
              <a:spLocks noChangeArrowheads="1"/>
            </p:cNvSpPr>
            <p:nvPr/>
          </p:nvSpPr>
          <p:spPr bwMode="auto">
            <a:xfrm>
              <a:off x="4082" y="3031"/>
              <a:ext cx="1006" cy="231"/>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b="1">
                  <a:solidFill>
                    <a:srgbClr val="0000CC"/>
                  </a:solidFill>
                  <a:latin typeface="Times New Roman" pitchFamily="18" charset="0"/>
                  <a:ea typeface="楷体_GB2312" pitchFamily="49" charset="-122"/>
                </a:rPr>
                <a:t>文件服务器</a:t>
              </a:r>
            </a:p>
          </p:txBody>
        </p:sp>
      </p:grpSp>
      <p:sp>
        <p:nvSpPr>
          <p:cNvPr id="32773" name="Text Box 31"/>
          <p:cNvSpPr txBox="1">
            <a:spLocks noChangeArrowheads="1"/>
          </p:cNvSpPr>
          <p:nvPr/>
        </p:nvSpPr>
        <p:spPr bwMode="auto">
          <a:xfrm>
            <a:off x="5715000" y="5791200"/>
            <a:ext cx="2743200" cy="366713"/>
          </a:xfrm>
          <a:prstGeom prst="rect">
            <a:avLst/>
          </a:prstGeom>
          <a:noFill/>
          <a:ln w="9525">
            <a:noFill/>
            <a:miter lim="800000"/>
            <a:headEnd type="none" w="sm" len="sm"/>
            <a:tailEnd type="none" w="sm" len="sm"/>
          </a:ln>
        </p:spPr>
        <p:txBody>
          <a:bodyPr>
            <a:spAutoFit/>
          </a:bodyPr>
          <a:lstStyle/>
          <a:p>
            <a:pPr marL="342900" indent="-342900">
              <a:spcBef>
                <a:spcPct val="50000"/>
              </a:spcBef>
              <a:buClr>
                <a:schemeClr val="tx2"/>
              </a:buClr>
              <a:buFont typeface="Wingdings" pitchFamily="2" charset="2"/>
              <a:buNone/>
            </a:pPr>
            <a:r>
              <a:rPr kumimoji="1" lang="zh-CN" altLang="en-US" b="1">
                <a:solidFill>
                  <a:srgbClr val="0000CC"/>
                </a:solidFill>
                <a:latin typeface="Arial Black" pitchFamily="34" charset="0"/>
                <a:ea typeface="楷体_GB2312" pitchFamily="49" charset="-122"/>
              </a:rPr>
              <a:t>读出了一个过时的值</a:t>
            </a:r>
          </a:p>
        </p:txBody>
      </p:sp>
      <p:sp>
        <p:nvSpPr>
          <p:cNvPr id="32774" name="Rectangle 33"/>
          <p:cNvSpPr>
            <a:spLocks noGrp="1"/>
          </p:cNvSpPr>
          <p:nvPr>
            <p:ph type="body" idx="1"/>
          </p:nvPr>
        </p:nvSpPr>
        <p:spPr>
          <a:xfrm>
            <a:off x="323850" y="1628775"/>
            <a:ext cx="8539163" cy="2160588"/>
          </a:xfrm>
          <a:noFill/>
        </p:spPr>
        <p:txBody>
          <a:bodyPr/>
          <a:lstStyle/>
          <a:p>
            <a:r>
              <a:rPr lang="zh-CN" altLang="en-US" smtClean="0"/>
              <a:t>分布式系统中存在的问题</a:t>
            </a:r>
          </a:p>
          <a:p>
            <a:pPr lvl="1"/>
            <a:r>
              <a:rPr lang="zh-CN" altLang="en-US" smtClean="0">
                <a:solidFill>
                  <a:srgbClr val="06070E"/>
                </a:solidFill>
              </a:rPr>
              <a:t>分布式系统中允许客户在它们自己的高速缓存中保留经常使用的文件的局部拷贝。</a:t>
            </a:r>
            <a:endParaRPr lang="zh-CN" altLang="en-US"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664ACA0A-65FC-48AD-B985-410E556AD24B}" type="slidenum">
              <a:rPr lang="zh-CN" altLang="en-US"/>
              <a:pPr>
                <a:defRPr/>
              </a:pPr>
              <a:t>32</a:t>
            </a:fld>
            <a:endParaRPr lang="zh-CN" altLang="en-US"/>
          </a:p>
        </p:txBody>
      </p:sp>
      <p:sp>
        <p:nvSpPr>
          <p:cNvPr id="33795" name="Rectangle 2"/>
          <p:cNvSpPr>
            <a:spLocks noGrp="1"/>
          </p:cNvSpPr>
          <p:nvPr>
            <p:ph type="title"/>
          </p:nvPr>
        </p:nvSpPr>
        <p:spPr/>
        <p:txBody>
          <a:bodyPr/>
          <a:lstStyle/>
          <a:p>
            <a:r>
              <a:rPr lang="zh-CN" altLang="en-US" smtClean="0"/>
              <a:t>文件共享语义</a:t>
            </a:r>
          </a:p>
        </p:txBody>
      </p:sp>
      <p:sp>
        <p:nvSpPr>
          <p:cNvPr id="33796" name="Text Box 5"/>
          <p:cNvSpPr txBox="1">
            <a:spLocks noChangeArrowheads="1"/>
          </p:cNvSpPr>
          <p:nvPr/>
        </p:nvSpPr>
        <p:spPr bwMode="auto">
          <a:xfrm>
            <a:off x="768350" y="2230438"/>
            <a:ext cx="7391400" cy="895350"/>
          </a:xfrm>
          <a:prstGeom prst="rect">
            <a:avLst/>
          </a:prstGeom>
          <a:noFill/>
          <a:ln w="9525">
            <a:noFill/>
            <a:miter lim="800000"/>
            <a:headEnd type="none" w="sm" len="sm"/>
            <a:tailEnd type="none" w="sm" len="sm"/>
          </a:ln>
        </p:spPr>
        <p:txBody>
          <a:bodyPr>
            <a:spAutoFit/>
          </a:bodyPr>
          <a:lstStyle/>
          <a:p>
            <a:pPr marL="342900" indent="-342900" algn="just">
              <a:spcBef>
                <a:spcPct val="20000"/>
              </a:spcBef>
              <a:buClr>
                <a:schemeClr val="tx2"/>
              </a:buClr>
              <a:buFont typeface="Wingdings" pitchFamily="2" charset="2"/>
              <a:buChar char="w"/>
            </a:pPr>
            <a:endParaRPr lang="zh-CN" altLang="en-US" sz="2400">
              <a:solidFill>
                <a:srgbClr val="06070E"/>
              </a:solidFill>
              <a:latin typeface="Times New Roman" pitchFamily="18" charset="0"/>
              <a:ea typeface="华文中宋" pitchFamily="2" charset="-122"/>
            </a:endParaRPr>
          </a:p>
          <a:p>
            <a:pPr marL="342900" indent="-342900" algn="just">
              <a:spcBef>
                <a:spcPct val="20000"/>
              </a:spcBef>
              <a:buClr>
                <a:schemeClr val="tx2"/>
              </a:buClr>
              <a:buFont typeface="Wingdings" pitchFamily="2" charset="2"/>
              <a:buChar char="w"/>
            </a:pPr>
            <a:endParaRPr lang="zh-CN" altLang="en-US" sz="2400">
              <a:solidFill>
                <a:srgbClr val="06070E"/>
              </a:solidFill>
              <a:latin typeface="Times New Roman" pitchFamily="18" charset="0"/>
              <a:ea typeface="华文中宋" pitchFamily="2" charset="-122"/>
            </a:endParaRPr>
          </a:p>
        </p:txBody>
      </p:sp>
      <p:sp>
        <p:nvSpPr>
          <p:cNvPr id="33797" name="Rectangle 6"/>
          <p:cNvSpPr>
            <a:spLocks noGrp="1"/>
          </p:cNvSpPr>
          <p:nvPr>
            <p:ph type="body" idx="1"/>
          </p:nvPr>
        </p:nvSpPr>
        <p:spPr>
          <a:xfrm>
            <a:off x="395288" y="1700213"/>
            <a:ext cx="8539162" cy="4608512"/>
          </a:xfrm>
          <a:noFill/>
        </p:spPr>
        <p:txBody>
          <a:bodyPr/>
          <a:lstStyle/>
          <a:p>
            <a:r>
              <a:rPr lang="zh-CN" altLang="en-US" smtClean="0"/>
              <a:t>解决办法</a:t>
            </a:r>
            <a:r>
              <a:rPr lang="en-US" altLang="zh-CN" smtClean="0"/>
              <a:t>——</a:t>
            </a:r>
            <a:r>
              <a:rPr lang="zh-CN" altLang="en-US" smtClean="0"/>
              <a:t>对话语义</a:t>
            </a:r>
          </a:p>
          <a:p>
            <a:pPr lvl="1"/>
            <a:r>
              <a:rPr lang="zh-CN" altLang="en-US" smtClean="0">
                <a:solidFill>
                  <a:srgbClr val="06070E"/>
                </a:solidFill>
              </a:rPr>
              <a:t>立即将高速缓存文件的所有修改回写到服务器上。简单、效率低。</a:t>
            </a:r>
          </a:p>
          <a:p>
            <a:pPr lvl="1"/>
            <a:r>
              <a:rPr lang="zh-CN" altLang="en-US" smtClean="0">
                <a:solidFill>
                  <a:srgbClr val="06070E"/>
                </a:solidFill>
              </a:rPr>
              <a:t>规则：对一个打开文件的修改仅对修改该文件的进程是初始可见的，仅当文件关闭时，其修改才对其他进程可见。（对话语义）</a:t>
            </a:r>
          </a:p>
          <a:p>
            <a:pPr lvl="1"/>
            <a:r>
              <a:rPr lang="zh-CN" altLang="en-US" smtClean="0">
                <a:solidFill>
                  <a:srgbClr val="06070E"/>
                </a:solidFill>
              </a:rPr>
              <a:t>当两个或多个客户同时进行高速缓存和修改同一文件，若各个文件连续关闭，将它们的值送到服务器上，最后的结果取决于哪个文件最后关闭。</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C3D81FD2-2306-4008-8849-0C0DD2241666}" type="slidenum">
              <a:rPr lang="zh-CN" altLang="en-US"/>
              <a:pPr>
                <a:defRPr/>
              </a:pPr>
              <a:t>33</a:t>
            </a:fld>
            <a:endParaRPr lang="zh-CN" altLang="en-US"/>
          </a:p>
        </p:txBody>
      </p:sp>
      <p:sp>
        <p:nvSpPr>
          <p:cNvPr id="34819" name="Rectangle 2"/>
          <p:cNvSpPr>
            <a:spLocks noGrp="1"/>
          </p:cNvSpPr>
          <p:nvPr>
            <p:ph type="title"/>
          </p:nvPr>
        </p:nvSpPr>
        <p:spPr/>
        <p:txBody>
          <a:bodyPr/>
          <a:lstStyle/>
          <a:p>
            <a:r>
              <a:rPr lang="zh-CN" altLang="en-US" smtClean="0"/>
              <a:t>文件共享语义</a:t>
            </a:r>
          </a:p>
        </p:txBody>
      </p:sp>
      <p:sp>
        <p:nvSpPr>
          <p:cNvPr id="34820" name="Text Box 5"/>
          <p:cNvSpPr txBox="1">
            <a:spLocks noChangeArrowheads="1"/>
          </p:cNvSpPr>
          <p:nvPr/>
        </p:nvSpPr>
        <p:spPr bwMode="auto">
          <a:xfrm>
            <a:off x="768350" y="6110288"/>
            <a:ext cx="7391400" cy="1333500"/>
          </a:xfrm>
          <a:prstGeom prst="rect">
            <a:avLst/>
          </a:prstGeom>
          <a:noFill/>
          <a:ln w="9525">
            <a:noFill/>
            <a:miter lim="800000"/>
            <a:headEnd type="none" w="sm" len="sm"/>
            <a:tailEnd type="none" w="sm" len="sm"/>
          </a:ln>
        </p:spPr>
        <p:txBody>
          <a:bodyPr>
            <a:spAutoFit/>
          </a:bodyPr>
          <a:lstStyle/>
          <a:p>
            <a:pPr marL="342900" indent="-342900" algn="just">
              <a:spcBef>
                <a:spcPct val="20000"/>
              </a:spcBef>
              <a:buClr>
                <a:schemeClr val="tx2"/>
              </a:buClr>
              <a:buFont typeface="Wingdings" pitchFamily="2" charset="2"/>
              <a:buChar char="w"/>
            </a:pPr>
            <a:endParaRPr lang="zh-CN" altLang="en-US" sz="2400">
              <a:solidFill>
                <a:srgbClr val="06070E"/>
              </a:solidFill>
              <a:latin typeface="Arial Black" pitchFamily="34" charset="0"/>
              <a:ea typeface="华文中宋" pitchFamily="2" charset="-122"/>
            </a:endParaRPr>
          </a:p>
          <a:p>
            <a:pPr marL="342900" indent="-342900" algn="just">
              <a:spcBef>
                <a:spcPct val="20000"/>
              </a:spcBef>
              <a:buClr>
                <a:schemeClr val="tx2"/>
              </a:buClr>
              <a:buFont typeface="Wingdings" pitchFamily="2" charset="2"/>
              <a:buNone/>
            </a:pPr>
            <a:endParaRPr lang="zh-CN" altLang="en-US" sz="2400">
              <a:solidFill>
                <a:srgbClr val="06070E"/>
              </a:solidFill>
              <a:latin typeface="Times New Roman" pitchFamily="18" charset="0"/>
              <a:ea typeface="华文中宋" pitchFamily="2" charset="-122"/>
            </a:endParaRPr>
          </a:p>
          <a:p>
            <a:pPr marL="342900" indent="-342900" algn="just">
              <a:spcBef>
                <a:spcPct val="20000"/>
              </a:spcBef>
              <a:buClr>
                <a:schemeClr val="tx2"/>
              </a:buClr>
              <a:buFont typeface="Wingdings" pitchFamily="2" charset="2"/>
              <a:buChar char="w"/>
            </a:pPr>
            <a:endParaRPr lang="zh-CN" altLang="en-US" sz="2400">
              <a:solidFill>
                <a:srgbClr val="06070E"/>
              </a:solidFill>
              <a:latin typeface="Times New Roman" pitchFamily="18" charset="0"/>
              <a:ea typeface="华文中宋" pitchFamily="2" charset="-122"/>
            </a:endParaRPr>
          </a:p>
        </p:txBody>
      </p:sp>
      <p:sp>
        <p:nvSpPr>
          <p:cNvPr id="34821" name="Rectangle 8"/>
          <p:cNvSpPr>
            <a:spLocks noGrp="1"/>
          </p:cNvSpPr>
          <p:nvPr>
            <p:ph type="body" idx="1"/>
          </p:nvPr>
        </p:nvSpPr>
        <p:spPr>
          <a:xfrm>
            <a:off x="395288" y="1700213"/>
            <a:ext cx="8539162" cy="4608512"/>
          </a:xfrm>
          <a:noFill/>
        </p:spPr>
        <p:txBody>
          <a:bodyPr/>
          <a:lstStyle/>
          <a:p>
            <a:r>
              <a:rPr lang="zh-CN" altLang="en-US" smtClean="0"/>
              <a:t>不可更改语义</a:t>
            </a:r>
          </a:p>
          <a:p>
            <a:pPr lvl="1"/>
            <a:r>
              <a:rPr lang="zh-CN" altLang="en-US" smtClean="0">
                <a:solidFill>
                  <a:srgbClr val="06070E"/>
                </a:solidFill>
              </a:rPr>
              <a:t>对文件不能进行更改，只是简单的共享和复制。文件不能被更新，但是目录可以更新。</a:t>
            </a:r>
          </a:p>
          <a:p>
            <a:r>
              <a:rPr lang="zh-CN" altLang="en-US" smtClean="0"/>
              <a:t>事务</a:t>
            </a:r>
          </a:p>
          <a:p>
            <a:pPr lvl="1"/>
            <a:r>
              <a:rPr lang="zh-CN" altLang="en-US" smtClean="0">
                <a:solidFill>
                  <a:srgbClr val="06070E"/>
                </a:solidFill>
              </a:rPr>
              <a:t>为了存取一个文件或一组文件，进程首先执行某种类型的开始事务处理原语，以指示跟在其后的操作是不可分的。</a:t>
            </a:r>
          </a:p>
          <a:p>
            <a:pPr lvl="1"/>
            <a:r>
              <a:rPr lang="zh-CN" altLang="en-US" smtClean="0">
                <a:solidFill>
                  <a:srgbClr val="06070E"/>
                </a:solidFill>
              </a:rPr>
              <a:t>然后通过系统调用来读写一个或多个文件</a:t>
            </a:r>
          </a:p>
          <a:p>
            <a:pPr lvl="1"/>
            <a:r>
              <a:rPr lang="zh-CN" altLang="en-US" smtClean="0">
                <a:solidFill>
                  <a:srgbClr val="06070E"/>
                </a:solidFill>
              </a:rPr>
              <a:t>工作完成后，执行结束事务处理原语。</a:t>
            </a:r>
          </a:p>
          <a:p>
            <a:pPr lvl="1"/>
            <a:r>
              <a:rPr lang="zh-CN" altLang="en-US" smtClean="0">
                <a:solidFill>
                  <a:srgbClr val="06070E"/>
                </a:solidFill>
              </a:rPr>
              <a:t>关键特性：保证了包含于事务处理中的所有调用都将按顺序完成，不能有其他任何同时存在的事务处理的干扰。</a:t>
            </a:r>
            <a:endParaRPr lang="zh-CN" altLang="en-US"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9"/>
          <p:cNvSpPr>
            <a:spLocks noGrp="1"/>
          </p:cNvSpPr>
          <p:nvPr>
            <p:ph type="sldNum" sz="quarter" idx="12"/>
          </p:nvPr>
        </p:nvSpPr>
        <p:spPr/>
        <p:txBody>
          <a:bodyPr/>
          <a:lstStyle/>
          <a:p>
            <a:pPr>
              <a:defRPr/>
            </a:pPr>
            <a:fld id="{717E3A16-F806-4507-B5C1-B1B4C6BC4240}" type="slidenum">
              <a:rPr lang="zh-CN" altLang="en-US"/>
              <a:pPr>
                <a:defRPr/>
              </a:pPr>
              <a:t>34</a:t>
            </a:fld>
            <a:endParaRPr lang="zh-CN" altLang="en-US"/>
          </a:p>
        </p:txBody>
      </p:sp>
      <p:sp>
        <p:nvSpPr>
          <p:cNvPr id="35843" name="Rectangle 2"/>
          <p:cNvSpPr>
            <a:spLocks noGrp="1"/>
          </p:cNvSpPr>
          <p:nvPr>
            <p:ph type="title"/>
          </p:nvPr>
        </p:nvSpPr>
        <p:spPr/>
        <p:txBody>
          <a:bodyPr/>
          <a:lstStyle/>
          <a:p>
            <a:r>
              <a:rPr lang="zh-CN" altLang="en-US" smtClean="0"/>
              <a:t>文件共享语义</a:t>
            </a:r>
          </a:p>
        </p:txBody>
      </p:sp>
      <p:sp>
        <p:nvSpPr>
          <p:cNvPr id="35844" name="Text Box 5"/>
          <p:cNvSpPr txBox="1">
            <a:spLocks noChangeArrowheads="1"/>
          </p:cNvSpPr>
          <p:nvPr/>
        </p:nvSpPr>
        <p:spPr bwMode="auto">
          <a:xfrm>
            <a:off x="1219200" y="2590800"/>
            <a:ext cx="7391400" cy="762000"/>
          </a:xfrm>
          <a:prstGeom prst="rect">
            <a:avLst/>
          </a:prstGeom>
          <a:noFill/>
          <a:ln w="9525">
            <a:noFill/>
            <a:miter lim="800000"/>
            <a:headEnd type="none" w="sm" len="sm"/>
            <a:tailEnd type="none" w="sm" len="sm"/>
          </a:ln>
        </p:spPr>
        <p:txBody>
          <a:bodyPr>
            <a:spAutoFit/>
          </a:bodyPr>
          <a:lstStyle/>
          <a:p>
            <a:pPr marL="342900" indent="-342900" algn="just">
              <a:spcBef>
                <a:spcPct val="20000"/>
              </a:spcBef>
              <a:buClr>
                <a:schemeClr val="tx2"/>
              </a:buClr>
              <a:buFont typeface="Wingdings" pitchFamily="2" charset="2"/>
              <a:buNone/>
            </a:pPr>
            <a:endParaRPr lang="zh-CN" altLang="en-US" sz="2000" b="1">
              <a:solidFill>
                <a:srgbClr val="06070E"/>
              </a:solidFill>
              <a:latin typeface="Times New Roman" pitchFamily="18" charset="0"/>
            </a:endParaRPr>
          </a:p>
          <a:p>
            <a:pPr marL="342900" indent="-342900" algn="just">
              <a:spcBef>
                <a:spcPct val="20000"/>
              </a:spcBef>
              <a:buClr>
                <a:schemeClr val="tx2"/>
              </a:buClr>
              <a:buFont typeface="Wingdings" pitchFamily="2" charset="2"/>
              <a:buChar char="w"/>
            </a:pPr>
            <a:endParaRPr lang="zh-CN" altLang="en-US" sz="2000" b="1">
              <a:solidFill>
                <a:srgbClr val="06070E"/>
              </a:solidFill>
              <a:latin typeface="Times New Roman" pitchFamily="18" charset="0"/>
            </a:endParaRPr>
          </a:p>
        </p:txBody>
      </p:sp>
      <p:graphicFrame>
        <p:nvGraphicFramePr>
          <p:cNvPr id="233506" name="Group 34"/>
          <p:cNvGraphicFramePr>
            <a:graphicFrameLocks noGrp="1"/>
          </p:cNvGraphicFramePr>
          <p:nvPr/>
        </p:nvGraphicFramePr>
        <p:xfrm>
          <a:off x="1042988" y="2420938"/>
          <a:ext cx="7058025" cy="3887789"/>
        </p:xfrm>
        <a:graphic>
          <a:graphicData uri="http://schemas.openxmlformats.org/drawingml/2006/table">
            <a:tbl>
              <a:tblPr/>
              <a:tblGrid>
                <a:gridCol w="2228850"/>
                <a:gridCol w="4829175"/>
              </a:tblGrid>
              <a:tr h="568325">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方法</a:t>
                      </a:r>
                    </a:p>
                  </a:txBody>
                  <a:tcPr horzOverflow="overflow">
                    <a:lnL cap="flat">
                      <a:noFill/>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说明</a:t>
                      </a:r>
                    </a:p>
                  </a:txBody>
                  <a:tcPr horzOverflow="overflow">
                    <a:lnL w="12700" cap="flat" cmpd="sng" algn="ctr">
                      <a:solidFill>
                        <a:schemeClr val="tx1"/>
                      </a:solidFill>
                      <a:prstDash val="solid"/>
                      <a:round/>
                      <a:headEnd type="none" w="sm" len="sm"/>
                      <a:tailEnd type="none" w="sm" len="sm"/>
                    </a:lnL>
                    <a:lnR cap="flat">
                      <a:noFill/>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1057275">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en-US" altLang="zh-CN" sz="2000" b="1" i="0" u="none" strike="noStrike" cap="none" normalizeH="0" baseline="0" smtClean="0">
                          <a:ln>
                            <a:noFill/>
                          </a:ln>
                          <a:solidFill>
                            <a:schemeClr val="tx2"/>
                          </a:solidFill>
                          <a:effectLst/>
                          <a:latin typeface="华文中宋" pitchFamily="2" charset="-122"/>
                          <a:ea typeface="华文中宋" pitchFamily="2" charset="-122"/>
                        </a:rPr>
                        <a:t>UNIX</a:t>
                      </a: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语义</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对一个文件的任何操作对所有进程都是及时可见的</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1055688">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会话语义</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在文件关闭之前，对文件的修改对其他进程是不可见的</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04838">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不可更改语义</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不能进行更改，只是简单的共享和复制</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01663">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事务</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chemeClr val="accent1"/>
                        </a:buClr>
                        <a:buSzPct val="80000"/>
                        <a:buFont typeface="Wingdings 2" pitchFamily="18" charset="2"/>
                        <a:buNone/>
                        <a:tabLst/>
                      </a:pPr>
                      <a:r>
                        <a:rPr kumimoji="0" lang="zh-CN" altLang="en-US" sz="2000" b="1" i="0" u="none" strike="noStrike" cap="none" normalizeH="0" baseline="0" smtClean="0">
                          <a:ln>
                            <a:noFill/>
                          </a:ln>
                          <a:solidFill>
                            <a:schemeClr val="tx2"/>
                          </a:solidFill>
                          <a:effectLst/>
                          <a:latin typeface="华文中宋" pitchFamily="2" charset="-122"/>
                          <a:ea typeface="华文中宋" pitchFamily="2" charset="-122"/>
                        </a:rPr>
                        <a:t>所有的更改要么都完成，要么都不能完成</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35863" name="Rectangle 35"/>
          <p:cNvSpPr>
            <a:spLocks noGrp="1"/>
          </p:cNvSpPr>
          <p:nvPr>
            <p:ph type="body" idx="1"/>
          </p:nvPr>
        </p:nvSpPr>
        <p:spPr>
          <a:xfrm>
            <a:off x="395288" y="1700213"/>
            <a:ext cx="8539162" cy="4608512"/>
          </a:xfrm>
          <a:noFill/>
        </p:spPr>
        <p:txBody>
          <a:bodyPr/>
          <a:lstStyle/>
          <a:p>
            <a:r>
              <a:rPr lang="zh-CN" altLang="en-US" smtClean="0"/>
              <a:t>四种文件共享语义比较</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2F5F276D-0B4D-4C55-A59B-6D46C6E072C5}" type="slidenum">
              <a:rPr lang="zh-CN" altLang="en-US"/>
              <a:pPr>
                <a:defRPr/>
              </a:pPr>
              <a:t>35</a:t>
            </a:fld>
            <a:endParaRPr lang="zh-CN" altLang="en-US"/>
          </a:p>
        </p:txBody>
      </p:sp>
      <p:sp>
        <p:nvSpPr>
          <p:cNvPr id="4" name="日期占位符 3"/>
          <p:cNvSpPr txBox="1">
            <a:spLocks noGrp="1"/>
          </p:cNvSpPr>
          <p:nvPr/>
        </p:nvSpPr>
        <p:spPr>
          <a:xfrm>
            <a:off x="3662363" y="6300788"/>
            <a:ext cx="2133600" cy="476250"/>
          </a:xfrm>
          <a:prstGeom prst="rect">
            <a:avLst/>
          </a:prstGeom>
          <a:noFill/>
        </p:spPr>
        <p:txBody>
          <a:bodyPr anchor="b"/>
          <a:lstStyle/>
          <a:p>
            <a:pPr algn="r" fontAlgn="auto">
              <a:spcBef>
                <a:spcPts val="0"/>
              </a:spcBef>
              <a:spcAft>
                <a:spcPts val="0"/>
              </a:spcAft>
              <a:defRPr/>
            </a:pPr>
            <a:fld id="{348AB485-A12D-4633-84D5-DEFC3EEC4856}" type="datetime5">
              <a:rPr lang="zh-CN" altLang="en-US" sz="1200">
                <a:solidFill>
                  <a:schemeClr val="bg2">
                    <a:shade val="50000"/>
                    <a:satMod val="200000"/>
                  </a:schemeClr>
                </a:solidFill>
                <a:latin typeface="+mn-lt"/>
                <a:ea typeface="+mn-ea"/>
              </a:rPr>
              <a:pPr algn="r" fontAlgn="auto">
                <a:spcBef>
                  <a:spcPts val="0"/>
                </a:spcBef>
                <a:spcAft>
                  <a:spcPts val="0"/>
                </a:spcAft>
                <a:defRPr/>
              </a:pPr>
              <a:t>2017/10/24</a:t>
            </a:fld>
            <a:endParaRPr lang="zh-CN" altLang="en-US" sz="1200">
              <a:solidFill>
                <a:schemeClr val="bg2">
                  <a:shade val="50000"/>
                  <a:satMod val="200000"/>
                </a:schemeClr>
              </a:solidFill>
              <a:latin typeface="+mn-lt"/>
              <a:ea typeface="+mn-ea"/>
            </a:endParaRPr>
          </a:p>
        </p:txBody>
      </p:sp>
      <p:sp>
        <p:nvSpPr>
          <p:cNvPr id="5" name="页脚占位符 4"/>
          <p:cNvSpPr txBox="1">
            <a:spLocks noGrp="1"/>
          </p:cNvSpPr>
          <p:nvPr/>
        </p:nvSpPr>
        <p:spPr>
          <a:xfrm>
            <a:off x="6156325" y="6305550"/>
            <a:ext cx="2303463" cy="476250"/>
          </a:xfrm>
          <a:prstGeom prst="rect">
            <a:avLst/>
          </a:prstGeom>
          <a:noFill/>
        </p:spPr>
        <p:txBody>
          <a:bodyPr anchor="b"/>
          <a:lstStyle/>
          <a:p>
            <a:pPr>
              <a:defRPr/>
            </a:pPr>
            <a:r>
              <a:rPr lang="en-US" altLang="zh-CN" sz="1200">
                <a:solidFill>
                  <a:srgbClr val="B4B1A0"/>
                </a:solidFill>
                <a:latin typeface="+mn-lt"/>
                <a:ea typeface="+mn-ea"/>
              </a:rPr>
              <a:t>Cloud Computing,</a:t>
            </a:r>
            <a:r>
              <a:rPr lang="zh-CN" altLang="en-US" sz="1200">
                <a:solidFill>
                  <a:srgbClr val="B4B1A0"/>
                </a:solidFill>
                <a:latin typeface="+mn-lt"/>
                <a:ea typeface="+mn-ea"/>
              </a:rPr>
              <a:t> </a:t>
            </a:r>
            <a:r>
              <a:rPr lang="en-US" altLang="zh-CN" sz="1200">
                <a:solidFill>
                  <a:srgbClr val="B4B1A0"/>
                </a:solidFill>
                <a:latin typeface="+mn-lt"/>
                <a:ea typeface="+mn-ea"/>
              </a:rPr>
              <a:t>GUCAS</a:t>
            </a:r>
            <a:endParaRPr lang="zh-CN" altLang="en-US" sz="1200">
              <a:solidFill>
                <a:srgbClr val="B4B1A0"/>
              </a:solidFill>
              <a:latin typeface="+mn-lt"/>
              <a:ea typeface="+mn-ea"/>
            </a:endParaRPr>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E88C3068-8774-4B7A-B1F7-764DB0F18931}" type="slidenum">
              <a:rPr lang="zh-CN" altLang="en-US" sz="1200">
                <a:solidFill>
                  <a:schemeClr val="bg2">
                    <a:shade val="50000"/>
                    <a:satMod val="200000"/>
                  </a:schemeClr>
                </a:solidFill>
                <a:latin typeface="+mn-lt"/>
                <a:ea typeface="+mn-ea"/>
              </a:rPr>
              <a:pPr algn="ctr" fontAlgn="auto">
                <a:spcBef>
                  <a:spcPts val="0"/>
                </a:spcBef>
                <a:spcAft>
                  <a:spcPts val="0"/>
                </a:spcAft>
                <a:defRPr/>
              </a:pPr>
              <a:t>35</a:t>
            </a:fld>
            <a:endParaRPr lang="zh-CN" altLang="en-US" sz="1200">
              <a:solidFill>
                <a:schemeClr val="bg2">
                  <a:shade val="50000"/>
                  <a:satMod val="200000"/>
                </a:schemeClr>
              </a:solidFill>
              <a:latin typeface="+mn-lt"/>
              <a:ea typeface="+mn-ea"/>
            </a:endParaRPr>
          </a:p>
        </p:txBody>
      </p:sp>
      <p:sp>
        <p:nvSpPr>
          <p:cNvPr id="36870" name="Rectangle 2"/>
          <p:cNvSpPr>
            <a:spLocks noGrp="1"/>
          </p:cNvSpPr>
          <p:nvPr>
            <p:ph type="title" idx="4294967295"/>
          </p:nvPr>
        </p:nvSpPr>
        <p:spPr>
          <a:noFill/>
        </p:spPr>
        <p:txBody>
          <a:bodyPr/>
          <a:lstStyle/>
          <a:p>
            <a:r>
              <a:rPr lang="zh-CN" altLang="en-US" smtClean="0"/>
              <a:t>提纲</a:t>
            </a:r>
          </a:p>
        </p:txBody>
      </p:sp>
      <p:sp>
        <p:nvSpPr>
          <p:cNvPr id="36871" name="Rectangle 3"/>
          <p:cNvSpPr>
            <a:spLocks noGrp="1"/>
          </p:cNvSpPr>
          <p:nvPr>
            <p:ph type="body" idx="4294967295"/>
          </p:nvPr>
        </p:nvSpPr>
        <p:spPr/>
        <p:txBody>
          <a:bodyPr/>
          <a:lstStyle/>
          <a:p>
            <a:r>
              <a:rPr lang="en-US" altLang="zh-CN" sz="3200" smtClean="0"/>
              <a:t>1. </a:t>
            </a:r>
            <a:r>
              <a:rPr lang="zh-CN" altLang="en-US" sz="3200" smtClean="0"/>
              <a:t>文件系统</a:t>
            </a:r>
          </a:p>
          <a:p>
            <a:r>
              <a:rPr lang="en-US" altLang="zh-CN" sz="3200" smtClean="0"/>
              <a:t>2. </a:t>
            </a:r>
            <a:r>
              <a:rPr lang="zh-CN" altLang="en-US" sz="3200" smtClean="0"/>
              <a:t>分布式文件系统</a:t>
            </a:r>
          </a:p>
          <a:p>
            <a:r>
              <a:rPr lang="en-US" altLang="zh-CN" sz="3200" smtClean="0">
                <a:solidFill>
                  <a:schemeClr val="hlink"/>
                </a:solidFill>
              </a:rPr>
              <a:t>3. </a:t>
            </a:r>
            <a:r>
              <a:rPr lang="zh-CN" altLang="en-US" sz="3200" smtClean="0">
                <a:solidFill>
                  <a:schemeClr val="hlink"/>
                </a:solidFill>
              </a:rPr>
              <a:t>典型分布式文件系统</a:t>
            </a:r>
          </a:p>
          <a:p>
            <a:r>
              <a:rPr lang="en-US" altLang="zh-CN" sz="3200" smtClean="0"/>
              <a:t>4. Goolge File System </a:t>
            </a:r>
            <a:endParaRPr lang="zh-CN" altLang="en-US" sz="3200" smtClean="0"/>
          </a:p>
          <a:p>
            <a:r>
              <a:rPr lang="en-US" altLang="zh-CN" sz="3200" smtClean="0"/>
              <a:t>5. Hadoop Distributed File System</a:t>
            </a:r>
          </a:p>
          <a:p>
            <a:endParaRPr lang="zh-CN" altLang="en-US" sz="320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326787D5-CEBF-4690-9F24-23901403C70F}" type="slidenum">
              <a:rPr lang="zh-CN" altLang="en-US"/>
              <a:pPr>
                <a:defRPr/>
              </a:pPr>
              <a:t>36</a:t>
            </a:fld>
            <a:endParaRPr lang="zh-CN" altLang="en-US"/>
          </a:p>
        </p:txBody>
      </p:sp>
      <p:sp>
        <p:nvSpPr>
          <p:cNvPr id="37891" name="Rectangle 2"/>
          <p:cNvSpPr>
            <a:spLocks noGrp="1"/>
          </p:cNvSpPr>
          <p:nvPr>
            <p:ph type="title"/>
          </p:nvPr>
        </p:nvSpPr>
        <p:spPr/>
        <p:txBody>
          <a:bodyPr/>
          <a:lstStyle/>
          <a:p>
            <a:r>
              <a:rPr lang="zh-CN" altLang="en-US" smtClean="0"/>
              <a:t>典型分布式文件系统 </a:t>
            </a:r>
          </a:p>
        </p:txBody>
      </p:sp>
      <p:sp>
        <p:nvSpPr>
          <p:cNvPr id="37892" name="Rectangle 3"/>
          <p:cNvSpPr>
            <a:spLocks noGrp="1"/>
          </p:cNvSpPr>
          <p:nvPr>
            <p:ph type="body" idx="1"/>
          </p:nvPr>
        </p:nvSpPr>
        <p:spPr>
          <a:xfrm>
            <a:off x="395288" y="1557338"/>
            <a:ext cx="8539162" cy="4800600"/>
          </a:xfrm>
        </p:spPr>
        <p:txBody>
          <a:bodyPr/>
          <a:lstStyle/>
          <a:p>
            <a:r>
              <a:rPr lang="zh-CN" altLang="en-US" smtClean="0"/>
              <a:t>网络文件系统（</a:t>
            </a:r>
            <a:r>
              <a:rPr lang="en-US" altLang="zh-CN" smtClean="0"/>
              <a:t>NFS</a:t>
            </a:r>
            <a:r>
              <a:rPr lang="zh-CN" altLang="en-US" smtClean="0"/>
              <a:t>）</a:t>
            </a:r>
          </a:p>
          <a:p>
            <a:r>
              <a:rPr lang="en-US" altLang="zh-CN" smtClean="0"/>
              <a:t>Andrew</a:t>
            </a:r>
            <a:r>
              <a:rPr lang="zh-CN" altLang="en-US" smtClean="0"/>
              <a:t>文件系统（</a:t>
            </a:r>
            <a:r>
              <a:rPr lang="en-US" altLang="zh-CN" smtClean="0"/>
              <a:t>AFS</a:t>
            </a:r>
            <a:r>
              <a:rPr lang="zh-CN" altLang="en-US" smtClean="0"/>
              <a:t>）</a:t>
            </a:r>
          </a:p>
          <a:p>
            <a:r>
              <a:rPr lang="en-US" altLang="zh-CN" smtClean="0"/>
              <a:t>GFS</a:t>
            </a:r>
            <a:r>
              <a:rPr lang="zh-CN" altLang="en-US" smtClean="0"/>
              <a:t>（单独讲）</a:t>
            </a:r>
          </a:p>
          <a:p>
            <a:r>
              <a:rPr lang="en-US" altLang="zh-CN" smtClean="0"/>
              <a:t>HDFS</a:t>
            </a:r>
            <a:r>
              <a:rPr lang="zh-CN" altLang="en-US" smtClean="0"/>
              <a:t>（单独讲）</a:t>
            </a:r>
          </a:p>
          <a:p>
            <a:r>
              <a:rPr lang="zh-CN" altLang="en-US" smtClean="0"/>
              <a:t>其他分布式文件系统</a:t>
            </a:r>
          </a:p>
          <a:p>
            <a:pPr lvl="1"/>
            <a:r>
              <a:rPr lang="en-US" altLang="zh-CN" smtClean="0"/>
              <a:t>Coda</a:t>
            </a:r>
          </a:p>
          <a:p>
            <a:pPr lvl="1"/>
            <a:r>
              <a:rPr lang="en-US" altLang="zh-CN" smtClean="0"/>
              <a:t>xFS</a:t>
            </a:r>
          </a:p>
          <a:p>
            <a:pPr lvl="1"/>
            <a:r>
              <a:rPr lang="en-US" altLang="zh-CN" smtClean="0"/>
              <a:t>SpriteFS</a:t>
            </a:r>
          </a:p>
          <a:p>
            <a:pPr lvl="1"/>
            <a:r>
              <a:rPr lang="en-US" altLang="zh-CN" smtClean="0"/>
              <a:t>Lustre </a:t>
            </a:r>
          </a:p>
          <a:p>
            <a:pPr lvl="1"/>
            <a:r>
              <a:rPr lang="en-US" altLang="zh-CN" smtClean="0"/>
              <a:t>Ceph</a:t>
            </a:r>
            <a:endParaRPr lang="zh-CN" altLang="en-US" sz="200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864E0EFA-24CE-42BF-928A-4E47AC13395B}" type="slidenum">
              <a:rPr lang="zh-CN" altLang="en-US"/>
              <a:pPr>
                <a:defRPr/>
              </a:pPr>
              <a:t>37</a:t>
            </a:fld>
            <a:endParaRPr lang="zh-CN" altLang="en-US"/>
          </a:p>
        </p:txBody>
      </p:sp>
      <p:sp>
        <p:nvSpPr>
          <p:cNvPr id="38915" name="Rectangle 2"/>
          <p:cNvSpPr>
            <a:spLocks noGrp="1"/>
          </p:cNvSpPr>
          <p:nvPr>
            <p:ph type="title"/>
          </p:nvPr>
        </p:nvSpPr>
        <p:spPr/>
        <p:txBody>
          <a:bodyPr/>
          <a:lstStyle/>
          <a:p>
            <a:r>
              <a:rPr lang="en-US" altLang="zh-CN" smtClean="0"/>
              <a:t>NFS</a:t>
            </a:r>
            <a:endParaRPr lang="zh-CN" altLang="en-US" smtClean="0"/>
          </a:p>
        </p:txBody>
      </p:sp>
      <p:sp>
        <p:nvSpPr>
          <p:cNvPr id="38916" name="Rectangle 3"/>
          <p:cNvSpPr>
            <a:spLocks noGrp="1"/>
          </p:cNvSpPr>
          <p:nvPr>
            <p:ph type="body" idx="1"/>
          </p:nvPr>
        </p:nvSpPr>
        <p:spPr>
          <a:xfrm>
            <a:off x="395288" y="1447800"/>
            <a:ext cx="8539162" cy="5149850"/>
          </a:xfrm>
        </p:spPr>
        <p:txBody>
          <a:bodyPr/>
          <a:lstStyle/>
          <a:p>
            <a:r>
              <a:rPr lang="zh-CN" altLang="en-US" smtClean="0"/>
              <a:t>网络文件系统（</a:t>
            </a:r>
            <a:r>
              <a:rPr lang="en-US" altLang="zh-CN" smtClean="0"/>
              <a:t>Network File System</a:t>
            </a:r>
            <a:r>
              <a:rPr lang="zh-CN" altLang="en-US" smtClean="0"/>
              <a:t>，</a:t>
            </a:r>
            <a:r>
              <a:rPr lang="en-US" altLang="zh-CN" smtClean="0"/>
              <a:t>NFS</a:t>
            </a:r>
            <a:r>
              <a:rPr lang="zh-CN" altLang="en-US" smtClean="0"/>
              <a:t>）是</a:t>
            </a:r>
            <a:r>
              <a:rPr lang="en-US" altLang="zh-CN" smtClean="0"/>
              <a:t>Sun Microsystem</a:t>
            </a:r>
            <a:r>
              <a:rPr lang="zh-CN" altLang="en-US" smtClean="0"/>
              <a:t>公司</a:t>
            </a:r>
            <a:r>
              <a:rPr lang="en-US" altLang="zh-CN" smtClean="0"/>
              <a:t>1985</a:t>
            </a:r>
            <a:r>
              <a:rPr lang="zh-CN" altLang="en-US" smtClean="0"/>
              <a:t>年研制的网络文件系统，它基于</a:t>
            </a:r>
            <a:r>
              <a:rPr lang="en-US" altLang="zh-CN" smtClean="0"/>
              <a:t>UNIX</a:t>
            </a:r>
            <a:r>
              <a:rPr lang="zh-CN" altLang="en-US" smtClean="0"/>
              <a:t>，是第一个形成产品的</a:t>
            </a:r>
            <a:r>
              <a:rPr lang="en-US" altLang="zh-CN" smtClean="0"/>
              <a:t>DFS</a:t>
            </a:r>
            <a:r>
              <a:rPr lang="zh-CN" altLang="en-US" smtClean="0"/>
              <a:t>。</a:t>
            </a:r>
          </a:p>
          <a:p>
            <a:r>
              <a:rPr lang="en-US" altLang="zh-CN" smtClean="0"/>
              <a:t>NFS</a:t>
            </a:r>
            <a:r>
              <a:rPr lang="zh-CN" altLang="en-US" smtClean="0"/>
              <a:t>支持不同类型的系统，每台计算机在系统内安装</a:t>
            </a:r>
            <a:r>
              <a:rPr lang="en-US" altLang="zh-CN" smtClean="0"/>
              <a:t>NFS</a:t>
            </a:r>
            <a:r>
              <a:rPr lang="zh-CN" altLang="en-US" smtClean="0"/>
              <a:t>的客户组件和服务器组件。</a:t>
            </a:r>
          </a:p>
          <a:p>
            <a:r>
              <a:rPr lang="zh-CN" altLang="en-US" smtClean="0"/>
              <a:t>实现成为</a:t>
            </a:r>
            <a:r>
              <a:rPr lang="en-US" altLang="zh-CN" smtClean="0"/>
              <a:t>Solaris</a:t>
            </a:r>
            <a:r>
              <a:rPr lang="zh-CN" altLang="en-US" smtClean="0"/>
              <a:t>和</a:t>
            </a:r>
            <a:r>
              <a:rPr lang="en-US" altLang="zh-CN" smtClean="0"/>
              <a:t>SunOS</a:t>
            </a:r>
            <a:r>
              <a:rPr lang="zh-CN" altLang="en-US" smtClean="0"/>
              <a:t>的一部分，运行于</a:t>
            </a:r>
            <a:r>
              <a:rPr lang="en-US" altLang="zh-CN" smtClean="0"/>
              <a:t>Sun</a:t>
            </a:r>
            <a:r>
              <a:rPr lang="zh-CN" altLang="en-US" smtClean="0"/>
              <a:t>工作站。</a:t>
            </a:r>
          </a:p>
          <a:p>
            <a:r>
              <a:rPr lang="zh-CN" altLang="en-US" smtClean="0"/>
              <a:t>基于</a:t>
            </a:r>
            <a:r>
              <a:rPr lang="en-US" altLang="zh-CN" smtClean="0"/>
              <a:t>TCP</a:t>
            </a:r>
            <a:r>
              <a:rPr lang="zh-CN" altLang="en-US" smtClean="0"/>
              <a:t>或</a:t>
            </a:r>
            <a:r>
              <a:rPr lang="en-US" altLang="zh-CN" smtClean="0"/>
              <a:t>UDP/IP</a:t>
            </a:r>
            <a:r>
              <a:rPr lang="zh-CN" altLang="en-US" smtClean="0"/>
              <a:t>协议，是目前使用最广泛的分布式文件系统</a:t>
            </a:r>
          </a:p>
          <a:p>
            <a:endParaRPr lang="zh-CN" altLang="en-US"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55D3DE54-F1DC-4056-A73B-F4AE601D58E1}" type="slidenum">
              <a:rPr lang="zh-CN" altLang="en-US"/>
              <a:pPr>
                <a:defRPr/>
              </a:pPr>
              <a:t>38</a:t>
            </a:fld>
            <a:endParaRPr lang="zh-CN" altLang="en-US"/>
          </a:p>
        </p:txBody>
      </p:sp>
      <p:sp>
        <p:nvSpPr>
          <p:cNvPr id="39939" name="Rectangle 2"/>
          <p:cNvSpPr>
            <a:spLocks noGrp="1"/>
          </p:cNvSpPr>
          <p:nvPr>
            <p:ph type="title"/>
          </p:nvPr>
        </p:nvSpPr>
        <p:spPr/>
        <p:txBody>
          <a:bodyPr/>
          <a:lstStyle/>
          <a:p>
            <a:r>
              <a:rPr lang="en-US" altLang="zh-CN" smtClean="0"/>
              <a:t>NFS</a:t>
            </a:r>
            <a:r>
              <a:rPr lang="zh-CN" altLang="en-US" smtClean="0"/>
              <a:t>的特点</a:t>
            </a:r>
          </a:p>
        </p:txBody>
      </p:sp>
      <p:sp>
        <p:nvSpPr>
          <p:cNvPr id="39940" name="Rectangle 3"/>
          <p:cNvSpPr>
            <a:spLocks noGrp="1"/>
          </p:cNvSpPr>
          <p:nvPr>
            <p:ph type="body" idx="1"/>
          </p:nvPr>
        </p:nvSpPr>
        <p:spPr/>
        <p:txBody>
          <a:bodyPr/>
          <a:lstStyle/>
          <a:p>
            <a:r>
              <a:rPr lang="zh-CN" altLang="en-US" smtClean="0"/>
              <a:t>存储透明：对远程文件的存取通过平常的</a:t>
            </a:r>
            <a:r>
              <a:rPr lang="en-US" altLang="zh-CN" smtClean="0"/>
              <a:t>UNIX</a:t>
            </a:r>
            <a:r>
              <a:rPr lang="zh-CN" altLang="en-US" smtClean="0"/>
              <a:t>系统调用实现。</a:t>
            </a:r>
          </a:p>
          <a:p>
            <a:r>
              <a:rPr lang="zh-CN" altLang="en-US" smtClean="0"/>
              <a:t>位置透明：将远程文件系统安装在客户机本地命名空间。</a:t>
            </a:r>
          </a:p>
          <a:p>
            <a:r>
              <a:rPr lang="zh-CN" altLang="en-US" smtClean="0"/>
              <a:t>故障透明：</a:t>
            </a:r>
            <a:r>
              <a:rPr lang="en-US" altLang="zh-CN" smtClean="0"/>
              <a:t>NFS</a:t>
            </a:r>
            <a:r>
              <a:rPr lang="zh-CN" altLang="en-US" smtClean="0"/>
              <a:t>是无状态的，大多数操作是幂等的</a:t>
            </a:r>
          </a:p>
          <a:p>
            <a:r>
              <a:rPr lang="zh-CN" altLang="en-US" smtClean="0"/>
              <a:t>性能透明：客户机和服务器都采用了高速缓存。</a:t>
            </a:r>
          </a:p>
          <a:p>
            <a:r>
              <a:rPr lang="zh-CN" altLang="en-US" smtClean="0"/>
              <a:t>迁移透明：不能完全实现。文件系统可在服务器间移动，但每台客户机上的远程安装表都需要单独修改。</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71274DC0-3E19-4E46-9B02-C789ABBDBAF3}" type="slidenum">
              <a:rPr lang="zh-CN" altLang="en-US"/>
              <a:pPr>
                <a:defRPr/>
              </a:pPr>
              <a:t>39</a:t>
            </a:fld>
            <a:endParaRPr lang="zh-CN" altLang="en-US"/>
          </a:p>
        </p:txBody>
      </p:sp>
      <p:sp>
        <p:nvSpPr>
          <p:cNvPr id="40963" name="Rectangle 2"/>
          <p:cNvSpPr>
            <a:spLocks noGrp="1"/>
          </p:cNvSpPr>
          <p:nvPr>
            <p:ph type="title"/>
          </p:nvPr>
        </p:nvSpPr>
        <p:spPr/>
        <p:txBody>
          <a:bodyPr/>
          <a:lstStyle/>
          <a:p>
            <a:r>
              <a:rPr lang="en-US" altLang="zh-CN" smtClean="0">
                <a:ea typeface="宋体" pitchFamily="2" charset="-122"/>
              </a:rPr>
              <a:t>NFS Architecture (1)</a:t>
            </a:r>
          </a:p>
        </p:txBody>
      </p:sp>
      <p:sp>
        <p:nvSpPr>
          <p:cNvPr id="40964" name="Rectangle 3"/>
          <p:cNvSpPr>
            <a:spLocks noGrp="1"/>
          </p:cNvSpPr>
          <p:nvPr>
            <p:ph type="body" idx="1"/>
          </p:nvPr>
        </p:nvSpPr>
        <p:spPr>
          <a:xfrm>
            <a:off x="900113" y="5516563"/>
            <a:ext cx="7391400" cy="838200"/>
          </a:xfrm>
        </p:spPr>
        <p:txBody>
          <a:bodyPr/>
          <a:lstStyle/>
          <a:p>
            <a:pPr marL="609600" indent="-609600">
              <a:lnSpc>
                <a:spcPct val="90000"/>
              </a:lnSpc>
              <a:buFontTx/>
              <a:buNone/>
            </a:pPr>
            <a:r>
              <a:rPr lang="zh-CN" altLang="en-US" sz="2000" smtClean="0">
                <a:solidFill>
                  <a:srgbClr val="0000CC"/>
                </a:solidFill>
                <a:ea typeface="宋体" pitchFamily="2" charset="-122"/>
              </a:rPr>
              <a:t>（</a:t>
            </a:r>
            <a:r>
              <a:rPr lang="en-US" altLang="zh-CN" sz="2000" smtClean="0">
                <a:solidFill>
                  <a:srgbClr val="0000CC"/>
                </a:solidFill>
                <a:ea typeface="宋体" pitchFamily="2" charset="-122"/>
              </a:rPr>
              <a:t>a</a:t>
            </a:r>
            <a:r>
              <a:rPr lang="zh-CN" altLang="en-US" sz="2000" smtClean="0">
                <a:solidFill>
                  <a:srgbClr val="0000CC"/>
                </a:solidFill>
                <a:ea typeface="宋体" pitchFamily="2" charset="-122"/>
              </a:rPr>
              <a:t>）</a:t>
            </a:r>
            <a:r>
              <a:rPr lang="en-US" altLang="zh-CN" sz="2000" smtClean="0">
                <a:solidFill>
                  <a:srgbClr val="0000CC"/>
                </a:solidFill>
                <a:ea typeface="宋体" pitchFamily="2" charset="-122"/>
              </a:rPr>
              <a:t>The remote access model.</a:t>
            </a:r>
          </a:p>
          <a:p>
            <a:pPr marL="609600" indent="-609600">
              <a:lnSpc>
                <a:spcPct val="90000"/>
              </a:lnSpc>
              <a:buFontTx/>
              <a:buNone/>
            </a:pPr>
            <a:r>
              <a:rPr lang="zh-CN" altLang="en-US" sz="2000" smtClean="0">
                <a:solidFill>
                  <a:srgbClr val="0000CC"/>
                </a:solidFill>
                <a:ea typeface="宋体" pitchFamily="2" charset="-122"/>
              </a:rPr>
              <a:t>（</a:t>
            </a:r>
            <a:r>
              <a:rPr lang="en-US" altLang="zh-CN" sz="2000" smtClean="0">
                <a:solidFill>
                  <a:srgbClr val="0000CC"/>
                </a:solidFill>
                <a:ea typeface="宋体" pitchFamily="2" charset="-122"/>
              </a:rPr>
              <a:t>b</a:t>
            </a:r>
            <a:r>
              <a:rPr lang="zh-CN" altLang="en-US" sz="2000" smtClean="0">
                <a:solidFill>
                  <a:srgbClr val="0000CC"/>
                </a:solidFill>
                <a:ea typeface="宋体" pitchFamily="2" charset="-122"/>
              </a:rPr>
              <a:t>）</a:t>
            </a:r>
            <a:r>
              <a:rPr lang="en-US" altLang="zh-CN" sz="2000" smtClean="0">
                <a:solidFill>
                  <a:srgbClr val="0000CC"/>
                </a:solidFill>
                <a:ea typeface="宋体" pitchFamily="2" charset="-122"/>
              </a:rPr>
              <a:t>The upload/download model</a:t>
            </a:r>
          </a:p>
        </p:txBody>
      </p:sp>
      <p:pic>
        <p:nvPicPr>
          <p:cNvPr id="40965" name="Picture 4"/>
          <p:cNvPicPr>
            <a:picLocks noChangeAspect="1" noChangeArrowheads="1"/>
          </p:cNvPicPr>
          <p:nvPr/>
        </p:nvPicPr>
        <p:blipFill>
          <a:blip r:embed="rId2" cstate="print"/>
          <a:srcRect l="20070" t="45619" r="18359" b="39879"/>
          <a:stretch>
            <a:fillRect/>
          </a:stretch>
        </p:blipFill>
        <p:spPr bwMode="auto">
          <a:xfrm>
            <a:off x="539750" y="1773238"/>
            <a:ext cx="8210550" cy="3116262"/>
          </a:xfrm>
          <a:prstGeom prst="rect">
            <a:avLst/>
          </a:prstGeom>
          <a:noFill/>
          <a:ln w="9525">
            <a:noFill/>
            <a:miter lim="800000"/>
            <a:headEnd/>
            <a:tailEnd/>
          </a:ln>
        </p:spPr>
      </p:pic>
      <p:sp>
        <p:nvSpPr>
          <p:cNvPr id="40966" name="Text Box 5"/>
          <p:cNvSpPr txBox="1">
            <a:spLocks noChangeArrowheads="1"/>
          </p:cNvSpPr>
          <p:nvPr/>
        </p:nvSpPr>
        <p:spPr bwMode="auto">
          <a:xfrm>
            <a:off x="1979613" y="4724400"/>
            <a:ext cx="792162" cy="366713"/>
          </a:xfrm>
          <a:prstGeom prst="rect">
            <a:avLst/>
          </a:prstGeom>
          <a:noFill/>
          <a:ln w="9525">
            <a:noFill/>
            <a:miter lim="800000"/>
            <a:headEnd/>
            <a:tailEnd/>
          </a:ln>
        </p:spPr>
        <p:txBody>
          <a:bodyPr>
            <a:spAutoFit/>
          </a:bodyPr>
          <a:lstStyle/>
          <a:p>
            <a:pPr>
              <a:spcBef>
                <a:spcPct val="50000"/>
              </a:spcBef>
            </a:pPr>
            <a:r>
              <a:rPr lang="zh-CN" altLang="en-US"/>
              <a:t>（</a:t>
            </a:r>
            <a:r>
              <a:rPr lang="en-US" altLang="zh-CN"/>
              <a:t>a</a:t>
            </a:r>
            <a:r>
              <a:rPr lang="zh-CN" altLang="en-US"/>
              <a:t>）</a:t>
            </a:r>
          </a:p>
        </p:txBody>
      </p:sp>
      <p:sp>
        <p:nvSpPr>
          <p:cNvPr id="40967" name="Text Box 6"/>
          <p:cNvSpPr txBox="1">
            <a:spLocks noChangeArrowheads="1"/>
          </p:cNvSpPr>
          <p:nvPr/>
        </p:nvSpPr>
        <p:spPr bwMode="auto">
          <a:xfrm>
            <a:off x="6443663" y="4724400"/>
            <a:ext cx="792162" cy="366713"/>
          </a:xfrm>
          <a:prstGeom prst="rect">
            <a:avLst/>
          </a:prstGeom>
          <a:noFill/>
          <a:ln w="9525">
            <a:noFill/>
            <a:miter lim="800000"/>
            <a:headEnd/>
            <a:tailEnd/>
          </a:ln>
        </p:spPr>
        <p:txBody>
          <a:bodyPr>
            <a:spAutoFit/>
          </a:bodyPr>
          <a:lstStyle/>
          <a:p>
            <a:pPr>
              <a:spcBef>
                <a:spcPct val="50000"/>
              </a:spcBef>
            </a:pPr>
            <a:r>
              <a:rPr lang="zh-CN" altLang="en-US"/>
              <a:t>（</a:t>
            </a:r>
            <a:r>
              <a:rPr lang="en-US" altLang="zh-CN"/>
              <a:t>b</a:t>
            </a:r>
            <a:r>
              <a:rPr lang="zh-CN" altLang="en-US"/>
              <a: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9C9A0C59-2A40-4709-86BB-BC31E543670C}" type="slidenum">
              <a:rPr lang="zh-CN" altLang="en-US"/>
              <a:pPr>
                <a:defRPr/>
              </a:pPr>
              <a:t>40</a:t>
            </a:fld>
            <a:endParaRPr lang="zh-CN" altLang="en-US"/>
          </a:p>
        </p:txBody>
      </p:sp>
      <p:sp>
        <p:nvSpPr>
          <p:cNvPr id="41987" name="Rectangle 2"/>
          <p:cNvSpPr>
            <a:spLocks noGrp="1"/>
          </p:cNvSpPr>
          <p:nvPr>
            <p:ph type="title"/>
          </p:nvPr>
        </p:nvSpPr>
        <p:spPr/>
        <p:txBody>
          <a:bodyPr/>
          <a:lstStyle/>
          <a:p>
            <a:r>
              <a:rPr lang="en-US" altLang="zh-CN" smtClean="0">
                <a:ea typeface="宋体" pitchFamily="2" charset="-122"/>
              </a:rPr>
              <a:t>NFS Architecture (2)</a:t>
            </a:r>
          </a:p>
        </p:txBody>
      </p:sp>
      <p:sp>
        <p:nvSpPr>
          <p:cNvPr id="41988" name="Rectangle 3"/>
          <p:cNvSpPr>
            <a:spLocks noGrp="1"/>
          </p:cNvSpPr>
          <p:nvPr>
            <p:ph type="body" idx="1"/>
          </p:nvPr>
        </p:nvSpPr>
        <p:spPr/>
        <p:txBody>
          <a:bodyPr/>
          <a:lstStyle/>
          <a:p>
            <a:r>
              <a:rPr lang="en-US" altLang="zh-CN" sz="2400" smtClean="0">
                <a:ea typeface="宋体" pitchFamily="2" charset="-122"/>
              </a:rPr>
              <a:t>The basic NFS architecture for UNIX systems.</a:t>
            </a:r>
          </a:p>
        </p:txBody>
      </p:sp>
      <p:pic>
        <p:nvPicPr>
          <p:cNvPr id="41989" name="Picture 4"/>
          <p:cNvPicPr>
            <a:picLocks noChangeAspect="1" noChangeArrowheads="1"/>
          </p:cNvPicPr>
          <p:nvPr/>
        </p:nvPicPr>
        <p:blipFill>
          <a:blip r:embed="rId2" cstate="print"/>
          <a:srcRect l="18787" t="41389" r="16222" b="35347"/>
          <a:stretch>
            <a:fillRect/>
          </a:stretch>
        </p:blipFill>
        <p:spPr bwMode="auto">
          <a:xfrm>
            <a:off x="434975" y="1916113"/>
            <a:ext cx="8458200" cy="4284662"/>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44BC1F95-EF79-4B18-9B41-20A94D6E7E8B}" type="slidenum">
              <a:rPr lang="zh-CN" altLang="en-US"/>
              <a:pPr>
                <a:defRPr/>
              </a:pPr>
              <a:t>41</a:t>
            </a:fld>
            <a:endParaRPr lang="zh-CN" altLang="en-US"/>
          </a:p>
        </p:txBody>
      </p:sp>
      <p:sp>
        <p:nvSpPr>
          <p:cNvPr id="43011" name="Rectangle 2"/>
          <p:cNvSpPr>
            <a:spLocks noGrp="1"/>
          </p:cNvSpPr>
          <p:nvPr>
            <p:ph type="title"/>
          </p:nvPr>
        </p:nvSpPr>
        <p:spPr/>
        <p:txBody>
          <a:bodyPr/>
          <a:lstStyle/>
          <a:p>
            <a:r>
              <a:rPr lang="en-US" altLang="zh-CN" smtClean="0">
                <a:ea typeface="宋体" pitchFamily="2" charset="-122"/>
              </a:rPr>
              <a:t>Communication</a:t>
            </a:r>
          </a:p>
        </p:txBody>
      </p:sp>
      <p:sp>
        <p:nvSpPr>
          <p:cNvPr id="43012" name="Rectangle 3"/>
          <p:cNvSpPr>
            <a:spLocks noGrp="1"/>
          </p:cNvSpPr>
          <p:nvPr>
            <p:ph type="body" idx="1"/>
          </p:nvPr>
        </p:nvSpPr>
        <p:spPr>
          <a:xfrm>
            <a:off x="838200" y="5295900"/>
            <a:ext cx="8305800" cy="838200"/>
          </a:xfrm>
        </p:spPr>
        <p:txBody>
          <a:bodyPr/>
          <a:lstStyle/>
          <a:p>
            <a:pPr marL="609600" indent="-609600">
              <a:lnSpc>
                <a:spcPct val="90000"/>
              </a:lnSpc>
              <a:buFontTx/>
              <a:buNone/>
            </a:pPr>
            <a:r>
              <a:rPr lang="en-US" altLang="zh-CN" sz="2000" smtClean="0">
                <a:solidFill>
                  <a:srgbClr val="0000CC"/>
                </a:solidFill>
                <a:ea typeface="宋体" pitchFamily="2" charset="-122"/>
              </a:rPr>
              <a:t>(a) Reading data from a file in NFS version 3.</a:t>
            </a:r>
          </a:p>
          <a:p>
            <a:pPr marL="609600" indent="-609600">
              <a:lnSpc>
                <a:spcPct val="90000"/>
              </a:lnSpc>
              <a:buFontTx/>
              <a:buNone/>
            </a:pPr>
            <a:r>
              <a:rPr lang="en-US" altLang="zh-CN" sz="2000" smtClean="0">
                <a:solidFill>
                  <a:srgbClr val="0000CC"/>
                </a:solidFill>
                <a:ea typeface="宋体" pitchFamily="2" charset="-122"/>
              </a:rPr>
              <a:t>(b) Reading data using a compound procedure in version 4.</a:t>
            </a:r>
          </a:p>
        </p:txBody>
      </p:sp>
      <p:pic>
        <p:nvPicPr>
          <p:cNvPr id="43013" name="Picture 4"/>
          <p:cNvPicPr>
            <a:picLocks noChangeAspect="1" noChangeArrowheads="1"/>
          </p:cNvPicPr>
          <p:nvPr/>
        </p:nvPicPr>
        <p:blipFill>
          <a:blip r:embed="rId2" cstate="print"/>
          <a:srcRect l="21593" t="42900" r="18385" b="37613"/>
          <a:stretch>
            <a:fillRect/>
          </a:stretch>
        </p:blipFill>
        <p:spPr bwMode="auto">
          <a:xfrm>
            <a:off x="433388" y="1371600"/>
            <a:ext cx="8291512" cy="381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72409C7E-DC7A-4B6F-8BB2-C5972E8E78DE}" type="slidenum">
              <a:rPr lang="zh-CN" altLang="en-US"/>
              <a:pPr>
                <a:defRPr/>
              </a:pPr>
              <a:t>42</a:t>
            </a:fld>
            <a:endParaRPr lang="zh-CN" altLang="en-US"/>
          </a:p>
        </p:txBody>
      </p:sp>
      <p:sp>
        <p:nvSpPr>
          <p:cNvPr id="44035" name="Rectangle 2"/>
          <p:cNvSpPr>
            <a:spLocks noGrp="1"/>
          </p:cNvSpPr>
          <p:nvPr>
            <p:ph type="title"/>
          </p:nvPr>
        </p:nvSpPr>
        <p:spPr/>
        <p:txBody>
          <a:bodyPr/>
          <a:lstStyle/>
          <a:p>
            <a:r>
              <a:rPr lang="en-GB" altLang="zh-CN" smtClean="0"/>
              <a:t>Andrew File System</a:t>
            </a:r>
            <a:endParaRPr lang="zh-CN" altLang="en-US" smtClean="0"/>
          </a:p>
        </p:txBody>
      </p:sp>
      <p:sp>
        <p:nvSpPr>
          <p:cNvPr id="44036" name="Rectangle 3"/>
          <p:cNvSpPr>
            <a:spLocks noGrp="1"/>
          </p:cNvSpPr>
          <p:nvPr>
            <p:ph type="body" idx="1"/>
          </p:nvPr>
        </p:nvSpPr>
        <p:spPr/>
        <p:txBody>
          <a:bodyPr/>
          <a:lstStyle/>
          <a:p>
            <a:pPr>
              <a:lnSpc>
                <a:spcPct val="90000"/>
              </a:lnSpc>
            </a:pPr>
            <a:r>
              <a:rPr lang="en-GB" altLang="zh-CN" smtClean="0"/>
              <a:t>Andrew File System</a:t>
            </a:r>
            <a:r>
              <a:rPr lang="en-US" altLang="zh-CN" smtClean="0"/>
              <a:t> </a:t>
            </a:r>
            <a:r>
              <a:rPr lang="zh-CN" altLang="en-US" smtClean="0"/>
              <a:t>由</a:t>
            </a:r>
            <a:r>
              <a:rPr lang="en-US" altLang="zh-CN" smtClean="0"/>
              <a:t>Carnegie Mellon</a:t>
            </a:r>
            <a:r>
              <a:rPr lang="zh-CN" altLang="en-US" smtClean="0"/>
              <a:t>大学在</a:t>
            </a:r>
            <a:r>
              <a:rPr lang="en-US" altLang="zh-CN" smtClean="0"/>
              <a:t>1983</a:t>
            </a:r>
            <a:r>
              <a:rPr lang="zh-CN" altLang="en-US" smtClean="0"/>
              <a:t>年设计开发。</a:t>
            </a:r>
          </a:p>
          <a:p>
            <a:pPr>
              <a:lnSpc>
                <a:spcPct val="90000"/>
              </a:lnSpc>
            </a:pPr>
            <a:r>
              <a:rPr lang="zh-CN" altLang="en-US" smtClean="0"/>
              <a:t>将分布式文件系统的可扩展性放在了设计和实现的首要位置。</a:t>
            </a:r>
          </a:p>
          <a:p>
            <a:pPr>
              <a:lnSpc>
                <a:spcPct val="90000"/>
              </a:lnSpc>
            </a:pPr>
            <a:r>
              <a:rPr lang="zh-CN" altLang="en-US" smtClean="0"/>
              <a:t>在位置透明、用户迁移、与已有系统的兼容性等方面进行了特别设计。</a:t>
            </a:r>
          </a:p>
          <a:p>
            <a:pPr>
              <a:lnSpc>
                <a:spcPct val="90000"/>
              </a:lnSpc>
            </a:pPr>
            <a:r>
              <a:rPr lang="en-US" altLang="zh-CN" smtClean="0"/>
              <a:t>AFS</a:t>
            </a:r>
            <a:r>
              <a:rPr lang="zh-CN" altLang="en-US" smtClean="0"/>
              <a:t>具有很好的扩展性，能够很容易地支持数百个节点，甚至数千个节点的分布式环境。</a:t>
            </a:r>
          </a:p>
          <a:p>
            <a:pPr>
              <a:lnSpc>
                <a:spcPct val="90000"/>
              </a:lnSpc>
            </a:pPr>
            <a:r>
              <a:rPr lang="zh-CN" altLang="en-US" smtClean="0"/>
              <a:t>在大规模的分布式文件系统中，</a:t>
            </a:r>
            <a:r>
              <a:rPr lang="en-US" altLang="zh-CN" smtClean="0"/>
              <a:t>AFS</a:t>
            </a:r>
            <a:r>
              <a:rPr lang="zh-CN" altLang="en-US" smtClean="0"/>
              <a:t>利用本地存储作为分布式文件的缓存，在远程文件无法访问时，依然可以部分工作，提高了系统可用性。</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C01664F5-0D72-4BB5-9774-0CAAD5B610CA}" type="slidenum">
              <a:rPr lang="zh-CN" altLang="en-US"/>
              <a:pPr>
                <a:defRPr/>
              </a:pPr>
              <a:t>43</a:t>
            </a:fld>
            <a:endParaRPr lang="zh-CN" altLang="en-US"/>
          </a:p>
        </p:txBody>
      </p:sp>
      <p:sp>
        <p:nvSpPr>
          <p:cNvPr id="45059" name="Rectangle 5"/>
          <p:cNvSpPr>
            <a:spLocks noChangeArrowheads="1"/>
          </p:cNvSpPr>
          <p:nvPr/>
        </p:nvSpPr>
        <p:spPr bwMode="auto">
          <a:xfrm>
            <a:off x="539750" y="1773238"/>
            <a:ext cx="8229600" cy="3600450"/>
          </a:xfrm>
          <a:prstGeom prst="rect">
            <a:avLst/>
          </a:prstGeom>
          <a:noFill/>
          <a:ln w="9525">
            <a:noFill/>
            <a:miter lim="800000"/>
            <a:headEnd/>
            <a:tailEnd/>
          </a:ln>
        </p:spPr>
        <p:txBody>
          <a:bodyPr/>
          <a:lstStyle/>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Like NFS, AFS provides transparent access to remote shared files for UNIX programs running on workstations.</a:t>
            </a:r>
          </a:p>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AFS is implemented as two software components that exist at UNIX processes called </a:t>
            </a:r>
            <a:r>
              <a:rPr lang="en-US" altLang="zh-CN" sz="2800">
                <a:solidFill>
                  <a:srgbClr val="990099"/>
                </a:solidFill>
                <a:latin typeface="Gill Sans MT" pitchFamily="34" charset="0"/>
              </a:rPr>
              <a:t>Vice </a:t>
            </a:r>
            <a:r>
              <a:rPr lang="en-US" altLang="zh-CN" sz="2800">
                <a:latin typeface="Gill Sans MT" pitchFamily="34" charset="0"/>
              </a:rPr>
              <a:t>and </a:t>
            </a:r>
            <a:r>
              <a:rPr lang="en-US" altLang="zh-CN" sz="2800">
                <a:solidFill>
                  <a:srgbClr val="990099"/>
                </a:solidFill>
                <a:latin typeface="Gill Sans MT" pitchFamily="34" charset="0"/>
              </a:rPr>
              <a:t>Venus</a:t>
            </a:r>
            <a:r>
              <a:rPr lang="en-US" altLang="zh-CN" sz="2800">
                <a:latin typeface="Gill Sans MT" pitchFamily="34" charset="0"/>
              </a:rPr>
              <a:t>.</a:t>
            </a:r>
          </a:p>
        </p:txBody>
      </p:sp>
      <p:sp>
        <p:nvSpPr>
          <p:cNvPr id="45060" name="Rectangle 9"/>
          <p:cNvSpPr>
            <a:spLocks noChangeArrowheads="1"/>
          </p:cNvSpPr>
          <p:nvPr/>
        </p:nvSpPr>
        <p:spPr bwMode="auto">
          <a:xfrm>
            <a:off x="533400" y="1219200"/>
            <a:ext cx="8153400" cy="5314950"/>
          </a:xfrm>
          <a:prstGeom prst="rect">
            <a:avLst/>
          </a:prstGeom>
          <a:noFill/>
          <a:ln w="9525">
            <a:noFill/>
            <a:miter lim="800000"/>
            <a:headEnd/>
            <a:tailEnd/>
          </a:ln>
        </p:spPr>
        <p:txBody>
          <a:bodyPr/>
          <a:lstStyle/>
          <a:p>
            <a:pPr marL="342900" indent="-342900">
              <a:lnSpc>
                <a:spcPct val="110000"/>
              </a:lnSpc>
              <a:buFontTx/>
              <a:buChar char="•"/>
            </a:pPr>
            <a:endParaRPr lang="en-GB" altLang="zh-CN" sz="1600" i="1">
              <a:solidFill>
                <a:srgbClr val="000000"/>
              </a:solidFill>
              <a:latin typeface="Times" pitchFamily="18" charset="0"/>
              <a:cs typeface="Arial" charset="0"/>
            </a:endParaRPr>
          </a:p>
        </p:txBody>
      </p:sp>
      <p:sp>
        <p:nvSpPr>
          <p:cNvPr id="45061" name="Rectangle 11"/>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GB" altLang="zh-CN" sz="4300">
                <a:solidFill>
                  <a:srgbClr val="11488B"/>
                </a:solidFill>
                <a:latin typeface="Gill Sans MT" pitchFamily="34" charset="0"/>
                <a:ea typeface="华文中宋" pitchFamily="2" charset="-122"/>
              </a:rPr>
              <a:t>Andrew File System </a:t>
            </a:r>
            <a:endParaRPr lang="en-US" altLang="zh-CN" sz="4300">
              <a:solidFill>
                <a:srgbClr val="11488B"/>
              </a:solidFill>
              <a:latin typeface="Gill Sans MT" pitchFamily="34" charset="0"/>
              <a:ea typeface="华文中宋" pitchFamily="2" charset="-122"/>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0C40D021-ED5C-49FD-B0CB-843AC971BED3}" type="slidenum">
              <a:rPr lang="zh-CN" altLang="en-US"/>
              <a:pPr>
                <a:defRPr/>
              </a:pPr>
              <a:t>44</a:t>
            </a:fld>
            <a:endParaRPr lang="zh-CN" altLang="en-US"/>
          </a:p>
        </p:txBody>
      </p:sp>
      <p:sp>
        <p:nvSpPr>
          <p:cNvPr id="46083" name="Rectangle 5"/>
          <p:cNvSpPr>
            <a:spLocks noChangeArrowheads="1"/>
          </p:cNvSpPr>
          <p:nvPr/>
        </p:nvSpPr>
        <p:spPr bwMode="auto">
          <a:xfrm>
            <a:off x="457200" y="1219200"/>
            <a:ext cx="8229600" cy="4906963"/>
          </a:xfrm>
          <a:prstGeom prst="rect">
            <a:avLst/>
          </a:prstGeom>
          <a:noFill/>
          <a:ln w="9525">
            <a:noFill/>
            <a:miter lim="800000"/>
            <a:headEnd/>
            <a:tailEnd/>
          </a:ln>
        </p:spPr>
        <p:txBody>
          <a:bodyPr/>
          <a:lstStyle/>
          <a:p>
            <a:pPr marL="338138" indent="-338138">
              <a:spcBef>
                <a:spcPts val="600"/>
              </a:spcBef>
              <a:buClr>
                <a:schemeClr val="accent1"/>
              </a:buClr>
              <a:buSzPct val="80000"/>
              <a:buFont typeface="Wingdings 2" pitchFamily="18" charset="2"/>
              <a:buNone/>
              <a:tabLst>
                <a:tab pos="969963" algn="l"/>
                <a:tab pos="1082675" algn="l"/>
                <a:tab pos="1485900" algn="l"/>
                <a:tab pos="1600200" algn="l"/>
              </a:tabLst>
            </a:pPr>
            <a:endParaRPr lang="zh-CN" altLang="en-US" sz="2800">
              <a:latin typeface="Gill Sans MT" pitchFamily="34" charset="0"/>
            </a:endParaRPr>
          </a:p>
        </p:txBody>
      </p:sp>
      <p:sp>
        <p:nvSpPr>
          <p:cNvPr id="46084" name="Rectangle 9"/>
          <p:cNvSpPr>
            <a:spLocks noChangeArrowheads="1"/>
          </p:cNvSpPr>
          <p:nvPr/>
        </p:nvSpPr>
        <p:spPr bwMode="auto">
          <a:xfrm>
            <a:off x="533400" y="1498600"/>
            <a:ext cx="8153400" cy="5314950"/>
          </a:xfrm>
          <a:prstGeom prst="rect">
            <a:avLst/>
          </a:prstGeom>
          <a:noFill/>
          <a:ln w="9525">
            <a:noFill/>
            <a:miter lim="800000"/>
            <a:headEnd/>
            <a:tailEnd/>
          </a:ln>
        </p:spPr>
        <p:txBody>
          <a:bodyPr/>
          <a:lstStyle/>
          <a:p>
            <a:pPr marL="342900" indent="-342900">
              <a:lnSpc>
                <a:spcPct val="110000"/>
              </a:lnSpc>
              <a:buFontTx/>
              <a:buChar char="•"/>
            </a:pPr>
            <a:endParaRPr lang="en-GB" altLang="zh-CN" sz="1600" i="1">
              <a:solidFill>
                <a:srgbClr val="000000"/>
              </a:solidFill>
              <a:latin typeface="Times" pitchFamily="18" charset="0"/>
              <a:cs typeface="Arial" charset="0"/>
            </a:endParaRPr>
          </a:p>
        </p:txBody>
      </p:sp>
      <p:pic>
        <p:nvPicPr>
          <p:cNvPr id="46085" name="Picture 11"/>
          <p:cNvPicPr>
            <a:picLocks noGrp="1" noChangeAspect="1" noChangeArrowheads="1"/>
          </p:cNvPicPr>
          <p:nvPr>
            <p:ph sz="half" idx="4294967295"/>
          </p:nvPr>
        </p:nvPicPr>
        <p:blipFill>
          <a:blip r:embed="rId3" cstate="print"/>
          <a:srcRect/>
          <a:stretch>
            <a:fillRect/>
          </a:stretch>
        </p:blipFill>
        <p:spPr>
          <a:xfrm>
            <a:off x="1344613" y="1528763"/>
            <a:ext cx="6719887" cy="4283075"/>
          </a:xfrm>
          <a:noFill/>
        </p:spPr>
      </p:pic>
      <p:sp>
        <p:nvSpPr>
          <p:cNvPr id="46086" name="Rectangle 13"/>
          <p:cNvSpPr>
            <a:spLocks noChangeArrowheads="1"/>
          </p:cNvSpPr>
          <p:nvPr/>
        </p:nvSpPr>
        <p:spPr bwMode="auto">
          <a:xfrm>
            <a:off x="1701800" y="5791200"/>
            <a:ext cx="5848350" cy="366713"/>
          </a:xfrm>
          <a:prstGeom prst="rect">
            <a:avLst/>
          </a:prstGeom>
          <a:noFill/>
          <a:ln w="9525">
            <a:noFill/>
            <a:miter lim="800000"/>
            <a:headEnd/>
            <a:tailEnd/>
          </a:ln>
        </p:spPr>
        <p:txBody>
          <a:bodyPr wrap="none">
            <a:spAutoFit/>
          </a:bodyPr>
          <a:lstStyle/>
          <a:p>
            <a:pPr algn="ctr"/>
            <a:r>
              <a:rPr kumimoji="1" lang="en-GB" altLang="zh-CN" b="1">
                <a:solidFill>
                  <a:srgbClr val="0066CC"/>
                </a:solidFill>
                <a:cs typeface="Arial" charset="0"/>
              </a:rPr>
              <a:t>Distribution of processes in the Andrew File System</a:t>
            </a:r>
            <a:endParaRPr kumimoji="1" lang="en-US" altLang="zh-CN" b="1">
              <a:solidFill>
                <a:srgbClr val="0066CC"/>
              </a:solidFill>
              <a:cs typeface="Arial" charset="0"/>
            </a:endParaRPr>
          </a:p>
        </p:txBody>
      </p:sp>
      <p:sp>
        <p:nvSpPr>
          <p:cNvPr id="46087" name="Rectangle 11"/>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GB" altLang="zh-CN" sz="4300">
                <a:solidFill>
                  <a:srgbClr val="11488B"/>
                </a:solidFill>
                <a:latin typeface="Gill Sans MT" pitchFamily="34" charset="0"/>
                <a:ea typeface="华文中宋" pitchFamily="2" charset="-122"/>
              </a:rPr>
              <a:t>Andrew File System </a:t>
            </a:r>
            <a:endParaRPr lang="en-US" altLang="zh-CN" sz="4300">
              <a:solidFill>
                <a:srgbClr val="11488B"/>
              </a:solidFill>
              <a:latin typeface="Gill Sans MT" pitchFamily="34" charset="0"/>
              <a:ea typeface="华文中宋" pitchFamily="2"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4FE4E962-3CCA-4DD5-8D8B-42A0F2303C15}" type="slidenum">
              <a:rPr lang="zh-CN" altLang="en-US"/>
              <a:pPr>
                <a:defRPr/>
              </a:pPr>
              <a:t>45</a:t>
            </a:fld>
            <a:endParaRPr lang="zh-CN" altLang="en-US"/>
          </a:p>
        </p:txBody>
      </p:sp>
      <p:sp>
        <p:nvSpPr>
          <p:cNvPr id="47107" name="Rectangle 5"/>
          <p:cNvSpPr>
            <a:spLocks noChangeArrowheads="1"/>
          </p:cNvSpPr>
          <p:nvPr/>
        </p:nvSpPr>
        <p:spPr bwMode="auto">
          <a:xfrm>
            <a:off x="539750" y="1628775"/>
            <a:ext cx="8229600" cy="4608513"/>
          </a:xfrm>
          <a:prstGeom prst="rect">
            <a:avLst/>
          </a:prstGeom>
          <a:noFill/>
          <a:ln w="9525">
            <a:noFill/>
            <a:miter lim="800000"/>
            <a:headEnd/>
            <a:tailEnd/>
          </a:ln>
        </p:spPr>
        <p:txBody>
          <a:bodyPr/>
          <a:lstStyle/>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The files available to user processes running on workstations are either local or shared.</a:t>
            </a:r>
          </a:p>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Local files are handled as normal UNIX files.</a:t>
            </a:r>
          </a:p>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They are stored on the workstation’s disk and are available only to local user processes.</a:t>
            </a:r>
          </a:p>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Shared files are stored on servers, and copies of them are cached on the local disks of workstations. </a:t>
            </a:r>
          </a:p>
        </p:txBody>
      </p:sp>
      <p:sp>
        <p:nvSpPr>
          <p:cNvPr id="47108" name="Rectangle 9"/>
          <p:cNvSpPr>
            <a:spLocks noChangeArrowheads="1"/>
          </p:cNvSpPr>
          <p:nvPr/>
        </p:nvSpPr>
        <p:spPr bwMode="auto">
          <a:xfrm>
            <a:off x="533400" y="1219200"/>
            <a:ext cx="8153400" cy="5314950"/>
          </a:xfrm>
          <a:prstGeom prst="rect">
            <a:avLst/>
          </a:prstGeom>
          <a:noFill/>
          <a:ln w="9525">
            <a:noFill/>
            <a:miter lim="800000"/>
            <a:headEnd/>
            <a:tailEnd/>
          </a:ln>
        </p:spPr>
        <p:txBody>
          <a:bodyPr/>
          <a:lstStyle/>
          <a:p>
            <a:pPr marL="342900" indent="-342900">
              <a:lnSpc>
                <a:spcPct val="110000"/>
              </a:lnSpc>
              <a:buFontTx/>
              <a:buChar char="•"/>
            </a:pPr>
            <a:endParaRPr lang="en-GB" altLang="zh-CN" sz="1600" i="1">
              <a:solidFill>
                <a:srgbClr val="000000"/>
              </a:solidFill>
              <a:latin typeface="Times" pitchFamily="18" charset="0"/>
              <a:cs typeface="Arial" charset="0"/>
            </a:endParaRPr>
          </a:p>
        </p:txBody>
      </p:sp>
      <p:sp>
        <p:nvSpPr>
          <p:cNvPr id="47109" name="Rectangle 10"/>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GB" altLang="zh-CN" sz="4300">
                <a:solidFill>
                  <a:srgbClr val="11488B"/>
                </a:solidFill>
                <a:latin typeface="Gill Sans MT" pitchFamily="34" charset="0"/>
                <a:ea typeface="华文中宋" pitchFamily="2" charset="-122"/>
              </a:rPr>
              <a:t>Andrew File System </a:t>
            </a:r>
            <a:endParaRPr lang="en-US" altLang="zh-CN" sz="4300">
              <a:solidFill>
                <a:srgbClr val="11488B"/>
              </a:solidFill>
              <a:latin typeface="Gill Sans MT" pitchFamily="34" charset="0"/>
              <a:ea typeface="华文中宋" pitchFamily="2" charset="-122"/>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FD1D5579-31A5-4341-9E20-76253E7D7C29}" type="slidenum">
              <a:rPr lang="zh-CN" altLang="en-US"/>
              <a:pPr>
                <a:defRPr/>
              </a:pPr>
              <a:t>46</a:t>
            </a:fld>
            <a:endParaRPr lang="zh-CN" altLang="en-US"/>
          </a:p>
        </p:txBody>
      </p:sp>
      <p:pic>
        <p:nvPicPr>
          <p:cNvPr id="48131" name="Picture 11"/>
          <p:cNvPicPr>
            <a:picLocks noGrp="1" noChangeAspect="1" noChangeArrowheads="1"/>
          </p:cNvPicPr>
          <p:nvPr>
            <p:ph sz="half" idx="4294967295"/>
          </p:nvPr>
        </p:nvPicPr>
        <p:blipFill>
          <a:blip r:embed="rId3" cstate="print"/>
          <a:srcRect/>
          <a:stretch>
            <a:fillRect/>
          </a:stretch>
        </p:blipFill>
        <p:spPr>
          <a:xfrm>
            <a:off x="1344613" y="1690688"/>
            <a:ext cx="6640512" cy="4154487"/>
          </a:xfrm>
          <a:noFill/>
        </p:spPr>
      </p:pic>
      <p:sp>
        <p:nvSpPr>
          <p:cNvPr id="48132" name="Rectangle 13"/>
          <p:cNvSpPr>
            <a:spLocks noChangeArrowheads="1"/>
          </p:cNvSpPr>
          <p:nvPr/>
        </p:nvSpPr>
        <p:spPr bwMode="auto">
          <a:xfrm>
            <a:off x="2400300" y="5791200"/>
            <a:ext cx="4451350" cy="366713"/>
          </a:xfrm>
          <a:prstGeom prst="rect">
            <a:avLst/>
          </a:prstGeom>
          <a:noFill/>
          <a:ln w="9525">
            <a:noFill/>
            <a:miter lim="800000"/>
            <a:headEnd/>
            <a:tailEnd/>
          </a:ln>
        </p:spPr>
        <p:txBody>
          <a:bodyPr wrap="none">
            <a:spAutoFit/>
          </a:bodyPr>
          <a:lstStyle/>
          <a:p>
            <a:pPr algn="ctr"/>
            <a:r>
              <a:rPr kumimoji="1" lang="en-GB" altLang="zh-CN" b="1">
                <a:solidFill>
                  <a:srgbClr val="0066CC"/>
                </a:solidFill>
                <a:cs typeface="Arial" charset="0"/>
              </a:rPr>
              <a:t>File name space seen by clients of AFS</a:t>
            </a:r>
            <a:endParaRPr kumimoji="1" lang="en-US" altLang="zh-CN" b="1">
              <a:solidFill>
                <a:srgbClr val="0066CC"/>
              </a:solidFill>
              <a:cs typeface="Arial" charset="0"/>
            </a:endParaRPr>
          </a:p>
        </p:txBody>
      </p:sp>
      <p:sp>
        <p:nvSpPr>
          <p:cNvPr id="48133" name="Rectangle 12"/>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GB" altLang="zh-CN" sz="4300">
                <a:solidFill>
                  <a:srgbClr val="11488B"/>
                </a:solidFill>
                <a:latin typeface="Gill Sans MT" pitchFamily="34" charset="0"/>
                <a:ea typeface="华文中宋" pitchFamily="2" charset="-122"/>
              </a:rPr>
              <a:t>Andrew File System </a:t>
            </a:r>
            <a:endParaRPr lang="en-US" altLang="zh-CN" sz="4300">
              <a:solidFill>
                <a:srgbClr val="11488B"/>
              </a:solidFill>
              <a:latin typeface="Gill Sans MT" pitchFamily="34" charset="0"/>
              <a:ea typeface="华文中宋" pitchFamily="2" charset="-122"/>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662821F3-F1FF-422C-9EF5-36D66C1355D8}" type="slidenum">
              <a:rPr lang="zh-CN" altLang="en-US"/>
              <a:pPr>
                <a:defRPr/>
              </a:pPr>
              <a:t>47</a:t>
            </a:fld>
            <a:endParaRPr lang="zh-CN" altLang="en-US"/>
          </a:p>
        </p:txBody>
      </p:sp>
      <p:sp>
        <p:nvSpPr>
          <p:cNvPr id="49155" name="Rectangle 5"/>
          <p:cNvSpPr>
            <a:spLocks noChangeArrowheads="1"/>
          </p:cNvSpPr>
          <p:nvPr/>
        </p:nvSpPr>
        <p:spPr bwMode="auto">
          <a:xfrm>
            <a:off x="468313" y="1628775"/>
            <a:ext cx="8229600" cy="4037013"/>
          </a:xfrm>
          <a:prstGeom prst="rect">
            <a:avLst/>
          </a:prstGeom>
          <a:noFill/>
          <a:ln w="9525">
            <a:noFill/>
            <a:miter lim="800000"/>
            <a:headEnd/>
            <a:tailEnd/>
          </a:ln>
        </p:spPr>
        <p:txBody>
          <a:bodyPr/>
          <a:lstStyle/>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The UNIX kernel in each workstation and server is a modified version of BSD UNIX.</a:t>
            </a:r>
          </a:p>
          <a:p>
            <a:pPr marL="338138" indent="-338138">
              <a:spcBef>
                <a:spcPts val="600"/>
              </a:spcBef>
              <a:buClr>
                <a:schemeClr val="accent1"/>
              </a:buClr>
              <a:buSzPct val="80000"/>
              <a:buFont typeface="Wingdings 2" pitchFamily="18" charset="2"/>
              <a:buChar char=""/>
              <a:tabLst>
                <a:tab pos="969963" algn="l"/>
                <a:tab pos="1082675" algn="l"/>
                <a:tab pos="1485900" algn="l"/>
                <a:tab pos="1600200" algn="l"/>
              </a:tabLst>
            </a:pPr>
            <a:r>
              <a:rPr lang="en-US" altLang="zh-CN" sz="2800">
                <a:latin typeface="Gill Sans MT" pitchFamily="34" charset="0"/>
              </a:rPr>
              <a:t>The modifications are designed to intercept </a:t>
            </a:r>
            <a:r>
              <a:rPr lang="en-US" altLang="zh-CN" sz="2800">
                <a:solidFill>
                  <a:srgbClr val="990099"/>
                </a:solidFill>
                <a:latin typeface="Gill Sans MT" pitchFamily="34" charset="0"/>
              </a:rPr>
              <a:t>open, close</a:t>
            </a:r>
            <a:r>
              <a:rPr lang="en-US" altLang="zh-CN" sz="2800">
                <a:latin typeface="Gill Sans MT" pitchFamily="34" charset="0"/>
              </a:rPr>
              <a:t> and some other file system calls when they refer to files in the shared name space and pass them to the Venus process in the client computer.</a:t>
            </a:r>
          </a:p>
        </p:txBody>
      </p:sp>
      <p:sp>
        <p:nvSpPr>
          <p:cNvPr id="49156" name="Rectangle 9"/>
          <p:cNvSpPr>
            <a:spLocks noChangeArrowheads="1"/>
          </p:cNvSpPr>
          <p:nvPr/>
        </p:nvSpPr>
        <p:spPr bwMode="auto">
          <a:xfrm>
            <a:off x="533400" y="1219200"/>
            <a:ext cx="8153400" cy="5314950"/>
          </a:xfrm>
          <a:prstGeom prst="rect">
            <a:avLst/>
          </a:prstGeom>
          <a:noFill/>
          <a:ln w="9525">
            <a:noFill/>
            <a:miter lim="800000"/>
            <a:headEnd/>
            <a:tailEnd/>
          </a:ln>
        </p:spPr>
        <p:txBody>
          <a:bodyPr/>
          <a:lstStyle/>
          <a:p>
            <a:pPr marL="342900" indent="-342900">
              <a:lnSpc>
                <a:spcPct val="110000"/>
              </a:lnSpc>
              <a:buFontTx/>
              <a:buChar char="•"/>
            </a:pPr>
            <a:endParaRPr lang="en-GB" altLang="zh-CN" sz="1600" i="1">
              <a:solidFill>
                <a:srgbClr val="000000"/>
              </a:solidFill>
              <a:latin typeface="Times" pitchFamily="18" charset="0"/>
              <a:cs typeface="Arial" charset="0"/>
            </a:endParaRPr>
          </a:p>
        </p:txBody>
      </p:sp>
      <p:sp>
        <p:nvSpPr>
          <p:cNvPr id="49157" name="Rectangle 9"/>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GB" altLang="zh-CN" sz="4300">
                <a:solidFill>
                  <a:srgbClr val="11488B"/>
                </a:solidFill>
                <a:latin typeface="Gill Sans MT" pitchFamily="34" charset="0"/>
                <a:ea typeface="华文中宋" pitchFamily="2" charset="-122"/>
              </a:rPr>
              <a:t>Andrew File System </a:t>
            </a:r>
            <a:endParaRPr lang="en-US" altLang="zh-CN" sz="4300">
              <a:solidFill>
                <a:srgbClr val="11488B"/>
              </a:solidFill>
              <a:latin typeface="Gill Sans MT" pitchFamily="34" charset="0"/>
              <a:ea typeface="华文中宋" pitchFamily="2" charset="-12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9"/>
          <p:cNvSpPr>
            <a:spLocks noGrp="1"/>
          </p:cNvSpPr>
          <p:nvPr>
            <p:ph type="sldNum" sz="quarter" idx="12"/>
          </p:nvPr>
        </p:nvSpPr>
        <p:spPr/>
        <p:txBody>
          <a:bodyPr/>
          <a:lstStyle/>
          <a:p>
            <a:pPr>
              <a:defRPr/>
            </a:pPr>
            <a:fld id="{7CFD8D89-B520-4C6C-B58A-E6B70A9CFA0A}" type="slidenum">
              <a:rPr lang="zh-CN" altLang="en-US"/>
              <a:pPr>
                <a:defRPr/>
              </a:pPr>
              <a:t>48</a:t>
            </a:fld>
            <a:endParaRPr lang="zh-CN" altLang="en-US"/>
          </a:p>
        </p:txBody>
      </p:sp>
      <p:sp>
        <p:nvSpPr>
          <p:cNvPr id="50179" name="Rectangle 9"/>
          <p:cNvSpPr>
            <a:spLocks noChangeArrowheads="1"/>
          </p:cNvSpPr>
          <p:nvPr/>
        </p:nvSpPr>
        <p:spPr bwMode="auto">
          <a:xfrm>
            <a:off x="533400" y="1219200"/>
            <a:ext cx="8153400" cy="5314950"/>
          </a:xfrm>
          <a:prstGeom prst="rect">
            <a:avLst/>
          </a:prstGeom>
          <a:noFill/>
          <a:ln w="9525">
            <a:noFill/>
            <a:miter lim="800000"/>
            <a:headEnd/>
            <a:tailEnd/>
          </a:ln>
        </p:spPr>
        <p:txBody>
          <a:bodyPr/>
          <a:lstStyle/>
          <a:p>
            <a:pPr marL="342900" indent="-342900">
              <a:lnSpc>
                <a:spcPct val="110000"/>
              </a:lnSpc>
              <a:buFontTx/>
              <a:buChar char="•"/>
            </a:pPr>
            <a:endParaRPr lang="en-GB" altLang="zh-CN" sz="1600" i="1">
              <a:solidFill>
                <a:srgbClr val="000000"/>
              </a:solidFill>
              <a:latin typeface="Times" pitchFamily="18" charset="0"/>
              <a:cs typeface="Arial" charset="0"/>
            </a:endParaRPr>
          </a:p>
        </p:txBody>
      </p:sp>
      <p:pic>
        <p:nvPicPr>
          <p:cNvPr id="50180" name="Picture 14"/>
          <p:cNvPicPr>
            <a:picLocks noGrp="1" noChangeAspect="1" noChangeArrowheads="1"/>
          </p:cNvPicPr>
          <p:nvPr>
            <p:ph sz="half" idx="4294967295"/>
          </p:nvPr>
        </p:nvPicPr>
        <p:blipFill>
          <a:blip r:embed="rId3" cstate="print"/>
          <a:srcRect/>
          <a:stretch>
            <a:fillRect/>
          </a:stretch>
        </p:blipFill>
        <p:spPr>
          <a:xfrm>
            <a:off x="1106488" y="1649413"/>
            <a:ext cx="6483350" cy="3883025"/>
          </a:xfrm>
          <a:noFill/>
        </p:spPr>
      </p:pic>
      <p:sp>
        <p:nvSpPr>
          <p:cNvPr id="50181" name="Rectangle 16"/>
          <p:cNvSpPr>
            <a:spLocks noChangeArrowheads="1"/>
          </p:cNvSpPr>
          <p:nvPr/>
        </p:nvSpPr>
        <p:spPr bwMode="auto">
          <a:xfrm>
            <a:off x="2700338" y="5805488"/>
            <a:ext cx="3600450" cy="366712"/>
          </a:xfrm>
          <a:prstGeom prst="rect">
            <a:avLst/>
          </a:prstGeom>
          <a:noFill/>
          <a:ln w="9525">
            <a:noFill/>
            <a:miter lim="800000"/>
            <a:headEnd/>
            <a:tailEnd/>
          </a:ln>
        </p:spPr>
        <p:txBody>
          <a:bodyPr wrap="none">
            <a:spAutoFit/>
          </a:bodyPr>
          <a:lstStyle/>
          <a:p>
            <a:pPr algn="ctr"/>
            <a:r>
              <a:rPr kumimoji="1" lang="en-GB" altLang="zh-CN" b="1">
                <a:solidFill>
                  <a:srgbClr val="0066CC"/>
                </a:solidFill>
                <a:cs typeface="Arial" charset="0"/>
              </a:rPr>
              <a:t>System call interception in AFS</a:t>
            </a:r>
            <a:endParaRPr kumimoji="1" lang="en-US" altLang="zh-CN" b="1">
              <a:solidFill>
                <a:srgbClr val="0066CC"/>
              </a:solidFill>
              <a:cs typeface="Arial" charset="0"/>
            </a:endParaRPr>
          </a:p>
        </p:txBody>
      </p:sp>
      <p:sp>
        <p:nvSpPr>
          <p:cNvPr id="50182" name="Rectangle 11"/>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GB" altLang="zh-CN" sz="4300">
                <a:solidFill>
                  <a:srgbClr val="11488B"/>
                </a:solidFill>
                <a:latin typeface="Gill Sans MT" pitchFamily="34" charset="0"/>
                <a:ea typeface="华文中宋" pitchFamily="2" charset="-122"/>
              </a:rPr>
              <a:t>Andrew File System </a:t>
            </a:r>
            <a:endParaRPr lang="en-US" altLang="zh-CN" sz="4300">
              <a:solidFill>
                <a:srgbClr val="11488B"/>
              </a:solidFill>
              <a:latin typeface="Gill Sans MT" pitchFamily="34" charset="0"/>
              <a:ea typeface="华文中宋" pitchFamily="2"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E8CF66E6-AC7A-44D5-B285-98BB324D4E86}" type="slidenum">
              <a:rPr lang="zh-CN" altLang="en-US"/>
              <a:pPr>
                <a:defRPr/>
              </a:pPr>
              <a:t>49</a:t>
            </a:fld>
            <a:endParaRPr lang="zh-CN" altLang="en-US"/>
          </a:p>
        </p:txBody>
      </p:sp>
      <p:sp>
        <p:nvSpPr>
          <p:cNvPr id="51203" name="Rectangle 2"/>
          <p:cNvSpPr>
            <a:spLocks noGrp="1"/>
          </p:cNvSpPr>
          <p:nvPr>
            <p:ph type="title"/>
          </p:nvPr>
        </p:nvSpPr>
        <p:spPr/>
        <p:txBody>
          <a:bodyPr/>
          <a:lstStyle/>
          <a:p>
            <a:r>
              <a:rPr lang="en-US" altLang="zh-CN" smtClean="0"/>
              <a:t>Coda</a:t>
            </a:r>
          </a:p>
        </p:txBody>
      </p:sp>
      <p:sp>
        <p:nvSpPr>
          <p:cNvPr id="51204" name="Rectangle 3"/>
          <p:cNvSpPr>
            <a:spLocks noGrp="1"/>
          </p:cNvSpPr>
          <p:nvPr>
            <p:ph type="body" idx="1"/>
          </p:nvPr>
        </p:nvSpPr>
        <p:spPr>
          <a:xfrm>
            <a:off x="395288" y="1447800"/>
            <a:ext cx="8539162" cy="5410200"/>
          </a:xfrm>
        </p:spPr>
        <p:txBody>
          <a:bodyPr/>
          <a:lstStyle/>
          <a:p>
            <a:pPr>
              <a:lnSpc>
                <a:spcPct val="90000"/>
              </a:lnSpc>
            </a:pPr>
            <a:r>
              <a:rPr lang="zh-CN" altLang="zh-CN" smtClean="0"/>
              <a:t>AFS可用性较差</a:t>
            </a:r>
            <a:r>
              <a:rPr lang="zh-CN" altLang="en-US" smtClean="0"/>
              <a:t>，</a:t>
            </a:r>
            <a:r>
              <a:rPr lang="zh-CN" altLang="zh-CN" smtClean="0"/>
              <a:t>一旦服务器或网络出现问题，将造成不可预料的后果。</a:t>
            </a:r>
            <a:endParaRPr lang="zh-CN" altLang="en-US" smtClean="0"/>
          </a:p>
          <a:p>
            <a:pPr>
              <a:lnSpc>
                <a:spcPct val="90000"/>
              </a:lnSpc>
            </a:pPr>
            <a:r>
              <a:rPr lang="zh-CN" altLang="en-US" smtClean="0"/>
              <a:t>为此，</a:t>
            </a:r>
            <a:r>
              <a:rPr lang="en-US" altLang="zh-CN" smtClean="0"/>
              <a:t>1990</a:t>
            </a:r>
            <a:r>
              <a:rPr lang="zh-CN" altLang="en-US" smtClean="0"/>
              <a:t>年</a:t>
            </a:r>
            <a:r>
              <a:rPr lang="en-US" altLang="zh-CN" smtClean="0"/>
              <a:t>CMU</a:t>
            </a:r>
            <a:r>
              <a:rPr lang="zh-CN" altLang="en-US" smtClean="0"/>
              <a:t>在</a:t>
            </a:r>
            <a:r>
              <a:rPr lang="en-US" altLang="zh-CN" smtClean="0"/>
              <a:t>AFS</a:t>
            </a:r>
            <a:r>
              <a:rPr lang="zh-CN" altLang="en-US" smtClean="0"/>
              <a:t>的基础上开发了</a:t>
            </a:r>
            <a:r>
              <a:rPr lang="en-US" altLang="zh-CN" smtClean="0"/>
              <a:t>Coda</a:t>
            </a:r>
            <a:r>
              <a:rPr lang="zh-CN" altLang="en-US" smtClean="0"/>
              <a:t>文件系统。</a:t>
            </a:r>
          </a:p>
          <a:p>
            <a:pPr>
              <a:lnSpc>
                <a:spcPct val="90000"/>
              </a:lnSpc>
            </a:pPr>
            <a:r>
              <a:rPr lang="en-US" altLang="zh-CN" smtClean="0"/>
              <a:t>Coda</a:t>
            </a:r>
            <a:r>
              <a:rPr lang="zh-CN" altLang="en-US" smtClean="0"/>
              <a:t>采用了两种新的机制来保证可用性：</a:t>
            </a:r>
          </a:p>
          <a:p>
            <a:pPr lvl="1">
              <a:lnSpc>
                <a:spcPct val="90000"/>
              </a:lnSpc>
            </a:pPr>
            <a:r>
              <a:rPr lang="zh-CN" altLang="en-US" smtClean="0"/>
              <a:t>服务器端复制，就是将一个文件在多个服务器中保存多个副本。这样，一个服务器失效，其它的服务器可以继续为客户端提供服务。</a:t>
            </a:r>
          </a:p>
          <a:p>
            <a:pPr lvl="1">
              <a:lnSpc>
                <a:spcPct val="90000"/>
              </a:lnSpc>
            </a:pPr>
            <a:r>
              <a:rPr lang="zh-CN" altLang="en-US" smtClean="0"/>
              <a:t>断开连接操作，</a:t>
            </a:r>
            <a:r>
              <a:rPr lang="en-US" altLang="zh-CN" smtClean="0"/>
              <a:t>Coda</a:t>
            </a:r>
            <a:r>
              <a:rPr lang="zh-CN" altLang="en-US" smtClean="0"/>
              <a:t>继承了</a:t>
            </a:r>
            <a:r>
              <a:rPr lang="en-US" altLang="zh-CN" smtClean="0"/>
              <a:t>AFS</a:t>
            </a:r>
            <a:r>
              <a:rPr lang="zh-CN" altLang="en-US" smtClean="0"/>
              <a:t>，即客户端在本地磁盘中缓存整个文件。</a:t>
            </a:r>
            <a:r>
              <a:rPr lang="en-US" altLang="zh-CN" smtClean="0"/>
              <a:t>Coda</a:t>
            </a:r>
            <a:r>
              <a:rPr lang="zh-CN" altLang="en-US" smtClean="0"/>
              <a:t>客户端一旦检测到服务器失效，仍然可以继续访问本地缓存的操作，这就是所谓的断开连接操作。连接恢复时，又恢复到正常状态。</a:t>
            </a:r>
          </a:p>
          <a:p>
            <a:pPr lvl="1">
              <a:lnSpc>
                <a:spcPct val="90000"/>
              </a:lnSpc>
            </a:pPr>
            <a:r>
              <a:rPr lang="zh-CN" altLang="en-US" smtClean="0"/>
              <a:t>此外，客户端还可以主动进行断开连接操作，这样就能够更好地支持移动计算。</a:t>
            </a:r>
            <a:endParaRPr lang="en-US" altLang="zh-CN"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23BAB110-16AE-49C0-8FED-E2D19E706FD9}" type="slidenum">
              <a:rPr lang="zh-CN" altLang="en-US"/>
              <a:pPr>
                <a:defRPr/>
              </a:pPr>
              <a:t>50</a:t>
            </a:fld>
            <a:endParaRPr lang="zh-CN" altLang="en-US"/>
          </a:p>
        </p:txBody>
      </p:sp>
      <p:sp>
        <p:nvSpPr>
          <p:cNvPr id="52227" name="Rectangle 2"/>
          <p:cNvSpPr>
            <a:spLocks noGrp="1"/>
          </p:cNvSpPr>
          <p:nvPr>
            <p:ph type="title"/>
          </p:nvPr>
        </p:nvSpPr>
        <p:spPr/>
        <p:txBody>
          <a:bodyPr/>
          <a:lstStyle/>
          <a:p>
            <a:r>
              <a:rPr lang="en-US" altLang="zh-CN" smtClean="0"/>
              <a:t>xFS</a:t>
            </a:r>
          </a:p>
        </p:txBody>
      </p:sp>
      <p:sp>
        <p:nvSpPr>
          <p:cNvPr id="52228" name="Rectangle 3"/>
          <p:cNvSpPr>
            <a:spLocks noGrp="1"/>
          </p:cNvSpPr>
          <p:nvPr>
            <p:ph type="body" idx="1"/>
          </p:nvPr>
        </p:nvSpPr>
        <p:spPr/>
        <p:txBody>
          <a:bodyPr/>
          <a:lstStyle/>
          <a:p>
            <a:r>
              <a:rPr lang="en-US" altLang="zh-CN" smtClean="0"/>
              <a:t>20</a:t>
            </a:r>
            <a:r>
              <a:rPr lang="zh-CN" altLang="en-US" smtClean="0"/>
              <a:t>世纪</a:t>
            </a:r>
            <a:r>
              <a:rPr lang="en-US" altLang="zh-CN" smtClean="0"/>
              <a:t>90</a:t>
            </a:r>
            <a:r>
              <a:rPr lang="zh-CN" altLang="en-US" smtClean="0"/>
              <a:t>年代初，面对广域网和大容量存储应用的需求，加利福尼亚大学设计开发的</a:t>
            </a:r>
            <a:r>
              <a:rPr lang="en-US" altLang="zh-CN" smtClean="0"/>
              <a:t>xFS</a:t>
            </a:r>
            <a:r>
              <a:rPr lang="zh-CN" altLang="en-US" smtClean="0"/>
              <a:t>，克服了以前的分布式文件系统一般都运行在局域网（</a:t>
            </a:r>
            <a:r>
              <a:rPr lang="en-US" altLang="zh-CN" smtClean="0"/>
              <a:t>LAN</a:t>
            </a:r>
            <a:r>
              <a:rPr lang="zh-CN" altLang="en-US" smtClean="0"/>
              <a:t>）上的弱点。</a:t>
            </a:r>
          </a:p>
          <a:p>
            <a:r>
              <a:rPr lang="en-US" altLang="zh-CN" smtClean="0"/>
              <a:t>xFS</a:t>
            </a:r>
            <a:r>
              <a:rPr lang="zh-CN" altLang="en-US" smtClean="0"/>
              <a:t>的基本设计原则是任何机器都可以担当客户、管理器和服务器的角色。</a:t>
            </a:r>
          </a:p>
        </p:txBody>
      </p:sp>
      <p:pic>
        <p:nvPicPr>
          <p:cNvPr id="52229" name="Picture 4"/>
          <p:cNvPicPr>
            <a:picLocks noChangeAspect="1" noChangeArrowheads="1"/>
          </p:cNvPicPr>
          <p:nvPr/>
        </p:nvPicPr>
        <p:blipFill>
          <a:blip r:embed="rId2" cstate="print"/>
          <a:srcRect/>
          <a:stretch>
            <a:fillRect/>
          </a:stretch>
        </p:blipFill>
        <p:spPr bwMode="auto">
          <a:xfrm>
            <a:off x="684213" y="4248150"/>
            <a:ext cx="8101012" cy="256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69A606C5-BA2D-494C-804B-D74D20FEA16F}" type="slidenum">
              <a:rPr lang="zh-CN" altLang="en-US"/>
              <a:pPr>
                <a:defRPr/>
              </a:pPr>
              <a:t>51</a:t>
            </a:fld>
            <a:endParaRPr lang="zh-CN" altLang="en-US"/>
          </a:p>
        </p:txBody>
      </p:sp>
      <p:sp>
        <p:nvSpPr>
          <p:cNvPr id="53251" name="Rectangle 2"/>
          <p:cNvSpPr>
            <a:spLocks noGrp="1"/>
          </p:cNvSpPr>
          <p:nvPr>
            <p:ph type="title"/>
          </p:nvPr>
        </p:nvSpPr>
        <p:spPr/>
        <p:txBody>
          <a:bodyPr/>
          <a:lstStyle/>
          <a:p>
            <a:r>
              <a:rPr lang="en-US" altLang="zh-CN" smtClean="0"/>
              <a:t>SpriteFS</a:t>
            </a:r>
            <a:endParaRPr lang="zh-CN" altLang="en-US" smtClean="0"/>
          </a:p>
        </p:txBody>
      </p:sp>
      <p:sp>
        <p:nvSpPr>
          <p:cNvPr id="53252" name="Rectangle 3"/>
          <p:cNvSpPr>
            <a:spLocks noGrp="1"/>
          </p:cNvSpPr>
          <p:nvPr>
            <p:ph type="body" idx="1"/>
          </p:nvPr>
        </p:nvSpPr>
        <p:spPr/>
        <p:txBody>
          <a:bodyPr/>
          <a:lstStyle/>
          <a:p>
            <a:pPr>
              <a:lnSpc>
                <a:spcPct val="90000"/>
              </a:lnSpc>
            </a:pPr>
            <a:r>
              <a:rPr lang="zh-CN" altLang="en-US" smtClean="0"/>
              <a:t>为了进一步提高分布式文件系统的访问性能，加州大学伯克力分校开发了</a:t>
            </a:r>
            <a:r>
              <a:rPr lang="en-US" altLang="zh-CN" smtClean="0"/>
              <a:t>Sprite</a:t>
            </a:r>
            <a:r>
              <a:rPr lang="zh-CN" altLang="en-US" smtClean="0"/>
              <a:t>文件系统。</a:t>
            </a:r>
          </a:p>
          <a:p>
            <a:pPr>
              <a:lnSpc>
                <a:spcPct val="90000"/>
              </a:lnSpc>
            </a:pPr>
            <a:r>
              <a:rPr lang="en-US" altLang="zh-CN" smtClean="0"/>
              <a:t>SpriteFS</a:t>
            </a:r>
            <a:r>
              <a:rPr lang="zh-CN" altLang="en-US" smtClean="0"/>
              <a:t>是</a:t>
            </a:r>
            <a:r>
              <a:rPr lang="en-US" altLang="zh-CN" smtClean="0"/>
              <a:t>Sprite</a:t>
            </a:r>
            <a:r>
              <a:rPr lang="zh-CN" altLang="en-US" smtClean="0"/>
              <a:t>网络操作系统的一个重要组成部分。它使用大容量的主存来缓存文件数据，并且在服务器端和客户端都设置了缓存。</a:t>
            </a:r>
          </a:p>
          <a:p>
            <a:pPr>
              <a:lnSpc>
                <a:spcPct val="90000"/>
              </a:lnSpc>
            </a:pPr>
            <a:r>
              <a:rPr lang="zh-CN" altLang="en-US" smtClean="0"/>
              <a:t>客户端的一个进程发出一个文件访问请求后，先在客户端的缓存中查找缓存数据。如果数据不在客户端缓存中，这个请求才被发送到服务器端。</a:t>
            </a:r>
          </a:p>
          <a:p>
            <a:pPr>
              <a:lnSpc>
                <a:spcPct val="90000"/>
              </a:lnSpc>
            </a:pPr>
            <a:r>
              <a:rPr lang="zh-CN" altLang="en-US" smtClean="0"/>
              <a:t>服务器端处理请求时也是先看内存中是否缓存有请求数据，只有数据不在内存中时，才真正地从服务器端的磁盘读取数据，最后返回给客户端。</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1B92AA49-7BAA-4478-A149-A547E65A5486}" type="slidenum">
              <a:rPr lang="zh-CN" altLang="en-US"/>
              <a:pPr>
                <a:defRPr/>
              </a:pPr>
              <a:t>52</a:t>
            </a:fld>
            <a:endParaRPr lang="zh-CN" altLang="en-US"/>
          </a:p>
        </p:txBody>
      </p:sp>
      <p:sp>
        <p:nvSpPr>
          <p:cNvPr id="54275" name="Rectangle 2"/>
          <p:cNvSpPr>
            <a:spLocks noGrp="1"/>
          </p:cNvSpPr>
          <p:nvPr>
            <p:ph type="title"/>
          </p:nvPr>
        </p:nvSpPr>
        <p:spPr/>
        <p:txBody>
          <a:bodyPr/>
          <a:lstStyle/>
          <a:p>
            <a:r>
              <a:rPr lang="en-US" altLang="zh-CN" smtClean="0"/>
              <a:t>Lustre</a:t>
            </a:r>
          </a:p>
        </p:txBody>
      </p:sp>
      <p:sp>
        <p:nvSpPr>
          <p:cNvPr id="54276" name="Rectangle 3"/>
          <p:cNvSpPr>
            <a:spLocks noGrp="1"/>
          </p:cNvSpPr>
          <p:nvPr>
            <p:ph type="body" idx="1"/>
          </p:nvPr>
        </p:nvSpPr>
        <p:spPr/>
        <p:txBody>
          <a:bodyPr/>
          <a:lstStyle/>
          <a:p>
            <a:r>
              <a:rPr lang="en-US" altLang="zh-CN" smtClean="0"/>
              <a:t>Lustre</a:t>
            </a:r>
            <a:r>
              <a:rPr lang="zh-CN" altLang="en-US" smtClean="0"/>
              <a:t>文件系统采用基于对象存储技术，它来源于卡耐基梅隆大学的</a:t>
            </a:r>
            <a:r>
              <a:rPr lang="en-US" altLang="zh-CN" smtClean="0"/>
              <a:t>Coda</a:t>
            </a:r>
            <a:r>
              <a:rPr lang="zh-CN" altLang="en-US" smtClean="0"/>
              <a:t>项目</a:t>
            </a:r>
          </a:p>
          <a:p>
            <a:r>
              <a:rPr lang="en-US" altLang="zh-CN" smtClean="0"/>
              <a:t>2003</a:t>
            </a:r>
            <a:r>
              <a:rPr lang="zh-CN" altLang="en-US" smtClean="0"/>
              <a:t>年</a:t>
            </a:r>
            <a:r>
              <a:rPr lang="en-US" altLang="zh-CN" smtClean="0"/>
              <a:t>12</a:t>
            </a:r>
            <a:r>
              <a:rPr lang="zh-CN" altLang="en-US" smtClean="0"/>
              <a:t>月发布了</a:t>
            </a:r>
            <a:r>
              <a:rPr lang="en-US" altLang="zh-CN" smtClean="0"/>
              <a:t>Lustre 1.0</a:t>
            </a:r>
            <a:r>
              <a:rPr lang="zh-CN" altLang="en-US" smtClean="0"/>
              <a:t>版，</a:t>
            </a:r>
            <a:r>
              <a:rPr lang="en-US" altLang="zh-CN" smtClean="0"/>
              <a:t>IBM</a:t>
            </a:r>
            <a:r>
              <a:rPr lang="zh-CN" altLang="en-US" smtClean="0"/>
              <a:t>研制的</a:t>
            </a:r>
            <a:r>
              <a:rPr lang="en-US" altLang="zh-CN" smtClean="0"/>
              <a:t>Blue Gene</a:t>
            </a:r>
            <a:r>
              <a:rPr lang="zh-CN" altLang="en-US" smtClean="0"/>
              <a:t>系统也将采用</a:t>
            </a:r>
            <a:r>
              <a:rPr lang="en-US" altLang="zh-CN" smtClean="0"/>
              <a:t>Lustre</a:t>
            </a:r>
            <a:r>
              <a:rPr lang="zh-CN" altLang="en-US" smtClean="0"/>
              <a:t>文件系统实现其高性能存储。</a:t>
            </a:r>
          </a:p>
          <a:p>
            <a:r>
              <a:rPr lang="en-US" altLang="zh-CN" smtClean="0"/>
              <a:t>Lustre</a:t>
            </a:r>
            <a:r>
              <a:rPr lang="zh-CN" altLang="en-US" smtClean="0"/>
              <a:t>的主要组件有三个：先进的集群文件系统，基于对象的存储设备和可堆叠的对象驱动模型。</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88C673EC-EC9D-47E6-B7AD-023FD012D8B8}" type="slidenum">
              <a:rPr lang="zh-CN" altLang="en-US"/>
              <a:pPr>
                <a:defRPr/>
              </a:pPr>
              <a:t>53</a:t>
            </a:fld>
            <a:endParaRPr lang="zh-CN" altLang="en-US"/>
          </a:p>
        </p:txBody>
      </p:sp>
      <p:sp>
        <p:nvSpPr>
          <p:cNvPr id="55299" name="Rectangle 2"/>
          <p:cNvSpPr>
            <a:spLocks noGrp="1"/>
          </p:cNvSpPr>
          <p:nvPr>
            <p:ph type="title"/>
          </p:nvPr>
        </p:nvSpPr>
        <p:spPr/>
        <p:txBody>
          <a:bodyPr/>
          <a:lstStyle/>
          <a:p>
            <a:r>
              <a:rPr lang="en-US" altLang="zh-CN" smtClean="0"/>
              <a:t>Ceph</a:t>
            </a:r>
            <a:endParaRPr lang="zh-CN" altLang="en-US" smtClean="0"/>
          </a:p>
        </p:txBody>
      </p:sp>
      <p:sp>
        <p:nvSpPr>
          <p:cNvPr id="55300" name="Rectangle 3"/>
          <p:cNvSpPr>
            <a:spLocks noGrp="1"/>
          </p:cNvSpPr>
          <p:nvPr>
            <p:ph type="body" idx="1"/>
          </p:nvPr>
        </p:nvSpPr>
        <p:spPr>
          <a:xfrm>
            <a:off x="395288" y="1447800"/>
            <a:ext cx="8539162" cy="5076825"/>
          </a:xfrm>
        </p:spPr>
        <p:txBody>
          <a:bodyPr/>
          <a:lstStyle/>
          <a:p>
            <a:r>
              <a:rPr lang="en-US" altLang="zh-CN" sz="2400" smtClean="0"/>
              <a:t>Ceph</a:t>
            </a:r>
            <a:r>
              <a:rPr lang="zh-CN" altLang="en-US" sz="2400" smtClean="0"/>
              <a:t>的设计目标是实现</a:t>
            </a:r>
            <a:r>
              <a:rPr lang="en-US" altLang="zh-CN" sz="2400" smtClean="0"/>
              <a:t>PB</a:t>
            </a:r>
            <a:r>
              <a:rPr lang="zh-CN" altLang="en-US" sz="2400" smtClean="0"/>
              <a:t>级数据存储。可管理</a:t>
            </a:r>
            <a:r>
              <a:rPr lang="en-US" altLang="zh-CN" sz="2400" smtClean="0"/>
              <a:t>20 PB </a:t>
            </a:r>
            <a:r>
              <a:rPr lang="zh-CN" altLang="en-US" sz="2400" smtClean="0"/>
              <a:t>的存储系统，</a:t>
            </a:r>
            <a:r>
              <a:rPr lang="en-US" altLang="zh-CN" sz="2400" smtClean="0"/>
              <a:t>1-10,000 </a:t>
            </a:r>
            <a:r>
              <a:rPr lang="zh-CN" altLang="en-US" sz="2400" smtClean="0"/>
              <a:t>个硬盘驱动器， </a:t>
            </a:r>
            <a:r>
              <a:rPr lang="en-US" altLang="zh-CN" sz="2400" smtClean="0"/>
              <a:t>1TB/sec </a:t>
            </a:r>
            <a:r>
              <a:rPr lang="zh-CN" altLang="en-US" sz="2400" smtClean="0"/>
              <a:t>的聚合带宽，数十亿个文件，从</a:t>
            </a:r>
            <a:r>
              <a:rPr lang="en-US" altLang="zh-CN" sz="2400" smtClean="0"/>
              <a:t>Bytes </a:t>
            </a:r>
            <a:r>
              <a:rPr lang="zh-CN" altLang="en-US" sz="2400" smtClean="0"/>
              <a:t>到</a:t>
            </a:r>
            <a:r>
              <a:rPr lang="en-US" altLang="zh-CN" sz="2400" smtClean="0"/>
              <a:t>terabytes</a:t>
            </a:r>
            <a:r>
              <a:rPr lang="zh-CN" altLang="en-US" sz="2400" smtClean="0"/>
              <a:t>，从</a:t>
            </a:r>
            <a:r>
              <a:rPr lang="en-US" altLang="zh-CN" sz="2400" smtClean="0"/>
              <a:t>1-100,000 </a:t>
            </a:r>
            <a:r>
              <a:rPr lang="zh-CN" altLang="en-US" sz="2400" smtClean="0"/>
              <a:t>以上的文件</a:t>
            </a:r>
            <a:r>
              <a:rPr lang="en-US" altLang="zh-CN" sz="2400" smtClean="0"/>
              <a:t>/</a:t>
            </a:r>
            <a:r>
              <a:rPr lang="zh-CN" altLang="en-US" sz="2400" smtClean="0"/>
              <a:t>目录， 低延迟的元数据访问。</a:t>
            </a:r>
          </a:p>
          <a:p>
            <a:r>
              <a:rPr lang="zh-CN" altLang="en-US" sz="2400" smtClean="0"/>
              <a:t>功能方面，类</a:t>
            </a:r>
            <a:r>
              <a:rPr lang="en-US" altLang="zh-CN" sz="2400" smtClean="0"/>
              <a:t>POSIX(Portable Operating System Interface of Unix)</a:t>
            </a:r>
            <a:r>
              <a:rPr lang="zh-CN" altLang="en-US" sz="2400" smtClean="0"/>
              <a:t>的接口，标准的文件</a:t>
            </a:r>
            <a:r>
              <a:rPr lang="en-US" altLang="zh-CN" sz="2400" smtClean="0"/>
              <a:t>/</a:t>
            </a:r>
            <a:r>
              <a:rPr lang="zh-CN" altLang="en-US" sz="2400" smtClean="0"/>
              <a:t>目录语义，来自</a:t>
            </a:r>
            <a:r>
              <a:rPr lang="en-US" altLang="zh-CN" sz="2400" smtClean="0"/>
              <a:t>100,000 </a:t>
            </a:r>
            <a:r>
              <a:rPr lang="zh-CN" altLang="en-US" sz="2400" smtClean="0"/>
              <a:t>以上客户的高性能直接存取。</a:t>
            </a:r>
          </a:p>
          <a:p>
            <a:r>
              <a:rPr lang="en-US" altLang="zh-CN" sz="2400" smtClean="0"/>
              <a:t>Ceph</a:t>
            </a:r>
            <a:r>
              <a:rPr lang="zh-CN" altLang="en-US" sz="2400" smtClean="0"/>
              <a:t>文件系统中有三种主要的部件：</a:t>
            </a:r>
          </a:p>
          <a:p>
            <a:pPr lvl="1"/>
            <a:r>
              <a:rPr lang="zh-CN" altLang="en-US" sz="2000" smtClean="0"/>
              <a:t>文件系统客户端，为应用程序提供了类</a:t>
            </a:r>
            <a:r>
              <a:rPr lang="en-US" altLang="zh-CN" sz="2000" smtClean="0"/>
              <a:t>POSIX</a:t>
            </a:r>
            <a:r>
              <a:rPr lang="zh-CN" altLang="en-US" sz="2000" smtClean="0"/>
              <a:t>的访问接口。</a:t>
            </a:r>
          </a:p>
          <a:p>
            <a:pPr lvl="1"/>
            <a:r>
              <a:rPr lang="zh-CN" altLang="en-US" sz="2000" smtClean="0"/>
              <a:t>负责存储系统数据和元数据的机群。</a:t>
            </a:r>
          </a:p>
          <a:p>
            <a:pPr lvl="1"/>
            <a:r>
              <a:rPr lang="zh-CN" altLang="en-US" sz="2000" smtClean="0"/>
              <a:t>管理文件系统元数据访问的机群。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D4ABFC4A-7707-4179-A5BD-4B22AC31E646}" type="slidenum">
              <a:rPr lang="zh-CN" altLang="en-US"/>
              <a:pPr>
                <a:defRPr/>
              </a:pPr>
              <a:t>54</a:t>
            </a:fld>
            <a:endParaRPr lang="zh-CN" altLang="en-US"/>
          </a:p>
        </p:txBody>
      </p:sp>
      <p:sp>
        <p:nvSpPr>
          <p:cNvPr id="4" name="日期占位符 3"/>
          <p:cNvSpPr txBox="1">
            <a:spLocks noGrp="1"/>
          </p:cNvSpPr>
          <p:nvPr/>
        </p:nvSpPr>
        <p:spPr>
          <a:xfrm>
            <a:off x="3662363" y="6300788"/>
            <a:ext cx="2133600" cy="476250"/>
          </a:xfrm>
          <a:prstGeom prst="rect">
            <a:avLst/>
          </a:prstGeom>
          <a:noFill/>
        </p:spPr>
        <p:txBody>
          <a:bodyPr anchor="b"/>
          <a:lstStyle/>
          <a:p>
            <a:pPr algn="r" fontAlgn="auto">
              <a:spcBef>
                <a:spcPts val="0"/>
              </a:spcBef>
              <a:spcAft>
                <a:spcPts val="0"/>
              </a:spcAft>
              <a:defRPr/>
            </a:pPr>
            <a:fld id="{348AB485-A12D-4633-84D5-DEFC3EEC4856}" type="datetime5">
              <a:rPr lang="zh-CN" altLang="en-US" sz="1200">
                <a:solidFill>
                  <a:schemeClr val="bg2">
                    <a:shade val="50000"/>
                    <a:satMod val="200000"/>
                  </a:schemeClr>
                </a:solidFill>
                <a:latin typeface="+mn-lt"/>
                <a:ea typeface="+mn-ea"/>
              </a:rPr>
              <a:pPr algn="r" fontAlgn="auto">
                <a:spcBef>
                  <a:spcPts val="0"/>
                </a:spcBef>
                <a:spcAft>
                  <a:spcPts val="0"/>
                </a:spcAft>
                <a:defRPr/>
              </a:pPr>
              <a:t>2017/10/24</a:t>
            </a:fld>
            <a:endParaRPr lang="zh-CN" altLang="en-US" sz="1200">
              <a:solidFill>
                <a:schemeClr val="bg2">
                  <a:shade val="50000"/>
                  <a:satMod val="200000"/>
                </a:schemeClr>
              </a:solidFill>
              <a:latin typeface="+mn-lt"/>
              <a:ea typeface="+mn-ea"/>
            </a:endParaRPr>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D069376D-1207-4647-BB88-5D8F4D333C33}" type="slidenum">
              <a:rPr lang="zh-CN" altLang="en-US" sz="1200">
                <a:solidFill>
                  <a:schemeClr val="bg2">
                    <a:shade val="50000"/>
                    <a:satMod val="200000"/>
                  </a:schemeClr>
                </a:solidFill>
                <a:latin typeface="+mn-lt"/>
                <a:ea typeface="+mn-ea"/>
              </a:rPr>
              <a:pPr algn="ctr" fontAlgn="auto">
                <a:spcBef>
                  <a:spcPts val="0"/>
                </a:spcBef>
                <a:spcAft>
                  <a:spcPts val="0"/>
                </a:spcAft>
                <a:defRPr/>
              </a:pPr>
              <a:t>54</a:t>
            </a:fld>
            <a:endParaRPr lang="zh-CN" altLang="en-US" sz="1200">
              <a:solidFill>
                <a:schemeClr val="bg2">
                  <a:shade val="50000"/>
                  <a:satMod val="200000"/>
                </a:schemeClr>
              </a:solidFill>
              <a:latin typeface="+mn-lt"/>
              <a:ea typeface="+mn-ea"/>
            </a:endParaRPr>
          </a:p>
        </p:txBody>
      </p:sp>
      <p:sp>
        <p:nvSpPr>
          <p:cNvPr id="56326" name="Rectangle 2"/>
          <p:cNvSpPr>
            <a:spLocks noGrp="1"/>
          </p:cNvSpPr>
          <p:nvPr>
            <p:ph type="title" idx="4294967295"/>
          </p:nvPr>
        </p:nvSpPr>
        <p:spPr>
          <a:noFill/>
        </p:spPr>
        <p:txBody>
          <a:bodyPr/>
          <a:lstStyle/>
          <a:p>
            <a:r>
              <a:rPr lang="zh-CN" altLang="en-US" smtClean="0"/>
              <a:t>提纲</a:t>
            </a:r>
          </a:p>
        </p:txBody>
      </p:sp>
      <p:sp>
        <p:nvSpPr>
          <p:cNvPr id="56327" name="Rectangle 3"/>
          <p:cNvSpPr>
            <a:spLocks noGrp="1"/>
          </p:cNvSpPr>
          <p:nvPr>
            <p:ph type="body" idx="4294967295"/>
          </p:nvPr>
        </p:nvSpPr>
        <p:spPr/>
        <p:txBody>
          <a:bodyPr/>
          <a:lstStyle/>
          <a:p>
            <a:r>
              <a:rPr lang="en-US" altLang="zh-CN" sz="3200" smtClean="0"/>
              <a:t>1. </a:t>
            </a:r>
            <a:r>
              <a:rPr lang="zh-CN" altLang="en-US" sz="3200" smtClean="0"/>
              <a:t>文件系统</a:t>
            </a:r>
          </a:p>
          <a:p>
            <a:r>
              <a:rPr lang="en-US" altLang="zh-CN" sz="3200" smtClean="0"/>
              <a:t>2. </a:t>
            </a:r>
            <a:r>
              <a:rPr lang="zh-CN" altLang="en-US" sz="3200" smtClean="0"/>
              <a:t>分布式文件系统</a:t>
            </a:r>
          </a:p>
          <a:p>
            <a:r>
              <a:rPr lang="en-US" altLang="zh-CN" sz="3200" smtClean="0"/>
              <a:t>3. </a:t>
            </a:r>
            <a:r>
              <a:rPr lang="zh-CN" altLang="en-US" sz="3200" smtClean="0"/>
              <a:t>典型分布式文件系统</a:t>
            </a:r>
          </a:p>
          <a:p>
            <a:r>
              <a:rPr lang="en-US" altLang="zh-CN" sz="3200" smtClean="0">
                <a:solidFill>
                  <a:schemeClr val="hlink"/>
                </a:solidFill>
              </a:rPr>
              <a:t>4. Goolge File System</a:t>
            </a:r>
            <a:r>
              <a:rPr lang="en-US" altLang="zh-CN" sz="3200" smtClean="0"/>
              <a:t> </a:t>
            </a:r>
            <a:endParaRPr lang="zh-CN" altLang="en-US" sz="3200" smtClean="0">
              <a:solidFill>
                <a:schemeClr val="hlink"/>
              </a:solidFill>
            </a:endParaRPr>
          </a:p>
          <a:p>
            <a:r>
              <a:rPr lang="en-US" altLang="zh-CN" sz="3200" smtClean="0"/>
              <a:t>5. Hadoop Distributed File System</a:t>
            </a:r>
          </a:p>
          <a:p>
            <a:endParaRPr lang="zh-CN" altLang="en-US" sz="3200" smtClean="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9"/>
          <p:cNvSpPr>
            <a:spLocks noGrp="1"/>
          </p:cNvSpPr>
          <p:nvPr>
            <p:ph type="sldNum" sz="quarter" idx="12"/>
          </p:nvPr>
        </p:nvSpPr>
        <p:spPr/>
        <p:txBody>
          <a:bodyPr/>
          <a:lstStyle/>
          <a:p>
            <a:pPr>
              <a:defRPr/>
            </a:pPr>
            <a:fld id="{B52B81DB-120C-47A5-BB4D-8C0D57AE850E}" type="slidenum">
              <a:rPr lang="zh-CN" altLang="en-US"/>
              <a:pPr>
                <a:defRPr/>
              </a:pPr>
              <a:t>55</a:t>
            </a:fld>
            <a:endParaRPr lang="zh-CN" altLang="en-US"/>
          </a:p>
        </p:txBody>
      </p:sp>
      <p:sp>
        <p:nvSpPr>
          <p:cNvPr id="57347" name="Rectangle 2"/>
          <p:cNvSpPr>
            <a:spLocks noGrp="1"/>
          </p:cNvSpPr>
          <p:nvPr>
            <p:ph type="title"/>
          </p:nvPr>
        </p:nvSpPr>
        <p:spPr/>
        <p:txBody>
          <a:bodyPr/>
          <a:lstStyle/>
          <a:p>
            <a:r>
              <a:rPr lang="en-US" altLang="zh-CN" smtClean="0"/>
              <a:t>Google</a:t>
            </a:r>
            <a:r>
              <a:rPr lang="zh-CN" altLang="en-US" smtClean="0"/>
              <a:t>的各种产品</a:t>
            </a:r>
          </a:p>
        </p:txBody>
      </p:sp>
      <p:pic>
        <p:nvPicPr>
          <p:cNvPr id="57348" name="Picture 3" descr="未命名"/>
          <p:cNvPicPr>
            <a:picLocks noChangeAspect="1" noChangeArrowheads="1"/>
          </p:cNvPicPr>
          <p:nvPr/>
        </p:nvPicPr>
        <p:blipFill>
          <a:blip r:embed="rId3" cstate="print"/>
          <a:srcRect/>
          <a:stretch>
            <a:fillRect/>
          </a:stretch>
        </p:blipFill>
        <p:spPr bwMode="auto">
          <a:xfrm>
            <a:off x="5867400" y="1773238"/>
            <a:ext cx="1219200" cy="1012825"/>
          </a:xfrm>
          <a:prstGeom prst="rect">
            <a:avLst/>
          </a:prstGeom>
          <a:noFill/>
          <a:ln w="9525">
            <a:noFill/>
            <a:miter lim="800000"/>
            <a:headEnd/>
            <a:tailEnd/>
          </a:ln>
        </p:spPr>
      </p:pic>
      <p:sp>
        <p:nvSpPr>
          <p:cNvPr id="57349" name="Text Box 4"/>
          <p:cNvSpPr txBox="1">
            <a:spLocks noChangeArrowheads="1"/>
          </p:cNvSpPr>
          <p:nvPr/>
        </p:nvSpPr>
        <p:spPr bwMode="auto">
          <a:xfrm>
            <a:off x="5940425" y="2852738"/>
            <a:ext cx="1293813" cy="304800"/>
          </a:xfrm>
          <a:prstGeom prst="rect">
            <a:avLst/>
          </a:prstGeom>
          <a:noFill/>
          <a:ln w="28575" algn="ctr">
            <a:noFill/>
            <a:miter lim="800000"/>
            <a:headEnd/>
            <a:tailEnd/>
          </a:ln>
        </p:spPr>
        <p:txBody>
          <a:bodyPr wrap="none" lIns="90000" tIns="46800" rIns="90000" bIns="46800">
            <a:spAutoFit/>
          </a:bodyPr>
          <a:lstStyle/>
          <a:p>
            <a:r>
              <a:rPr lang="en-US" altLang="zh-CN" sz="1400" b="1">
                <a:solidFill>
                  <a:schemeClr val="accent2"/>
                </a:solidFill>
                <a:ea typeface="黑体" pitchFamily="2" charset="-122"/>
              </a:rPr>
              <a:t>Google Earth</a:t>
            </a:r>
          </a:p>
        </p:txBody>
      </p:sp>
      <p:pic>
        <p:nvPicPr>
          <p:cNvPr id="57350" name="Picture 5"/>
          <p:cNvPicPr>
            <a:picLocks noChangeAspect="1" noChangeArrowheads="1"/>
          </p:cNvPicPr>
          <p:nvPr/>
        </p:nvPicPr>
        <p:blipFill>
          <a:blip r:embed="rId4" cstate="print"/>
          <a:srcRect/>
          <a:stretch>
            <a:fillRect/>
          </a:stretch>
        </p:blipFill>
        <p:spPr bwMode="auto">
          <a:xfrm>
            <a:off x="3635375" y="1844675"/>
            <a:ext cx="1362075" cy="561975"/>
          </a:xfrm>
          <a:prstGeom prst="rect">
            <a:avLst/>
          </a:prstGeom>
          <a:noFill/>
          <a:ln w="28575" algn="ctr">
            <a:noFill/>
            <a:miter lim="800000"/>
            <a:headEnd/>
            <a:tailEnd/>
          </a:ln>
        </p:spPr>
      </p:pic>
      <p:pic>
        <p:nvPicPr>
          <p:cNvPr id="57351" name="Picture 6"/>
          <p:cNvPicPr>
            <a:picLocks noChangeAspect="1" noChangeArrowheads="1"/>
          </p:cNvPicPr>
          <p:nvPr/>
        </p:nvPicPr>
        <p:blipFill>
          <a:blip r:embed="rId5" cstate="print"/>
          <a:srcRect/>
          <a:stretch>
            <a:fillRect/>
          </a:stretch>
        </p:blipFill>
        <p:spPr bwMode="auto">
          <a:xfrm>
            <a:off x="1187450" y="1773238"/>
            <a:ext cx="1828800" cy="736600"/>
          </a:xfrm>
          <a:prstGeom prst="rect">
            <a:avLst/>
          </a:prstGeom>
          <a:noFill/>
          <a:ln w="28575" algn="ctr">
            <a:noFill/>
            <a:miter lim="800000"/>
            <a:headEnd/>
            <a:tailEnd/>
          </a:ln>
        </p:spPr>
      </p:pic>
      <p:pic>
        <p:nvPicPr>
          <p:cNvPr id="57352" name="Picture 7"/>
          <p:cNvPicPr>
            <a:picLocks noChangeAspect="1" noChangeArrowheads="1"/>
          </p:cNvPicPr>
          <p:nvPr/>
        </p:nvPicPr>
        <p:blipFill>
          <a:blip r:embed="rId6" cstate="print"/>
          <a:srcRect/>
          <a:stretch>
            <a:fillRect/>
          </a:stretch>
        </p:blipFill>
        <p:spPr bwMode="auto">
          <a:xfrm>
            <a:off x="1258888" y="2997200"/>
            <a:ext cx="1611312" cy="647700"/>
          </a:xfrm>
          <a:prstGeom prst="rect">
            <a:avLst/>
          </a:prstGeom>
          <a:noFill/>
          <a:ln w="28575" algn="ctr">
            <a:noFill/>
            <a:miter lim="800000"/>
            <a:headEnd/>
            <a:tailEnd/>
          </a:ln>
        </p:spPr>
      </p:pic>
      <p:sp>
        <p:nvSpPr>
          <p:cNvPr id="57353" name="Text Box 8"/>
          <p:cNvSpPr txBox="1">
            <a:spLocks noChangeArrowheads="1"/>
          </p:cNvSpPr>
          <p:nvPr/>
        </p:nvSpPr>
        <p:spPr bwMode="auto">
          <a:xfrm>
            <a:off x="827088" y="4581525"/>
            <a:ext cx="8316912" cy="457200"/>
          </a:xfrm>
          <a:prstGeom prst="rect">
            <a:avLst/>
          </a:prstGeom>
          <a:noFill/>
          <a:ln w="28575" algn="ctr">
            <a:noFill/>
            <a:miter lim="800000"/>
            <a:headEnd/>
            <a:tailEnd/>
          </a:ln>
        </p:spPr>
        <p:txBody>
          <a:bodyPr wrap="none" lIns="90000" tIns="46800" rIns="90000" bIns="46800">
            <a:spAutoFit/>
          </a:bodyPr>
          <a:lstStyle/>
          <a:p>
            <a:r>
              <a:rPr lang="zh-CN" altLang="en-US" sz="2400">
                <a:ea typeface="黑体" pitchFamily="2" charset="-122"/>
              </a:rPr>
              <a:t>还有：</a:t>
            </a:r>
            <a:r>
              <a:rPr lang="en-US" altLang="zh-CN" sz="2400" b="1">
                <a:solidFill>
                  <a:schemeClr val="accent2"/>
                </a:solidFill>
                <a:ea typeface="黑体" pitchFamily="2" charset="-122"/>
              </a:rPr>
              <a:t>Google image, Google Scholar, Google News ……</a:t>
            </a:r>
          </a:p>
        </p:txBody>
      </p:sp>
      <p:sp>
        <p:nvSpPr>
          <p:cNvPr id="57354" name="Text Box 9"/>
          <p:cNvSpPr txBox="1">
            <a:spLocks noChangeArrowheads="1"/>
          </p:cNvSpPr>
          <p:nvPr/>
        </p:nvSpPr>
        <p:spPr bwMode="auto">
          <a:xfrm>
            <a:off x="827088" y="5268913"/>
            <a:ext cx="6049962" cy="519112"/>
          </a:xfrm>
          <a:prstGeom prst="rect">
            <a:avLst/>
          </a:prstGeom>
          <a:noFill/>
          <a:ln w="28575" algn="ctr">
            <a:noFill/>
            <a:miter lim="800000"/>
            <a:headEnd/>
            <a:tailEnd/>
          </a:ln>
        </p:spPr>
        <p:txBody>
          <a:bodyPr lIns="90000" tIns="46800" rIns="90000" bIns="46800">
            <a:spAutoFit/>
          </a:bodyPr>
          <a:lstStyle/>
          <a:p>
            <a:r>
              <a:rPr lang="zh-CN" altLang="en-US" sz="2800" b="1">
                <a:solidFill>
                  <a:srgbClr val="0000CC"/>
                </a:solidFill>
                <a:ea typeface="幼圆" pitchFamily="49" charset="-122"/>
              </a:rPr>
              <a:t>很多大家熟悉的非常优秀的产品</a:t>
            </a:r>
          </a:p>
        </p:txBody>
      </p:sp>
      <p:pic>
        <p:nvPicPr>
          <p:cNvPr id="57355" name="Picture 11"/>
          <p:cNvPicPr>
            <a:picLocks noChangeAspect="1" noChangeArrowheads="1"/>
          </p:cNvPicPr>
          <p:nvPr/>
        </p:nvPicPr>
        <p:blipFill>
          <a:blip r:embed="rId7" cstate="print"/>
          <a:srcRect/>
          <a:stretch>
            <a:fillRect/>
          </a:stretch>
        </p:blipFill>
        <p:spPr bwMode="auto">
          <a:xfrm>
            <a:off x="3635375" y="2852738"/>
            <a:ext cx="1655763" cy="1296987"/>
          </a:xfrm>
          <a:prstGeom prst="rect">
            <a:avLst/>
          </a:prstGeom>
          <a:noFill/>
          <a:ln w="9525">
            <a:noFill/>
            <a:round/>
            <a:headEnd/>
            <a:tailEnd/>
          </a:ln>
        </p:spPr>
      </p:pic>
      <p:sp>
        <p:nvSpPr>
          <p:cNvPr id="57356" name="Text Box 12"/>
          <p:cNvSpPr txBox="1">
            <a:spLocks noChangeArrowheads="1"/>
          </p:cNvSpPr>
          <p:nvPr/>
        </p:nvSpPr>
        <p:spPr bwMode="auto">
          <a:xfrm>
            <a:off x="5435600" y="3716338"/>
            <a:ext cx="2443163" cy="304800"/>
          </a:xfrm>
          <a:prstGeom prst="rect">
            <a:avLst/>
          </a:prstGeom>
          <a:noFill/>
          <a:ln w="28575" algn="ctr">
            <a:noFill/>
            <a:miter lim="800000"/>
            <a:headEnd/>
            <a:tailEnd/>
          </a:ln>
        </p:spPr>
        <p:txBody>
          <a:bodyPr wrap="none" lIns="90000" tIns="46800" rIns="90000" bIns="46800">
            <a:spAutoFit/>
          </a:bodyPr>
          <a:lstStyle/>
          <a:p>
            <a:r>
              <a:rPr lang="en-US" altLang="zh-CN" sz="1400" b="1">
                <a:solidFill>
                  <a:schemeClr val="accent2"/>
                </a:solidFill>
                <a:ea typeface="黑体" pitchFamily="2" charset="-122"/>
              </a:rPr>
              <a:t>Google Application Engine</a:t>
            </a:r>
            <a:endParaRPr lang="zh-CN" altLang="en-US" sz="1400" b="1">
              <a:solidFill>
                <a:schemeClr val="accent2"/>
              </a:solidFill>
              <a:ea typeface="黑体"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9"/>
          <p:cNvSpPr>
            <a:spLocks noGrp="1"/>
          </p:cNvSpPr>
          <p:nvPr>
            <p:ph type="sldNum" sz="quarter" idx="12"/>
          </p:nvPr>
        </p:nvSpPr>
        <p:spPr/>
        <p:txBody>
          <a:bodyPr/>
          <a:lstStyle/>
          <a:p>
            <a:pPr>
              <a:defRPr/>
            </a:pPr>
            <a:fld id="{1AC8BA35-DE4F-4882-A8F4-944C71CBB50D}" type="slidenum">
              <a:rPr lang="zh-CN" altLang="en-US"/>
              <a:pPr>
                <a:defRPr/>
              </a:pPr>
              <a:t>56</a:t>
            </a:fld>
            <a:endParaRPr lang="zh-CN" altLang="en-US"/>
          </a:p>
        </p:txBody>
      </p:sp>
      <p:sp>
        <p:nvSpPr>
          <p:cNvPr id="58371" name="Rectangle 3"/>
          <p:cNvSpPr>
            <a:spLocks noGrp="1" noChangeArrowheads="1"/>
          </p:cNvSpPr>
          <p:nvPr>
            <p:ph type="title" idx="4294967295"/>
          </p:nvPr>
        </p:nvSpPr>
        <p:spPr>
          <a:xfrm>
            <a:off x="250825" y="260350"/>
            <a:ext cx="8534400" cy="990600"/>
          </a:xfrm>
        </p:spPr>
        <p:txBody>
          <a:bodyPr/>
          <a:lstStyle/>
          <a:p>
            <a:pPr eaLnBrk="1" hangingPunct="1"/>
            <a:r>
              <a:rPr lang="en-US" altLang="zh-CN" sz="4000" smtClean="0">
                <a:latin typeface="华文中宋" pitchFamily="2" charset="-122"/>
              </a:rPr>
              <a:t>Google云计算数据中心</a:t>
            </a:r>
          </a:p>
        </p:txBody>
      </p:sp>
      <p:pic>
        <p:nvPicPr>
          <p:cNvPr id="606210" name="Picture 2" descr="C:\Documents and Settings\Administrator\桌面\云计算\云计算图片\untitled.bmp"/>
          <p:cNvPicPr>
            <a:picLocks noChangeAspect="1" noChangeArrowheads="1"/>
          </p:cNvPicPr>
          <p:nvPr/>
        </p:nvPicPr>
        <p:blipFill>
          <a:blip r:embed="rId3" cstate="print"/>
          <a:srcRect/>
          <a:stretch>
            <a:fillRect/>
          </a:stretch>
        </p:blipFill>
        <p:spPr bwMode="auto">
          <a:xfrm>
            <a:off x="500063" y="2786063"/>
            <a:ext cx="4762500" cy="3571875"/>
          </a:xfrm>
          <a:prstGeom prst="rect">
            <a:avLst/>
          </a:prstGeom>
          <a:noFill/>
          <a:ln w="9525">
            <a:noFill/>
            <a:miter lim="800000"/>
            <a:headEnd/>
            <a:tailEnd/>
          </a:ln>
        </p:spPr>
      </p:pic>
      <p:pic>
        <p:nvPicPr>
          <p:cNvPr id="606212" name="Picture 4" descr="C:\Documents and Settings\Administrator\桌面\云计算\云计算图片\googe-datacenter.jpg"/>
          <p:cNvPicPr>
            <a:picLocks noChangeAspect="1" noChangeArrowheads="1"/>
          </p:cNvPicPr>
          <p:nvPr/>
        </p:nvPicPr>
        <p:blipFill>
          <a:blip r:embed="rId4" cstate="print"/>
          <a:srcRect/>
          <a:stretch>
            <a:fillRect/>
          </a:stretch>
        </p:blipFill>
        <p:spPr bwMode="auto">
          <a:xfrm>
            <a:off x="3857625" y="2214563"/>
            <a:ext cx="4762500" cy="3571875"/>
          </a:xfrm>
          <a:prstGeom prst="rect">
            <a:avLst/>
          </a:prstGeom>
          <a:noFill/>
          <a:ln w="9525">
            <a:noFill/>
            <a:miter lim="800000"/>
            <a:headEnd/>
            <a:tailEnd/>
          </a:ln>
        </p:spPr>
      </p:pic>
      <p:pic>
        <p:nvPicPr>
          <p:cNvPr id="606211" name="Picture 3" descr="C:\Documents and Settings\Administrator\桌面\云计算\云计算图片\google-solar2.jpg"/>
          <p:cNvPicPr>
            <a:picLocks noChangeAspect="1" noChangeArrowheads="1"/>
          </p:cNvPicPr>
          <p:nvPr/>
        </p:nvPicPr>
        <p:blipFill>
          <a:blip r:embed="rId5" cstate="print"/>
          <a:srcRect/>
          <a:stretch>
            <a:fillRect/>
          </a:stretch>
        </p:blipFill>
        <p:spPr bwMode="auto">
          <a:xfrm>
            <a:off x="1785938" y="1571625"/>
            <a:ext cx="5594350" cy="3714750"/>
          </a:xfrm>
          <a:prstGeom prst="rect">
            <a:avLst/>
          </a:prstGeom>
          <a:noFill/>
          <a:ln w="9525">
            <a:noFill/>
            <a:miter lim="800000"/>
            <a:headEnd/>
            <a:tailEnd/>
          </a:ln>
        </p:spPr>
      </p:pic>
      <p:pic>
        <p:nvPicPr>
          <p:cNvPr id="606215" name="Picture 7" descr="C:\Documents and Settings\Administrator\桌面\云计算\云计算图片\Google_data_center_c2000_Jeff_Dean_400x318.jpg"/>
          <p:cNvPicPr>
            <a:picLocks noChangeAspect="1" noChangeArrowheads="1"/>
          </p:cNvPicPr>
          <p:nvPr/>
        </p:nvPicPr>
        <p:blipFill>
          <a:blip r:embed="rId6" cstate="print"/>
          <a:srcRect/>
          <a:stretch>
            <a:fillRect/>
          </a:stretch>
        </p:blipFill>
        <p:spPr bwMode="auto">
          <a:xfrm>
            <a:off x="4500563" y="3000375"/>
            <a:ext cx="4344987" cy="3452813"/>
          </a:xfrm>
          <a:prstGeom prst="rect">
            <a:avLst/>
          </a:prstGeom>
          <a:noFill/>
          <a:ln w="9525">
            <a:noFill/>
            <a:miter lim="800000"/>
            <a:headEnd/>
            <a:tailEnd/>
          </a:ln>
        </p:spPr>
      </p:pic>
      <p:pic>
        <p:nvPicPr>
          <p:cNvPr id="606213" name="Picture 5" descr="C:\Documents and Settings\Administrator\桌面\云计算\云计算图片\data-center-t01.jpg"/>
          <p:cNvPicPr>
            <a:picLocks noChangeAspect="1" noChangeArrowheads="1"/>
          </p:cNvPicPr>
          <p:nvPr/>
        </p:nvPicPr>
        <p:blipFill>
          <a:blip r:embed="rId7" cstate="print"/>
          <a:srcRect/>
          <a:stretch>
            <a:fillRect/>
          </a:stretch>
        </p:blipFill>
        <p:spPr bwMode="auto">
          <a:xfrm>
            <a:off x="500063" y="1500188"/>
            <a:ext cx="8358187" cy="5072062"/>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6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62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62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62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lide Number Placeholder 9"/>
          <p:cNvSpPr>
            <a:spLocks noGrp="1"/>
          </p:cNvSpPr>
          <p:nvPr>
            <p:ph type="sldNum" sz="quarter" idx="12"/>
          </p:nvPr>
        </p:nvSpPr>
        <p:spPr/>
        <p:txBody>
          <a:bodyPr/>
          <a:lstStyle/>
          <a:p>
            <a:pPr>
              <a:defRPr/>
            </a:pPr>
            <a:fld id="{08C1A0DA-BC67-4F42-AF91-2A8F2CC2C737}" type="slidenum">
              <a:rPr lang="zh-CN" altLang="en-US"/>
              <a:pPr>
                <a:defRPr/>
              </a:pPr>
              <a:t>57</a:t>
            </a:fld>
            <a:endParaRPr lang="zh-CN" altLang="en-US"/>
          </a:p>
        </p:txBody>
      </p:sp>
      <p:sp>
        <p:nvSpPr>
          <p:cNvPr id="59395" name="Rectangle 2"/>
          <p:cNvSpPr>
            <a:spLocks noGrp="1" noChangeArrowheads="1"/>
          </p:cNvSpPr>
          <p:nvPr>
            <p:ph type="title" idx="4294967295"/>
          </p:nvPr>
        </p:nvSpPr>
        <p:spPr/>
        <p:txBody>
          <a:bodyPr/>
          <a:lstStyle/>
          <a:p>
            <a:r>
              <a:rPr lang="en-US" altLang="zh-CN" sz="4000" smtClean="0">
                <a:ea typeface="宋体" pitchFamily="2" charset="-122"/>
              </a:rPr>
              <a:t>Google</a:t>
            </a:r>
            <a:r>
              <a:rPr lang="zh-CN" altLang="en-US" sz="4000" smtClean="0">
                <a:ea typeface="宋体" pitchFamily="2" charset="-122"/>
              </a:rPr>
              <a:t>云计算技术</a:t>
            </a:r>
            <a:endParaRPr lang="en-US" altLang="zh-CN" sz="4000" smtClean="0">
              <a:ea typeface="宋体" pitchFamily="2" charset="-122"/>
            </a:endParaRPr>
          </a:p>
        </p:txBody>
      </p:sp>
      <p:grpSp>
        <p:nvGrpSpPr>
          <p:cNvPr id="2" name="Group 3"/>
          <p:cNvGrpSpPr>
            <a:grpSpLocks/>
          </p:cNvGrpSpPr>
          <p:nvPr/>
        </p:nvGrpSpPr>
        <p:grpSpPr bwMode="auto">
          <a:xfrm>
            <a:off x="1143000" y="1984375"/>
            <a:ext cx="2170113" cy="3349625"/>
            <a:chOff x="528" y="1058"/>
            <a:chExt cx="1680" cy="3125"/>
          </a:xfrm>
        </p:grpSpPr>
        <p:grpSp>
          <p:nvGrpSpPr>
            <p:cNvPr id="59432" name="Group 4"/>
            <p:cNvGrpSpPr>
              <a:grpSpLocks/>
            </p:cNvGrpSpPr>
            <p:nvPr/>
          </p:nvGrpSpPr>
          <p:grpSpPr bwMode="auto">
            <a:xfrm>
              <a:off x="528" y="1296"/>
              <a:ext cx="1680" cy="2887"/>
              <a:chOff x="720" y="905"/>
              <a:chExt cx="2263" cy="3319"/>
            </a:xfrm>
          </p:grpSpPr>
          <p:sp>
            <p:nvSpPr>
              <p:cNvPr id="59439" name="AutoShape 5"/>
              <p:cNvSpPr>
                <a:spLocks noChangeArrowheads="1"/>
              </p:cNvSpPr>
              <p:nvPr/>
            </p:nvSpPr>
            <p:spPr bwMode="gray">
              <a:xfrm>
                <a:off x="720" y="905"/>
                <a:ext cx="2256" cy="2544"/>
              </a:xfrm>
              <a:prstGeom prst="roundRect">
                <a:avLst>
                  <a:gd name="adj" fmla="val 17509"/>
                </a:avLst>
              </a:prstGeom>
              <a:gradFill rotWithShape="1">
                <a:gsLst>
                  <a:gs pos="0">
                    <a:srgbClr val="4E91D4"/>
                  </a:gs>
                  <a:gs pos="100000">
                    <a:srgbClr val="3477A4"/>
                  </a:gs>
                </a:gsLst>
                <a:lin ang="2700000" scaled="1"/>
              </a:gradFill>
              <a:ln w="9525">
                <a:noFill/>
                <a:round/>
                <a:headEnd/>
                <a:tailEnd/>
              </a:ln>
            </p:spPr>
            <p:txBody>
              <a:bodyPr wrap="none" anchor="ctr"/>
              <a:lstStyle/>
              <a:p>
                <a:endParaRPr lang="zh-CN" altLang="en-US"/>
              </a:p>
            </p:txBody>
          </p:sp>
          <p:sp>
            <p:nvSpPr>
              <p:cNvPr id="59440" name="AutoShape 6"/>
              <p:cNvSpPr>
                <a:spLocks noChangeArrowheads="1"/>
              </p:cNvSpPr>
              <p:nvPr/>
            </p:nvSpPr>
            <p:spPr bwMode="gray">
              <a:xfrm>
                <a:off x="755" y="912"/>
                <a:ext cx="2188" cy="2496"/>
              </a:xfrm>
              <a:prstGeom prst="roundRect">
                <a:avLst>
                  <a:gd name="adj" fmla="val 16667"/>
                </a:avLst>
              </a:prstGeom>
              <a:gradFill rotWithShape="1">
                <a:gsLst>
                  <a:gs pos="0">
                    <a:srgbClr val="80D4F2"/>
                  </a:gs>
                  <a:gs pos="100000">
                    <a:srgbClr val="3CA1E6"/>
                  </a:gs>
                </a:gsLst>
                <a:lin ang="5400000" scaled="1"/>
              </a:gradFill>
              <a:ln w="9525">
                <a:noFill/>
                <a:round/>
                <a:headEnd/>
                <a:tailEnd/>
              </a:ln>
            </p:spPr>
            <p:txBody>
              <a:bodyPr wrap="none" anchor="ctr"/>
              <a:lstStyle/>
              <a:p>
                <a:endParaRPr lang="zh-CN" altLang="en-US"/>
              </a:p>
            </p:txBody>
          </p:sp>
          <p:sp>
            <p:nvSpPr>
              <p:cNvPr id="59441" name="AutoShape 7"/>
              <p:cNvSpPr>
                <a:spLocks noChangeArrowheads="1"/>
              </p:cNvSpPr>
              <p:nvPr/>
            </p:nvSpPr>
            <p:spPr bwMode="gray">
              <a:xfrm>
                <a:off x="773" y="2750"/>
                <a:ext cx="2158" cy="631"/>
              </a:xfrm>
              <a:prstGeom prst="roundRect">
                <a:avLst>
                  <a:gd name="adj" fmla="val 50000"/>
                </a:avLst>
              </a:prstGeom>
              <a:gradFill rotWithShape="1">
                <a:gsLst>
                  <a:gs pos="0">
                    <a:srgbClr val="80D4F2">
                      <a:alpha val="0"/>
                    </a:srgbClr>
                  </a:gs>
                  <a:gs pos="100000">
                    <a:srgbClr val="8FD9F4"/>
                  </a:gs>
                </a:gsLst>
                <a:lin ang="5400000" scaled="1"/>
              </a:gradFill>
              <a:ln w="9525">
                <a:noFill/>
                <a:round/>
                <a:headEnd/>
                <a:tailEnd/>
              </a:ln>
            </p:spPr>
            <p:txBody>
              <a:bodyPr wrap="none" anchor="ctr"/>
              <a:lstStyle/>
              <a:p>
                <a:endParaRPr lang="zh-CN" altLang="en-US"/>
              </a:p>
            </p:txBody>
          </p:sp>
          <p:sp>
            <p:nvSpPr>
              <p:cNvPr id="59442" name="AutoShape 8"/>
              <p:cNvSpPr>
                <a:spLocks noChangeArrowheads="1"/>
              </p:cNvSpPr>
              <p:nvPr/>
            </p:nvSpPr>
            <p:spPr bwMode="gray">
              <a:xfrm>
                <a:off x="773" y="932"/>
                <a:ext cx="2158" cy="631"/>
              </a:xfrm>
              <a:prstGeom prst="roundRect">
                <a:avLst>
                  <a:gd name="adj" fmla="val 50000"/>
                </a:avLst>
              </a:prstGeom>
              <a:gradFill rotWithShape="1">
                <a:gsLst>
                  <a:gs pos="0">
                    <a:srgbClr val="D5F1FB"/>
                  </a:gs>
                  <a:gs pos="100000">
                    <a:srgbClr val="80D4F2">
                      <a:alpha val="0"/>
                    </a:srgbClr>
                  </a:gs>
                </a:gsLst>
                <a:lin ang="5400000" scaled="1"/>
              </a:gradFill>
              <a:ln w="9525">
                <a:noFill/>
                <a:round/>
                <a:headEnd/>
                <a:tailEnd/>
              </a:ln>
            </p:spPr>
            <p:txBody>
              <a:bodyPr wrap="none" anchor="ctr"/>
              <a:lstStyle/>
              <a:p>
                <a:endParaRPr lang="zh-CN" altLang="en-US"/>
              </a:p>
            </p:txBody>
          </p:sp>
          <p:sp>
            <p:nvSpPr>
              <p:cNvPr id="59443" name="AutoShape 9"/>
              <p:cNvSpPr>
                <a:spLocks noChangeArrowheads="1"/>
              </p:cNvSpPr>
              <p:nvPr/>
            </p:nvSpPr>
            <p:spPr bwMode="gray">
              <a:xfrm>
                <a:off x="727" y="3449"/>
                <a:ext cx="2256" cy="775"/>
              </a:xfrm>
              <a:prstGeom prst="roundRect">
                <a:avLst>
                  <a:gd name="adj" fmla="val 40389"/>
                </a:avLst>
              </a:prstGeom>
              <a:gradFill rotWithShape="1">
                <a:gsLst>
                  <a:gs pos="0">
                    <a:srgbClr val="3477A4">
                      <a:alpha val="50000"/>
                    </a:srgbClr>
                  </a:gs>
                  <a:gs pos="100000">
                    <a:srgbClr val="18374C">
                      <a:alpha val="0"/>
                    </a:srgbClr>
                  </a:gs>
                </a:gsLst>
                <a:lin ang="5400000" scaled="1"/>
              </a:gradFill>
              <a:ln w="9525">
                <a:noFill/>
                <a:round/>
                <a:headEnd/>
                <a:tailEnd/>
              </a:ln>
            </p:spPr>
            <p:txBody>
              <a:bodyPr wrap="none" anchor="ctr"/>
              <a:lstStyle/>
              <a:p>
                <a:endParaRPr lang="zh-CN" altLang="en-US"/>
              </a:p>
            </p:txBody>
          </p:sp>
          <p:sp>
            <p:nvSpPr>
              <p:cNvPr id="59444" name="AutoShape 10"/>
              <p:cNvSpPr>
                <a:spLocks noChangeArrowheads="1"/>
              </p:cNvSpPr>
              <p:nvPr/>
            </p:nvSpPr>
            <p:spPr bwMode="gray">
              <a:xfrm>
                <a:off x="773" y="3470"/>
                <a:ext cx="2158" cy="631"/>
              </a:xfrm>
              <a:prstGeom prst="roundRect">
                <a:avLst>
                  <a:gd name="adj" fmla="val 50000"/>
                </a:avLst>
              </a:prstGeom>
              <a:gradFill rotWithShape="1">
                <a:gsLst>
                  <a:gs pos="0">
                    <a:srgbClr val="D5F1FB">
                      <a:alpha val="50000"/>
                    </a:srgbClr>
                  </a:gs>
                  <a:gs pos="100000">
                    <a:srgbClr val="80D4F2">
                      <a:alpha val="0"/>
                    </a:srgbClr>
                  </a:gs>
                </a:gsLst>
                <a:lin ang="5400000" scaled="1"/>
              </a:gradFill>
              <a:ln w="9525">
                <a:noFill/>
                <a:round/>
                <a:headEnd/>
                <a:tailEnd/>
              </a:ln>
            </p:spPr>
            <p:txBody>
              <a:bodyPr wrap="none" anchor="ctr"/>
              <a:lstStyle/>
              <a:p>
                <a:endParaRPr lang="zh-CN" altLang="en-US"/>
              </a:p>
            </p:txBody>
          </p:sp>
        </p:grpSp>
        <p:grpSp>
          <p:nvGrpSpPr>
            <p:cNvPr id="59433" name="Group 11"/>
            <p:cNvGrpSpPr>
              <a:grpSpLocks/>
            </p:cNvGrpSpPr>
            <p:nvPr/>
          </p:nvGrpSpPr>
          <p:grpSpPr bwMode="auto">
            <a:xfrm>
              <a:off x="1104" y="1058"/>
              <a:ext cx="498" cy="498"/>
              <a:chOff x="1289" y="582"/>
              <a:chExt cx="668" cy="668"/>
            </a:xfrm>
          </p:grpSpPr>
          <p:sp>
            <p:nvSpPr>
              <p:cNvPr id="59434" name="Oval 12"/>
              <p:cNvSpPr>
                <a:spLocks noChangeArrowheads="1"/>
              </p:cNvSpPr>
              <p:nvPr/>
            </p:nvSpPr>
            <p:spPr bwMode="gray">
              <a:xfrm>
                <a:off x="1289" y="582"/>
                <a:ext cx="668" cy="668"/>
              </a:xfrm>
              <a:prstGeom prst="ellipse">
                <a:avLst/>
              </a:prstGeom>
              <a:solidFill>
                <a:srgbClr val="333333"/>
              </a:solidFill>
              <a:ln w="38100" algn="ctr">
                <a:noFill/>
                <a:round/>
                <a:headEnd/>
                <a:tailEnd/>
              </a:ln>
            </p:spPr>
            <p:txBody>
              <a:bodyPr anchor="ctr">
                <a:spAutoFit/>
              </a:bodyPr>
              <a:lstStyle/>
              <a:p>
                <a:endParaRPr lang="zh-CN" altLang="en-US"/>
              </a:p>
            </p:txBody>
          </p:sp>
          <p:sp>
            <p:nvSpPr>
              <p:cNvPr id="59435" name="Oval 13"/>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zh-CN" altLang="en-US"/>
              </a:p>
            </p:txBody>
          </p:sp>
          <p:sp>
            <p:nvSpPr>
              <p:cNvPr id="59436" name="Oval 14"/>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zh-CN" altLang="en-US"/>
              </a:p>
            </p:txBody>
          </p:sp>
          <p:sp>
            <p:nvSpPr>
              <p:cNvPr id="59437" name="Oval 15"/>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zh-CN" altLang="en-US"/>
              </a:p>
            </p:txBody>
          </p:sp>
          <p:sp>
            <p:nvSpPr>
              <p:cNvPr id="59438" name="Oval 16"/>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zh-CN" altLang="en-US"/>
              </a:p>
            </p:txBody>
          </p:sp>
        </p:grpSp>
      </p:grpSp>
      <p:sp>
        <p:nvSpPr>
          <p:cNvPr id="59397" name="Text Box 17"/>
          <p:cNvSpPr txBox="1">
            <a:spLocks noChangeArrowheads="1"/>
          </p:cNvSpPr>
          <p:nvPr/>
        </p:nvSpPr>
        <p:spPr bwMode="gray">
          <a:xfrm>
            <a:off x="2025650" y="2076450"/>
            <a:ext cx="354013" cy="457200"/>
          </a:xfrm>
          <a:prstGeom prst="rect">
            <a:avLst/>
          </a:prstGeom>
          <a:noFill/>
          <a:ln w="9525" algn="ctr">
            <a:noFill/>
            <a:miter lim="800000"/>
            <a:headEnd/>
            <a:tailEnd/>
          </a:ln>
        </p:spPr>
        <p:txBody>
          <a:bodyPr wrap="none">
            <a:spAutoFit/>
          </a:bodyPr>
          <a:lstStyle/>
          <a:p>
            <a:pPr algn="ctr" eaLnBrk="0" hangingPunct="0"/>
            <a:r>
              <a:rPr lang="en-US" altLang="zh-CN" sz="2400">
                <a:solidFill>
                  <a:srgbClr val="000000"/>
                </a:solidFill>
              </a:rPr>
              <a:t>1</a:t>
            </a:r>
          </a:p>
        </p:txBody>
      </p:sp>
      <p:sp>
        <p:nvSpPr>
          <p:cNvPr id="5125" name="Text Box 18"/>
          <p:cNvSpPr txBox="1">
            <a:spLocks noChangeArrowheads="1"/>
          </p:cNvSpPr>
          <p:nvPr/>
        </p:nvSpPr>
        <p:spPr bwMode="gray">
          <a:xfrm>
            <a:off x="1219200" y="2746375"/>
            <a:ext cx="2057400" cy="923925"/>
          </a:xfrm>
          <a:prstGeom prst="rect">
            <a:avLst/>
          </a:prstGeom>
          <a:noFill/>
          <a:ln w="9525" algn="ctr">
            <a:noFill/>
            <a:miter lim="800000"/>
            <a:headEnd/>
            <a:tailEnd/>
          </a:ln>
        </p:spPr>
        <p:txBody>
          <a:bodyPr>
            <a:spAutoFit/>
          </a:bodyPr>
          <a:lstStyle/>
          <a:p>
            <a:pPr algn="ctr" eaLnBrk="0" hangingPunct="0"/>
            <a:r>
              <a:rPr lang="en-US" altLang="zh-CN" b="1"/>
              <a:t>2003(SOSP)</a:t>
            </a:r>
          </a:p>
          <a:p>
            <a:pPr algn="ctr" eaLnBrk="0" hangingPunct="0"/>
            <a:r>
              <a:rPr lang="en-US" altLang="zh-CN" b="1"/>
              <a:t>Google File System</a:t>
            </a:r>
          </a:p>
        </p:txBody>
      </p:sp>
      <p:grpSp>
        <p:nvGrpSpPr>
          <p:cNvPr id="5" name="Group 19"/>
          <p:cNvGrpSpPr>
            <a:grpSpLocks/>
          </p:cNvGrpSpPr>
          <p:nvPr/>
        </p:nvGrpSpPr>
        <p:grpSpPr bwMode="auto">
          <a:xfrm>
            <a:off x="3505200" y="1984375"/>
            <a:ext cx="2170113" cy="3349625"/>
            <a:chOff x="528" y="1058"/>
            <a:chExt cx="1680" cy="3125"/>
          </a:xfrm>
        </p:grpSpPr>
        <p:grpSp>
          <p:nvGrpSpPr>
            <p:cNvPr id="59419" name="Group 20"/>
            <p:cNvGrpSpPr>
              <a:grpSpLocks/>
            </p:cNvGrpSpPr>
            <p:nvPr/>
          </p:nvGrpSpPr>
          <p:grpSpPr bwMode="auto">
            <a:xfrm>
              <a:off x="528" y="1296"/>
              <a:ext cx="1680" cy="2887"/>
              <a:chOff x="720" y="905"/>
              <a:chExt cx="2263" cy="3319"/>
            </a:xfrm>
          </p:grpSpPr>
          <p:sp>
            <p:nvSpPr>
              <p:cNvPr id="59426" name="AutoShape 21"/>
              <p:cNvSpPr>
                <a:spLocks noChangeArrowheads="1"/>
              </p:cNvSpPr>
              <p:nvPr/>
            </p:nvSpPr>
            <p:spPr bwMode="gray">
              <a:xfrm>
                <a:off x="720" y="905"/>
                <a:ext cx="2256" cy="2544"/>
              </a:xfrm>
              <a:prstGeom prst="roundRect">
                <a:avLst>
                  <a:gd name="adj" fmla="val 17509"/>
                </a:avLst>
              </a:prstGeom>
              <a:gradFill rotWithShape="1">
                <a:gsLst>
                  <a:gs pos="0">
                    <a:srgbClr val="34B034"/>
                  </a:gs>
                  <a:gs pos="100000">
                    <a:srgbClr val="3F8B4A"/>
                  </a:gs>
                </a:gsLst>
                <a:lin ang="2700000" scaled="1"/>
              </a:gradFill>
              <a:ln w="9525">
                <a:noFill/>
                <a:round/>
                <a:headEnd/>
                <a:tailEnd/>
              </a:ln>
            </p:spPr>
            <p:txBody>
              <a:bodyPr wrap="none" anchor="ctr"/>
              <a:lstStyle/>
              <a:p>
                <a:endParaRPr lang="zh-CN" altLang="en-US"/>
              </a:p>
            </p:txBody>
          </p:sp>
          <p:sp>
            <p:nvSpPr>
              <p:cNvPr id="59427" name="AutoShape 22"/>
              <p:cNvSpPr>
                <a:spLocks noChangeArrowheads="1"/>
              </p:cNvSpPr>
              <p:nvPr/>
            </p:nvSpPr>
            <p:spPr bwMode="gray">
              <a:xfrm>
                <a:off x="755" y="912"/>
                <a:ext cx="2188" cy="2496"/>
              </a:xfrm>
              <a:prstGeom prst="roundRect">
                <a:avLst>
                  <a:gd name="adj" fmla="val 16667"/>
                </a:avLst>
              </a:prstGeom>
              <a:gradFill rotWithShape="1">
                <a:gsLst>
                  <a:gs pos="0">
                    <a:srgbClr val="88EA91"/>
                  </a:gs>
                  <a:gs pos="100000">
                    <a:srgbClr val="21D347"/>
                  </a:gs>
                </a:gsLst>
                <a:lin ang="5400000" scaled="1"/>
              </a:gradFill>
              <a:ln w="9525">
                <a:noFill/>
                <a:round/>
                <a:headEnd/>
                <a:tailEnd/>
              </a:ln>
            </p:spPr>
            <p:txBody>
              <a:bodyPr wrap="none" anchor="ctr"/>
              <a:lstStyle/>
              <a:p>
                <a:endParaRPr lang="zh-CN" altLang="en-US"/>
              </a:p>
            </p:txBody>
          </p:sp>
          <p:sp>
            <p:nvSpPr>
              <p:cNvPr id="59428" name="AutoShape 23"/>
              <p:cNvSpPr>
                <a:spLocks noChangeArrowheads="1"/>
              </p:cNvSpPr>
              <p:nvPr/>
            </p:nvSpPr>
            <p:spPr bwMode="gray">
              <a:xfrm>
                <a:off x="773" y="2750"/>
                <a:ext cx="2158" cy="631"/>
              </a:xfrm>
              <a:prstGeom prst="roundRect">
                <a:avLst>
                  <a:gd name="adj" fmla="val 50000"/>
                </a:avLst>
              </a:prstGeom>
              <a:gradFill rotWithShape="1">
                <a:gsLst>
                  <a:gs pos="0">
                    <a:srgbClr val="88EA91">
                      <a:alpha val="0"/>
                    </a:srgbClr>
                  </a:gs>
                  <a:gs pos="100000">
                    <a:srgbClr val="96ED9E"/>
                  </a:gs>
                </a:gsLst>
                <a:lin ang="5400000" scaled="1"/>
              </a:gradFill>
              <a:ln w="9525">
                <a:noFill/>
                <a:round/>
                <a:headEnd/>
                <a:tailEnd/>
              </a:ln>
            </p:spPr>
            <p:txBody>
              <a:bodyPr wrap="none" anchor="ctr"/>
              <a:lstStyle/>
              <a:p>
                <a:endParaRPr lang="zh-CN" altLang="en-US"/>
              </a:p>
            </p:txBody>
          </p:sp>
          <p:sp>
            <p:nvSpPr>
              <p:cNvPr id="59429" name="AutoShape 24"/>
              <p:cNvSpPr>
                <a:spLocks noChangeArrowheads="1"/>
              </p:cNvSpPr>
              <p:nvPr/>
            </p:nvSpPr>
            <p:spPr bwMode="gray">
              <a:xfrm>
                <a:off x="773" y="932"/>
                <a:ext cx="2158" cy="631"/>
              </a:xfrm>
              <a:prstGeom prst="roundRect">
                <a:avLst>
                  <a:gd name="adj" fmla="val 50000"/>
                </a:avLst>
              </a:prstGeom>
              <a:gradFill rotWithShape="1">
                <a:gsLst>
                  <a:gs pos="0">
                    <a:srgbClr val="D7F8DA"/>
                  </a:gs>
                  <a:gs pos="100000">
                    <a:srgbClr val="88EA91">
                      <a:alpha val="0"/>
                    </a:srgbClr>
                  </a:gs>
                </a:gsLst>
                <a:lin ang="5400000" scaled="1"/>
              </a:gradFill>
              <a:ln w="9525">
                <a:noFill/>
                <a:round/>
                <a:headEnd/>
                <a:tailEnd/>
              </a:ln>
            </p:spPr>
            <p:txBody>
              <a:bodyPr wrap="none" anchor="ctr"/>
              <a:lstStyle/>
              <a:p>
                <a:endParaRPr lang="zh-CN" altLang="en-US"/>
              </a:p>
            </p:txBody>
          </p:sp>
          <p:sp>
            <p:nvSpPr>
              <p:cNvPr id="59430" name="AutoShape 25"/>
              <p:cNvSpPr>
                <a:spLocks noChangeArrowheads="1"/>
              </p:cNvSpPr>
              <p:nvPr/>
            </p:nvSpPr>
            <p:spPr bwMode="gray">
              <a:xfrm>
                <a:off x="727" y="3449"/>
                <a:ext cx="2256" cy="775"/>
              </a:xfrm>
              <a:prstGeom prst="roundRect">
                <a:avLst>
                  <a:gd name="adj" fmla="val 40389"/>
                </a:avLst>
              </a:prstGeom>
              <a:gradFill rotWithShape="1">
                <a:gsLst>
                  <a:gs pos="0">
                    <a:srgbClr val="3477A4">
                      <a:alpha val="50000"/>
                    </a:srgbClr>
                  </a:gs>
                  <a:gs pos="100000">
                    <a:srgbClr val="18374C">
                      <a:alpha val="0"/>
                    </a:srgbClr>
                  </a:gs>
                </a:gsLst>
                <a:lin ang="5400000" scaled="1"/>
              </a:gradFill>
              <a:ln w="9525">
                <a:noFill/>
                <a:round/>
                <a:headEnd/>
                <a:tailEnd/>
              </a:ln>
            </p:spPr>
            <p:txBody>
              <a:bodyPr wrap="none" anchor="ctr"/>
              <a:lstStyle/>
              <a:p>
                <a:endParaRPr lang="zh-CN" altLang="en-US"/>
              </a:p>
            </p:txBody>
          </p:sp>
          <p:sp>
            <p:nvSpPr>
              <p:cNvPr id="59431" name="AutoShape 26"/>
              <p:cNvSpPr>
                <a:spLocks noChangeArrowheads="1"/>
              </p:cNvSpPr>
              <p:nvPr/>
            </p:nvSpPr>
            <p:spPr bwMode="gray">
              <a:xfrm>
                <a:off x="773" y="3470"/>
                <a:ext cx="2158" cy="631"/>
              </a:xfrm>
              <a:prstGeom prst="roundRect">
                <a:avLst>
                  <a:gd name="adj" fmla="val 50000"/>
                </a:avLst>
              </a:prstGeom>
              <a:gradFill rotWithShape="1">
                <a:gsLst>
                  <a:gs pos="0">
                    <a:srgbClr val="B5F0C2">
                      <a:alpha val="50000"/>
                    </a:srgbClr>
                  </a:gs>
                  <a:gs pos="100000">
                    <a:srgbClr val="21D347">
                      <a:alpha val="0"/>
                    </a:srgbClr>
                  </a:gs>
                </a:gsLst>
                <a:lin ang="5400000" scaled="1"/>
              </a:gradFill>
              <a:ln w="9525">
                <a:noFill/>
                <a:round/>
                <a:headEnd/>
                <a:tailEnd/>
              </a:ln>
            </p:spPr>
            <p:txBody>
              <a:bodyPr wrap="none" anchor="ctr"/>
              <a:lstStyle/>
              <a:p>
                <a:endParaRPr lang="zh-CN" altLang="en-US"/>
              </a:p>
            </p:txBody>
          </p:sp>
        </p:grpSp>
        <p:grpSp>
          <p:nvGrpSpPr>
            <p:cNvPr id="59420" name="Group 27"/>
            <p:cNvGrpSpPr>
              <a:grpSpLocks/>
            </p:cNvGrpSpPr>
            <p:nvPr/>
          </p:nvGrpSpPr>
          <p:grpSpPr bwMode="auto">
            <a:xfrm>
              <a:off x="1104" y="1058"/>
              <a:ext cx="498" cy="498"/>
              <a:chOff x="1289" y="582"/>
              <a:chExt cx="668" cy="668"/>
            </a:xfrm>
          </p:grpSpPr>
          <p:sp>
            <p:nvSpPr>
              <p:cNvPr id="59421" name="Oval 28"/>
              <p:cNvSpPr>
                <a:spLocks noChangeArrowheads="1"/>
              </p:cNvSpPr>
              <p:nvPr/>
            </p:nvSpPr>
            <p:spPr bwMode="gray">
              <a:xfrm>
                <a:off x="1289" y="582"/>
                <a:ext cx="668" cy="668"/>
              </a:xfrm>
              <a:prstGeom prst="ellipse">
                <a:avLst/>
              </a:prstGeom>
              <a:solidFill>
                <a:srgbClr val="333333"/>
              </a:solidFill>
              <a:ln w="38100" algn="ctr">
                <a:noFill/>
                <a:round/>
                <a:headEnd/>
                <a:tailEnd/>
              </a:ln>
            </p:spPr>
            <p:txBody>
              <a:bodyPr anchor="ctr">
                <a:spAutoFit/>
              </a:bodyPr>
              <a:lstStyle/>
              <a:p>
                <a:endParaRPr lang="zh-CN" altLang="en-US"/>
              </a:p>
            </p:txBody>
          </p:sp>
          <p:sp>
            <p:nvSpPr>
              <p:cNvPr id="59422" name="Oval 29"/>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zh-CN" altLang="en-US"/>
              </a:p>
            </p:txBody>
          </p:sp>
          <p:sp>
            <p:nvSpPr>
              <p:cNvPr id="59423" name="Oval 30"/>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zh-CN" altLang="en-US"/>
              </a:p>
            </p:txBody>
          </p:sp>
          <p:sp>
            <p:nvSpPr>
              <p:cNvPr id="59424" name="Oval 31"/>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zh-CN" altLang="en-US"/>
              </a:p>
            </p:txBody>
          </p:sp>
          <p:sp>
            <p:nvSpPr>
              <p:cNvPr id="59425" name="Oval 32"/>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zh-CN" altLang="en-US"/>
              </a:p>
            </p:txBody>
          </p:sp>
        </p:grpSp>
      </p:grpSp>
      <p:sp>
        <p:nvSpPr>
          <p:cNvPr id="59400" name="Text Box 33"/>
          <p:cNvSpPr txBox="1">
            <a:spLocks noChangeArrowheads="1"/>
          </p:cNvSpPr>
          <p:nvPr/>
        </p:nvSpPr>
        <p:spPr bwMode="gray">
          <a:xfrm>
            <a:off x="4387850" y="2076450"/>
            <a:ext cx="354013" cy="457200"/>
          </a:xfrm>
          <a:prstGeom prst="rect">
            <a:avLst/>
          </a:prstGeom>
          <a:noFill/>
          <a:ln w="9525" algn="ctr">
            <a:noFill/>
            <a:miter lim="800000"/>
            <a:headEnd/>
            <a:tailEnd/>
          </a:ln>
        </p:spPr>
        <p:txBody>
          <a:bodyPr wrap="none">
            <a:spAutoFit/>
          </a:bodyPr>
          <a:lstStyle/>
          <a:p>
            <a:pPr algn="ctr" eaLnBrk="0" hangingPunct="0"/>
            <a:r>
              <a:rPr lang="en-US" altLang="zh-CN" sz="2400">
                <a:solidFill>
                  <a:srgbClr val="000000"/>
                </a:solidFill>
              </a:rPr>
              <a:t>2</a:t>
            </a:r>
          </a:p>
        </p:txBody>
      </p:sp>
      <p:sp>
        <p:nvSpPr>
          <p:cNvPr id="5128" name="Text Box 34"/>
          <p:cNvSpPr txBox="1">
            <a:spLocks noChangeArrowheads="1"/>
          </p:cNvSpPr>
          <p:nvPr/>
        </p:nvSpPr>
        <p:spPr bwMode="gray">
          <a:xfrm>
            <a:off x="3581400" y="2746375"/>
            <a:ext cx="2057400" cy="646113"/>
          </a:xfrm>
          <a:prstGeom prst="rect">
            <a:avLst/>
          </a:prstGeom>
          <a:noFill/>
          <a:ln w="9525" algn="ctr">
            <a:noFill/>
            <a:miter lim="800000"/>
            <a:headEnd/>
            <a:tailEnd/>
          </a:ln>
        </p:spPr>
        <p:txBody>
          <a:bodyPr>
            <a:spAutoFit/>
          </a:bodyPr>
          <a:lstStyle/>
          <a:p>
            <a:pPr algn="ctr" eaLnBrk="0" hangingPunct="0"/>
            <a:r>
              <a:rPr lang="en-US" altLang="zh-CN" b="1"/>
              <a:t>2004(OSDI)</a:t>
            </a:r>
          </a:p>
          <a:p>
            <a:pPr algn="ctr" eaLnBrk="0" hangingPunct="0"/>
            <a:r>
              <a:rPr lang="en-US" altLang="zh-CN" b="1"/>
              <a:t>MapReduce</a:t>
            </a:r>
          </a:p>
        </p:txBody>
      </p:sp>
      <p:grpSp>
        <p:nvGrpSpPr>
          <p:cNvPr id="8" name="Group 35"/>
          <p:cNvGrpSpPr>
            <a:grpSpLocks/>
          </p:cNvGrpSpPr>
          <p:nvPr/>
        </p:nvGrpSpPr>
        <p:grpSpPr bwMode="auto">
          <a:xfrm>
            <a:off x="5867400" y="1984375"/>
            <a:ext cx="2170113" cy="3349625"/>
            <a:chOff x="528" y="1058"/>
            <a:chExt cx="1680" cy="3125"/>
          </a:xfrm>
        </p:grpSpPr>
        <p:grpSp>
          <p:nvGrpSpPr>
            <p:cNvPr id="59406" name="Group 36"/>
            <p:cNvGrpSpPr>
              <a:grpSpLocks/>
            </p:cNvGrpSpPr>
            <p:nvPr/>
          </p:nvGrpSpPr>
          <p:grpSpPr bwMode="auto">
            <a:xfrm>
              <a:off x="528" y="1296"/>
              <a:ext cx="1680" cy="2887"/>
              <a:chOff x="720" y="905"/>
              <a:chExt cx="2263" cy="3319"/>
            </a:xfrm>
          </p:grpSpPr>
          <p:sp>
            <p:nvSpPr>
              <p:cNvPr id="59413" name="AutoShape 37"/>
              <p:cNvSpPr>
                <a:spLocks noChangeArrowheads="1"/>
              </p:cNvSpPr>
              <p:nvPr/>
            </p:nvSpPr>
            <p:spPr bwMode="gray">
              <a:xfrm>
                <a:off x="720" y="905"/>
                <a:ext cx="2256" cy="2544"/>
              </a:xfrm>
              <a:prstGeom prst="roundRect">
                <a:avLst>
                  <a:gd name="adj" fmla="val 17509"/>
                </a:avLst>
              </a:prstGeom>
              <a:gradFill rotWithShape="1">
                <a:gsLst>
                  <a:gs pos="0">
                    <a:srgbClr val="B59F43"/>
                  </a:gs>
                  <a:gs pos="100000">
                    <a:srgbClr val="8F8849"/>
                  </a:gs>
                </a:gsLst>
                <a:lin ang="2700000" scaled="1"/>
              </a:gradFill>
              <a:ln w="9525">
                <a:noFill/>
                <a:round/>
                <a:headEnd/>
                <a:tailEnd/>
              </a:ln>
            </p:spPr>
            <p:txBody>
              <a:bodyPr wrap="none" anchor="ctr"/>
              <a:lstStyle/>
              <a:p>
                <a:endParaRPr lang="zh-CN" altLang="en-US"/>
              </a:p>
            </p:txBody>
          </p:sp>
          <p:sp>
            <p:nvSpPr>
              <p:cNvPr id="59414" name="AutoShape 38"/>
              <p:cNvSpPr>
                <a:spLocks noChangeArrowheads="1"/>
              </p:cNvSpPr>
              <p:nvPr/>
            </p:nvSpPr>
            <p:spPr bwMode="gray">
              <a:xfrm>
                <a:off x="755" y="912"/>
                <a:ext cx="2188" cy="2496"/>
              </a:xfrm>
              <a:prstGeom prst="roundRect">
                <a:avLst>
                  <a:gd name="adj" fmla="val 16667"/>
                </a:avLst>
              </a:prstGeom>
              <a:gradFill rotWithShape="1">
                <a:gsLst>
                  <a:gs pos="0">
                    <a:srgbClr val="EAEC86"/>
                  </a:gs>
                  <a:gs pos="100000">
                    <a:srgbClr val="DCCE46"/>
                  </a:gs>
                </a:gsLst>
                <a:lin ang="5400000" scaled="1"/>
              </a:gradFill>
              <a:ln w="9525">
                <a:noFill/>
                <a:round/>
                <a:headEnd/>
                <a:tailEnd/>
              </a:ln>
            </p:spPr>
            <p:txBody>
              <a:bodyPr wrap="none" anchor="ctr"/>
              <a:lstStyle/>
              <a:p>
                <a:endParaRPr lang="zh-CN" altLang="en-US"/>
              </a:p>
            </p:txBody>
          </p:sp>
          <p:sp>
            <p:nvSpPr>
              <p:cNvPr id="59415" name="AutoShape 39"/>
              <p:cNvSpPr>
                <a:spLocks noChangeArrowheads="1"/>
              </p:cNvSpPr>
              <p:nvPr/>
            </p:nvSpPr>
            <p:spPr bwMode="gray">
              <a:xfrm>
                <a:off x="773" y="2750"/>
                <a:ext cx="2158" cy="631"/>
              </a:xfrm>
              <a:prstGeom prst="roundRect">
                <a:avLst>
                  <a:gd name="adj" fmla="val 50000"/>
                </a:avLst>
              </a:prstGeom>
              <a:gradFill rotWithShape="1">
                <a:gsLst>
                  <a:gs pos="0">
                    <a:srgbClr val="EAEC86">
                      <a:alpha val="0"/>
                    </a:srgbClr>
                  </a:gs>
                  <a:gs pos="100000">
                    <a:srgbClr val="EDEE95"/>
                  </a:gs>
                </a:gsLst>
                <a:lin ang="5400000" scaled="1"/>
              </a:gradFill>
              <a:ln w="9525">
                <a:noFill/>
                <a:round/>
                <a:headEnd/>
                <a:tailEnd/>
              </a:ln>
            </p:spPr>
            <p:txBody>
              <a:bodyPr wrap="none" anchor="ctr"/>
              <a:lstStyle/>
              <a:p>
                <a:endParaRPr lang="zh-CN" altLang="en-US"/>
              </a:p>
            </p:txBody>
          </p:sp>
          <p:sp>
            <p:nvSpPr>
              <p:cNvPr id="59416" name="AutoShape 40"/>
              <p:cNvSpPr>
                <a:spLocks noChangeArrowheads="1"/>
              </p:cNvSpPr>
              <p:nvPr/>
            </p:nvSpPr>
            <p:spPr bwMode="gray">
              <a:xfrm>
                <a:off x="773" y="932"/>
                <a:ext cx="2158" cy="631"/>
              </a:xfrm>
              <a:prstGeom prst="roundRect">
                <a:avLst>
                  <a:gd name="adj" fmla="val 50000"/>
                </a:avLst>
              </a:prstGeom>
              <a:gradFill rotWithShape="1">
                <a:gsLst>
                  <a:gs pos="0">
                    <a:srgbClr val="F8F9D7"/>
                  </a:gs>
                  <a:gs pos="100000">
                    <a:srgbClr val="EAEC86">
                      <a:alpha val="0"/>
                    </a:srgbClr>
                  </a:gs>
                </a:gsLst>
                <a:lin ang="5400000" scaled="1"/>
              </a:gradFill>
              <a:ln w="9525">
                <a:noFill/>
                <a:round/>
                <a:headEnd/>
                <a:tailEnd/>
              </a:ln>
            </p:spPr>
            <p:txBody>
              <a:bodyPr wrap="none" anchor="ctr"/>
              <a:lstStyle/>
              <a:p>
                <a:endParaRPr lang="zh-CN" altLang="en-US"/>
              </a:p>
            </p:txBody>
          </p:sp>
          <p:sp>
            <p:nvSpPr>
              <p:cNvPr id="59417" name="AutoShape 41"/>
              <p:cNvSpPr>
                <a:spLocks noChangeArrowheads="1"/>
              </p:cNvSpPr>
              <p:nvPr/>
            </p:nvSpPr>
            <p:spPr bwMode="gray">
              <a:xfrm>
                <a:off x="727" y="3449"/>
                <a:ext cx="2256" cy="775"/>
              </a:xfrm>
              <a:prstGeom prst="roundRect">
                <a:avLst>
                  <a:gd name="adj" fmla="val 40389"/>
                </a:avLst>
              </a:prstGeom>
              <a:gradFill rotWithShape="1">
                <a:gsLst>
                  <a:gs pos="0">
                    <a:srgbClr val="3477A4">
                      <a:alpha val="50000"/>
                    </a:srgbClr>
                  </a:gs>
                  <a:gs pos="100000">
                    <a:srgbClr val="18374C">
                      <a:alpha val="0"/>
                    </a:srgbClr>
                  </a:gs>
                </a:gsLst>
                <a:lin ang="5400000" scaled="1"/>
              </a:gradFill>
              <a:ln w="9525">
                <a:noFill/>
                <a:round/>
                <a:headEnd/>
                <a:tailEnd/>
              </a:ln>
            </p:spPr>
            <p:txBody>
              <a:bodyPr wrap="none" anchor="ctr"/>
              <a:lstStyle/>
              <a:p>
                <a:endParaRPr lang="zh-CN" altLang="en-US"/>
              </a:p>
            </p:txBody>
          </p:sp>
          <p:sp>
            <p:nvSpPr>
              <p:cNvPr id="59418" name="AutoShape 42"/>
              <p:cNvSpPr>
                <a:spLocks noChangeArrowheads="1"/>
              </p:cNvSpPr>
              <p:nvPr/>
            </p:nvSpPr>
            <p:spPr bwMode="gray">
              <a:xfrm>
                <a:off x="773" y="3470"/>
                <a:ext cx="2158" cy="631"/>
              </a:xfrm>
              <a:prstGeom prst="roundRect">
                <a:avLst>
                  <a:gd name="adj" fmla="val 50000"/>
                </a:avLst>
              </a:prstGeom>
              <a:gradFill rotWithShape="1">
                <a:gsLst>
                  <a:gs pos="0">
                    <a:srgbClr val="F8F9D7">
                      <a:alpha val="50000"/>
                    </a:srgbClr>
                  </a:gs>
                  <a:gs pos="100000">
                    <a:srgbClr val="EAEC86">
                      <a:alpha val="0"/>
                    </a:srgbClr>
                  </a:gs>
                </a:gsLst>
                <a:lin ang="5400000" scaled="1"/>
              </a:gradFill>
              <a:ln w="9525">
                <a:noFill/>
                <a:round/>
                <a:headEnd/>
                <a:tailEnd/>
              </a:ln>
            </p:spPr>
            <p:txBody>
              <a:bodyPr wrap="none" anchor="ctr"/>
              <a:lstStyle/>
              <a:p>
                <a:endParaRPr lang="zh-CN" altLang="en-US"/>
              </a:p>
            </p:txBody>
          </p:sp>
        </p:grpSp>
        <p:grpSp>
          <p:nvGrpSpPr>
            <p:cNvPr id="59407" name="Group 43"/>
            <p:cNvGrpSpPr>
              <a:grpSpLocks/>
            </p:cNvGrpSpPr>
            <p:nvPr/>
          </p:nvGrpSpPr>
          <p:grpSpPr bwMode="auto">
            <a:xfrm>
              <a:off x="1104" y="1058"/>
              <a:ext cx="498" cy="498"/>
              <a:chOff x="1289" y="582"/>
              <a:chExt cx="668" cy="668"/>
            </a:xfrm>
          </p:grpSpPr>
          <p:sp>
            <p:nvSpPr>
              <p:cNvPr id="59408" name="Oval 44"/>
              <p:cNvSpPr>
                <a:spLocks noChangeArrowheads="1"/>
              </p:cNvSpPr>
              <p:nvPr/>
            </p:nvSpPr>
            <p:spPr bwMode="gray">
              <a:xfrm>
                <a:off x="1289" y="582"/>
                <a:ext cx="668" cy="668"/>
              </a:xfrm>
              <a:prstGeom prst="ellipse">
                <a:avLst/>
              </a:prstGeom>
              <a:solidFill>
                <a:srgbClr val="333333"/>
              </a:solidFill>
              <a:ln w="38100" algn="ctr">
                <a:noFill/>
                <a:round/>
                <a:headEnd/>
                <a:tailEnd/>
              </a:ln>
            </p:spPr>
            <p:txBody>
              <a:bodyPr anchor="ctr">
                <a:spAutoFit/>
              </a:bodyPr>
              <a:lstStyle/>
              <a:p>
                <a:endParaRPr lang="zh-CN" altLang="en-US"/>
              </a:p>
            </p:txBody>
          </p:sp>
          <p:sp>
            <p:nvSpPr>
              <p:cNvPr id="59409" name="Oval 45"/>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zh-CN" altLang="en-US"/>
              </a:p>
            </p:txBody>
          </p:sp>
          <p:sp>
            <p:nvSpPr>
              <p:cNvPr id="59410" name="Oval 46"/>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zh-CN" altLang="en-US"/>
              </a:p>
            </p:txBody>
          </p:sp>
          <p:sp>
            <p:nvSpPr>
              <p:cNvPr id="59411" name="Oval 47"/>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zh-CN" altLang="en-US"/>
              </a:p>
            </p:txBody>
          </p:sp>
          <p:sp>
            <p:nvSpPr>
              <p:cNvPr id="59412" name="Oval 48"/>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zh-CN" altLang="en-US"/>
              </a:p>
            </p:txBody>
          </p:sp>
        </p:grpSp>
      </p:grpSp>
      <p:sp>
        <p:nvSpPr>
          <p:cNvPr id="59403" name="Text Box 49"/>
          <p:cNvSpPr txBox="1">
            <a:spLocks noChangeArrowheads="1"/>
          </p:cNvSpPr>
          <p:nvPr/>
        </p:nvSpPr>
        <p:spPr bwMode="gray">
          <a:xfrm>
            <a:off x="6750050" y="2076450"/>
            <a:ext cx="354013" cy="457200"/>
          </a:xfrm>
          <a:prstGeom prst="rect">
            <a:avLst/>
          </a:prstGeom>
          <a:noFill/>
          <a:ln w="9525" algn="ctr">
            <a:noFill/>
            <a:miter lim="800000"/>
            <a:headEnd/>
            <a:tailEnd/>
          </a:ln>
        </p:spPr>
        <p:txBody>
          <a:bodyPr wrap="none">
            <a:spAutoFit/>
          </a:bodyPr>
          <a:lstStyle/>
          <a:p>
            <a:pPr algn="ctr" eaLnBrk="0" hangingPunct="0"/>
            <a:r>
              <a:rPr lang="en-US" altLang="zh-CN" sz="2400">
                <a:solidFill>
                  <a:srgbClr val="000000"/>
                </a:solidFill>
              </a:rPr>
              <a:t>3</a:t>
            </a:r>
          </a:p>
        </p:txBody>
      </p:sp>
      <p:sp>
        <p:nvSpPr>
          <p:cNvPr id="5131" name="Text Box 50"/>
          <p:cNvSpPr txBox="1">
            <a:spLocks noChangeArrowheads="1"/>
          </p:cNvSpPr>
          <p:nvPr/>
        </p:nvSpPr>
        <p:spPr bwMode="gray">
          <a:xfrm>
            <a:off x="5943600" y="2746375"/>
            <a:ext cx="2057400" cy="646113"/>
          </a:xfrm>
          <a:prstGeom prst="rect">
            <a:avLst/>
          </a:prstGeom>
          <a:noFill/>
          <a:ln w="9525" algn="ctr">
            <a:noFill/>
            <a:miter lim="800000"/>
            <a:headEnd/>
            <a:tailEnd/>
          </a:ln>
        </p:spPr>
        <p:txBody>
          <a:bodyPr>
            <a:spAutoFit/>
          </a:bodyPr>
          <a:lstStyle/>
          <a:p>
            <a:pPr algn="ctr" eaLnBrk="0" hangingPunct="0"/>
            <a:r>
              <a:rPr lang="en-US" altLang="zh-CN" b="1"/>
              <a:t>2006(OSDI)</a:t>
            </a:r>
          </a:p>
          <a:p>
            <a:pPr algn="ctr" eaLnBrk="0" hangingPunct="0"/>
            <a:r>
              <a:rPr lang="en-US" altLang="zh-CN" b="1"/>
              <a:t>BigTable</a:t>
            </a:r>
          </a:p>
        </p:txBody>
      </p:sp>
      <p:sp>
        <p:nvSpPr>
          <p:cNvPr id="59405" name="Text Box 51"/>
          <p:cNvSpPr txBox="1">
            <a:spLocks noChangeArrowheads="1"/>
          </p:cNvSpPr>
          <p:nvPr/>
        </p:nvSpPr>
        <p:spPr bwMode="auto">
          <a:xfrm>
            <a:off x="179388" y="5621338"/>
            <a:ext cx="8964612" cy="1192212"/>
          </a:xfrm>
          <a:prstGeom prst="rect">
            <a:avLst/>
          </a:prstGeom>
          <a:noFill/>
          <a:ln w="9525">
            <a:noFill/>
            <a:miter lim="800000"/>
            <a:headEnd/>
            <a:tailEnd/>
          </a:ln>
        </p:spPr>
        <p:txBody>
          <a:bodyPr>
            <a:spAutoFit/>
          </a:bodyPr>
          <a:lstStyle/>
          <a:p>
            <a:pPr>
              <a:spcBef>
                <a:spcPct val="50000"/>
              </a:spcBef>
              <a:buFontTx/>
              <a:buChar char="•"/>
            </a:pPr>
            <a:r>
              <a:rPr lang="en-US" altLang="zh-CN" b="1">
                <a:solidFill>
                  <a:srgbClr val="0000CC"/>
                </a:solidFill>
              </a:rPr>
              <a:t> SOSP</a:t>
            </a:r>
            <a:r>
              <a:rPr lang="zh-CN" altLang="en-US" b="1">
                <a:solidFill>
                  <a:srgbClr val="0000CC"/>
                </a:solidFill>
              </a:rPr>
              <a:t>：</a:t>
            </a:r>
            <a:r>
              <a:rPr lang="en-US" altLang="zh-CN" b="1">
                <a:solidFill>
                  <a:srgbClr val="0000CC"/>
                </a:solidFill>
              </a:rPr>
              <a:t>ACM Symposium on Operating Systems Principles</a:t>
            </a:r>
            <a:r>
              <a:rPr lang="en-US" altLang="zh-CN" b="1"/>
              <a:t> </a:t>
            </a:r>
          </a:p>
          <a:p>
            <a:pPr>
              <a:spcBef>
                <a:spcPct val="50000"/>
              </a:spcBef>
              <a:buFontTx/>
              <a:buChar char="•"/>
            </a:pPr>
            <a:r>
              <a:rPr lang="en-US" altLang="zh-CN" b="1">
                <a:solidFill>
                  <a:srgbClr val="0000CC"/>
                </a:solidFill>
              </a:rPr>
              <a:t> OSDI</a:t>
            </a:r>
            <a:r>
              <a:rPr lang="zh-CN" altLang="en-US" b="1">
                <a:solidFill>
                  <a:srgbClr val="0000CC"/>
                </a:solidFill>
              </a:rPr>
              <a:t>：</a:t>
            </a:r>
            <a:r>
              <a:rPr lang="en-US" altLang="zh-CN" b="1">
                <a:solidFill>
                  <a:srgbClr val="0000CC"/>
                </a:solidFill>
              </a:rPr>
              <a:t>USENIX Symposium on Operating Systems Design and Implementation</a:t>
            </a:r>
            <a:r>
              <a:rPr lang="en-US" altLang="zh-CN">
                <a:solidFill>
                  <a:srgbClr val="0000CC"/>
                </a:solidFill>
              </a:rPr>
              <a:t> </a:t>
            </a:r>
            <a:endParaRPr lang="en-US" altLang="zh-CN" b="1">
              <a:solidFill>
                <a:srgbClr val="0000CC"/>
              </a:solidFill>
            </a:endParaRPr>
          </a:p>
          <a:p>
            <a:pPr>
              <a:spcBef>
                <a:spcPct val="50000"/>
              </a:spcBef>
            </a:pPr>
            <a:endParaRPr lang="zh-CN" altLang="en-US" b="1">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12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12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2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28">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linds(horizontal)">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131">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51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3D7AC998-55D9-40CB-85C1-637D10690471}" type="slidenum">
              <a:rPr lang="zh-CN" altLang="en-US"/>
              <a:pPr>
                <a:defRPr/>
              </a:pPr>
              <a:t>58</a:t>
            </a:fld>
            <a:endParaRPr lang="zh-CN" altLang="en-US"/>
          </a:p>
        </p:txBody>
      </p:sp>
      <p:sp>
        <p:nvSpPr>
          <p:cNvPr id="60419" name="标题 1"/>
          <p:cNvSpPr>
            <a:spLocks noGrp="1"/>
          </p:cNvSpPr>
          <p:nvPr>
            <p:ph type="title" idx="4294967295"/>
          </p:nvPr>
        </p:nvSpPr>
        <p:spPr/>
        <p:txBody>
          <a:bodyPr anchor="b"/>
          <a:lstStyle/>
          <a:p>
            <a:pPr eaLnBrk="1" hangingPunct="1"/>
            <a:r>
              <a:rPr lang="en-US" altLang="zh-CN" smtClean="0">
                <a:ea typeface="宋体" pitchFamily="2" charset="-122"/>
              </a:rPr>
              <a:t>Motivation</a:t>
            </a:r>
            <a:endParaRPr lang="zh-CN" altLang="en-US" smtClean="0">
              <a:ea typeface="宋体" pitchFamily="2" charset="-122"/>
            </a:endParaRPr>
          </a:p>
        </p:txBody>
      </p:sp>
      <p:sp>
        <p:nvSpPr>
          <p:cNvPr id="60420" name="内容占位符 2"/>
          <p:cNvSpPr>
            <a:spLocks noGrp="1"/>
          </p:cNvSpPr>
          <p:nvPr>
            <p:ph sz="quarter" idx="4294967295"/>
          </p:nvPr>
        </p:nvSpPr>
        <p:spPr>
          <a:xfrm>
            <a:off x="468313" y="1484313"/>
            <a:ext cx="8229600" cy="4937125"/>
          </a:xfrm>
        </p:spPr>
        <p:txBody>
          <a:bodyPr/>
          <a:lstStyle/>
          <a:p>
            <a:pPr marL="273050" indent="-273050" eaLnBrk="1" hangingPunct="1"/>
            <a:r>
              <a:rPr lang="en-US" altLang="zh-CN" sz="2900" smtClean="0">
                <a:ea typeface="宋体" pitchFamily="2" charset="-122"/>
              </a:rPr>
              <a:t>Google needed a good distributed file system</a:t>
            </a:r>
          </a:p>
          <a:p>
            <a:pPr marL="547688" lvl="1" indent="-273050" eaLnBrk="1" hangingPunct="1"/>
            <a:r>
              <a:rPr lang="en-US" altLang="zh-CN" sz="2300" smtClean="0">
                <a:ea typeface="宋体" pitchFamily="2" charset="-122"/>
              </a:rPr>
              <a:t>Redundant storage of massive amounts of data on</a:t>
            </a:r>
            <a:br>
              <a:rPr lang="en-US" altLang="zh-CN" sz="2300" smtClean="0">
                <a:ea typeface="宋体" pitchFamily="2" charset="-122"/>
              </a:rPr>
            </a:br>
            <a:r>
              <a:rPr lang="en-US" altLang="zh-CN" sz="2300" smtClean="0">
                <a:ea typeface="宋体" pitchFamily="2" charset="-122"/>
              </a:rPr>
              <a:t>cheap and unreliable computers</a:t>
            </a:r>
          </a:p>
          <a:p>
            <a:pPr marL="547688" lvl="1" indent="-273050" eaLnBrk="1" hangingPunct="1"/>
            <a:endParaRPr lang="en-US" altLang="zh-CN" sz="2300" smtClean="0">
              <a:ea typeface="宋体" pitchFamily="2" charset="-122"/>
            </a:endParaRPr>
          </a:p>
          <a:p>
            <a:pPr marL="273050" indent="-273050" eaLnBrk="1" hangingPunct="1"/>
            <a:r>
              <a:rPr lang="en-US" altLang="zh-CN" sz="2900" smtClean="0">
                <a:ea typeface="宋体" pitchFamily="2" charset="-122"/>
              </a:rPr>
              <a:t>Why not use an existing file system?</a:t>
            </a:r>
          </a:p>
          <a:p>
            <a:pPr marL="547688" lvl="1" indent="-273050" eaLnBrk="1" hangingPunct="1"/>
            <a:r>
              <a:rPr lang="en-US" altLang="zh-CN" sz="2300" smtClean="0">
                <a:ea typeface="宋体" pitchFamily="2" charset="-122"/>
              </a:rPr>
              <a:t>Google’s problems are different from anyone else’s</a:t>
            </a:r>
          </a:p>
          <a:p>
            <a:pPr marL="822325" lvl="2" eaLnBrk="1" hangingPunct="1"/>
            <a:r>
              <a:rPr lang="en-US" altLang="zh-CN" smtClean="0">
                <a:ea typeface="宋体" pitchFamily="2" charset="-122"/>
              </a:rPr>
              <a:t>Different workload</a:t>
            </a:r>
          </a:p>
          <a:p>
            <a:pPr marL="822325" lvl="2" eaLnBrk="1" hangingPunct="1"/>
            <a:r>
              <a:rPr lang="en-US" altLang="zh-CN" smtClean="0">
                <a:ea typeface="宋体" pitchFamily="2" charset="-122"/>
              </a:rPr>
              <a:t>Different data structure</a:t>
            </a:r>
          </a:p>
          <a:p>
            <a:pPr marL="822325" lvl="2" eaLnBrk="1" hangingPunct="1"/>
            <a:r>
              <a:rPr lang="en-US" altLang="zh-CN" smtClean="0">
                <a:ea typeface="宋体" pitchFamily="2" charset="-122"/>
              </a:rPr>
              <a:t>Different response time</a:t>
            </a:r>
          </a:p>
          <a:p>
            <a:pPr marL="822325" lvl="2" eaLnBrk="1" hangingPunct="1"/>
            <a:endParaRPr lang="en-US" altLang="zh-CN" smtClean="0">
              <a:ea typeface="宋体" pitchFamily="2" charset="-122"/>
            </a:endParaRPr>
          </a:p>
          <a:p>
            <a:pPr marL="822325" lvl="2" eaLnBrk="1" hangingPunct="1"/>
            <a:endParaRPr lang="en-US" altLang="zh-CN" smtClean="0">
              <a:ea typeface="宋体" pitchFamily="2" charset="-122"/>
            </a:endParaRPr>
          </a:p>
          <a:p>
            <a:pPr marL="822325" lvl="2" eaLnBrk="1" hangingPunct="1"/>
            <a:endParaRPr lang="en-US" altLang="zh-CN" smtClean="0">
              <a:ea typeface="宋体" pitchFamily="2"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DD905AC6-4AE8-4DBF-985B-466BFB3A390D}" type="slidenum">
              <a:rPr lang="zh-CN" altLang="en-US"/>
              <a:pPr>
                <a:defRPr/>
              </a:pPr>
              <a:t>59</a:t>
            </a:fld>
            <a:endParaRPr lang="zh-CN" altLang="en-US"/>
          </a:p>
        </p:txBody>
      </p:sp>
      <p:sp>
        <p:nvSpPr>
          <p:cNvPr id="61443" name="标题 1"/>
          <p:cNvSpPr>
            <a:spLocks noGrp="1"/>
          </p:cNvSpPr>
          <p:nvPr>
            <p:ph type="title" idx="4294967295"/>
          </p:nvPr>
        </p:nvSpPr>
        <p:spPr>
          <a:xfrm>
            <a:off x="395288" y="333375"/>
            <a:ext cx="8229600" cy="866775"/>
          </a:xfrm>
        </p:spPr>
        <p:txBody>
          <a:bodyPr lIns="0" rIns="0" bIns="0" anchor="b"/>
          <a:lstStyle/>
          <a:p>
            <a:r>
              <a:rPr lang="en-US" altLang="zh-CN" smtClean="0"/>
              <a:t>GFS</a:t>
            </a:r>
            <a:r>
              <a:rPr lang="zh-CN" altLang="en-US" smtClean="0"/>
              <a:t>的技术环境</a:t>
            </a:r>
          </a:p>
        </p:txBody>
      </p:sp>
      <p:sp>
        <p:nvSpPr>
          <p:cNvPr id="61444" name="内容占位符 2"/>
          <p:cNvSpPr>
            <a:spLocks noGrp="1"/>
          </p:cNvSpPr>
          <p:nvPr>
            <p:ph idx="4294967295"/>
          </p:nvPr>
        </p:nvSpPr>
        <p:spPr>
          <a:xfrm>
            <a:off x="323850" y="1773238"/>
            <a:ext cx="8640763" cy="4679950"/>
          </a:xfrm>
        </p:spPr>
        <p:txBody>
          <a:bodyPr/>
          <a:lstStyle/>
          <a:p>
            <a:pPr marL="273050" indent="-273050"/>
            <a:r>
              <a:rPr lang="zh-CN" altLang="en-US" smtClean="0">
                <a:solidFill>
                  <a:srgbClr val="0000CC"/>
                </a:solidFill>
              </a:rPr>
              <a:t>First, component failures are the norm rather than the exception</a:t>
            </a:r>
          </a:p>
          <a:p>
            <a:pPr marL="273050" indent="-273050"/>
            <a:r>
              <a:rPr lang="zh-CN" altLang="en-US" smtClean="0"/>
              <a:t>首先，组件失效被认为是常态事件，而不是意外事件</a:t>
            </a:r>
            <a:endParaRPr lang="en-US" altLang="zh-CN" smtClean="0"/>
          </a:p>
          <a:p>
            <a:pPr marL="273050" indent="-273050"/>
            <a:r>
              <a:rPr lang="en-US" altLang="zh-CN" smtClean="0">
                <a:solidFill>
                  <a:srgbClr val="0000CC"/>
                </a:solidFill>
              </a:rPr>
              <a:t>Second, files are huge by traditional standards</a:t>
            </a:r>
          </a:p>
          <a:p>
            <a:pPr marL="273050" indent="-273050"/>
            <a:r>
              <a:rPr lang="zh-CN" altLang="en-US" smtClean="0"/>
              <a:t>其次，以通常的标准衡量，</a:t>
            </a:r>
            <a:r>
              <a:rPr lang="en-US" altLang="zh-CN" smtClean="0"/>
              <a:t>Google</a:t>
            </a:r>
            <a:r>
              <a:rPr lang="zh-CN" altLang="en-US" smtClean="0"/>
              <a:t>的文件非常巨大。</a:t>
            </a:r>
            <a:endParaRPr lang="en-US" altLang="zh-CN"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8949B393-82D3-4E6D-AB2F-69E2DB7D1A55}" type="slidenum">
              <a:rPr lang="zh-CN" altLang="en-US"/>
              <a:pPr>
                <a:defRPr/>
              </a:pPr>
              <a:t>60</a:t>
            </a:fld>
            <a:endParaRPr lang="zh-CN" altLang="en-US"/>
          </a:p>
        </p:txBody>
      </p:sp>
      <p:sp>
        <p:nvSpPr>
          <p:cNvPr id="62467" name="标题 1"/>
          <p:cNvSpPr>
            <a:spLocks noGrp="1"/>
          </p:cNvSpPr>
          <p:nvPr>
            <p:ph type="title" idx="4294967295"/>
          </p:nvPr>
        </p:nvSpPr>
        <p:spPr>
          <a:xfrm>
            <a:off x="395288" y="333375"/>
            <a:ext cx="8229600" cy="866775"/>
          </a:xfrm>
        </p:spPr>
        <p:txBody>
          <a:bodyPr lIns="0" rIns="0" bIns="0" anchor="b"/>
          <a:lstStyle/>
          <a:p>
            <a:r>
              <a:rPr lang="en-US" altLang="zh-CN" smtClean="0"/>
              <a:t>GFS</a:t>
            </a:r>
            <a:r>
              <a:rPr lang="zh-CN" altLang="en-US" smtClean="0"/>
              <a:t>的设计背景</a:t>
            </a:r>
          </a:p>
        </p:txBody>
      </p:sp>
      <p:sp>
        <p:nvSpPr>
          <p:cNvPr id="62468" name="内容占位符 2"/>
          <p:cNvSpPr>
            <a:spLocks noGrp="1"/>
          </p:cNvSpPr>
          <p:nvPr>
            <p:ph idx="4294967295"/>
          </p:nvPr>
        </p:nvSpPr>
        <p:spPr>
          <a:xfrm>
            <a:off x="323850" y="1773238"/>
            <a:ext cx="8640763" cy="4103687"/>
          </a:xfrm>
        </p:spPr>
        <p:txBody>
          <a:bodyPr/>
          <a:lstStyle/>
          <a:p>
            <a:pPr marL="273050" indent="-273050"/>
            <a:r>
              <a:rPr lang="en-US" altLang="zh-CN" smtClean="0">
                <a:solidFill>
                  <a:srgbClr val="0000CC"/>
                </a:solidFill>
              </a:rPr>
              <a:t>Third, most files are mutated by appending new data rather than overwriting existing data</a:t>
            </a:r>
          </a:p>
          <a:p>
            <a:pPr marL="273050" indent="-273050"/>
            <a:r>
              <a:rPr lang="zh-CN" altLang="en-US" smtClean="0"/>
              <a:t>第三，绝大部分文件的修改是采用在文件尾部追加数据，而不是覆盖原有数据的方式。</a:t>
            </a:r>
          </a:p>
          <a:p>
            <a:pPr marL="273050" indent="-273050"/>
            <a:r>
              <a:rPr lang="en-US" altLang="zh-CN" smtClean="0">
                <a:solidFill>
                  <a:srgbClr val="0000CC"/>
                </a:solidFill>
              </a:rPr>
              <a:t>Fourth, co-designing the applications and the file system API benefits the overall system by increasing our flexibility</a:t>
            </a:r>
          </a:p>
          <a:p>
            <a:pPr marL="273050" indent="-273050"/>
            <a:r>
              <a:rPr lang="zh-CN" altLang="en-US" smtClean="0"/>
              <a:t>第四，应用程序和文件系统</a:t>
            </a:r>
            <a:r>
              <a:rPr lang="en-US" altLang="zh-CN" smtClean="0"/>
              <a:t>API</a:t>
            </a:r>
            <a:r>
              <a:rPr lang="zh-CN" altLang="en-US" smtClean="0"/>
              <a:t>的协同设计提高了整个系统的灵活性。</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09A60A28-82D3-49F1-9159-742CB032D3B4}" type="slidenum">
              <a:rPr lang="zh-CN" altLang="en-US"/>
              <a:pPr>
                <a:defRPr/>
              </a:pPr>
              <a:t>61</a:t>
            </a:fld>
            <a:endParaRPr lang="zh-CN" altLang="en-US"/>
          </a:p>
        </p:txBody>
      </p:sp>
      <p:pic>
        <p:nvPicPr>
          <p:cNvPr id="63491" name="Picture 2"/>
          <p:cNvPicPr>
            <a:picLocks noGrp="1" noChangeAspect="1" noChangeArrowheads="1"/>
          </p:cNvPicPr>
          <p:nvPr>
            <p:ph idx="4294967295"/>
          </p:nvPr>
        </p:nvPicPr>
        <p:blipFill>
          <a:blip r:embed="rId2" cstate="print"/>
          <a:srcRect l="18456" t="35468" r="17976" b="25162"/>
          <a:stretch>
            <a:fillRect/>
          </a:stretch>
        </p:blipFill>
        <p:spPr>
          <a:xfrm>
            <a:off x="250825" y="1628775"/>
            <a:ext cx="8713788" cy="4176713"/>
          </a:xfrm>
        </p:spPr>
      </p:pic>
      <p:sp>
        <p:nvSpPr>
          <p:cNvPr id="63492"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US" altLang="zh-CN" sz="4300">
                <a:solidFill>
                  <a:srgbClr val="11488B"/>
                </a:solidFill>
                <a:latin typeface="Gill Sans MT" pitchFamily="34" charset="0"/>
                <a:ea typeface="华文中宋" pitchFamily="2" charset="-122"/>
              </a:rPr>
              <a:t>GFS</a:t>
            </a:r>
            <a:r>
              <a:rPr lang="zh-CN" altLang="en-US" sz="4300">
                <a:solidFill>
                  <a:srgbClr val="11488B"/>
                </a:solidFill>
                <a:latin typeface="Gill Sans MT" pitchFamily="34" charset="0"/>
                <a:ea typeface="华文中宋" pitchFamily="2" charset="-122"/>
              </a:rPr>
              <a:t>架构</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53BAC63-0EEE-4E9A-9AED-9E131B4D0E46}" type="slidenum">
              <a:rPr lang="zh-CN" altLang="en-US"/>
              <a:pPr>
                <a:defRPr/>
              </a:pPr>
              <a:t>62</a:t>
            </a:fld>
            <a:endParaRPr lang="zh-CN" altLang="en-US"/>
          </a:p>
        </p:txBody>
      </p:sp>
      <p:sp>
        <p:nvSpPr>
          <p:cNvPr id="64515" name="Rectangle 2"/>
          <p:cNvSpPr>
            <a:spLocks noGrp="1"/>
          </p:cNvSpPr>
          <p:nvPr>
            <p:ph type="title"/>
          </p:nvPr>
        </p:nvSpPr>
        <p:spPr/>
        <p:txBody>
          <a:bodyPr/>
          <a:lstStyle/>
          <a:p>
            <a:r>
              <a:rPr lang="en-US" altLang="zh-CN" smtClean="0"/>
              <a:t>GFS</a:t>
            </a:r>
            <a:r>
              <a:rPr lang="zh-CN" altLang="en-US" smtClean="0"/>
              <a:t>架构</a:t>
            </a:r>
          </a:p>
        </p:txBody>
      </p:sp>
      <p:pic>
        <p:nvPicPr>
          <p:cNvPr id="64516" name="Picture 3"/>
          <p:cNvPicPr>
            <a:picLocks noGrp="1" noChangeAspect="1" noChangeArrowheads="1"/>
          </p:cNvPicPr>
          <p:nvPr>
            <p:ph type="body" idx="1"/>
          </p:nvPr>
        </p:nvPicPr>
        <p:blipFill>
          <a:blip r:embed="rId3" cstate="print"/>
          <a:srcRect/>
          <a:stretch>
            <a:fillRect/>
          </a:stretch>
        </p:blipFill>
        <p:spPr>
          <a:xfrm>
            <a:off x="250825" y="1581150"/>
            <a:ext cx="8539163" cy="4511675"/>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21FFE455-63D8-4A4E-A905-4D257A465A10}" type="slidenum">
              <a:rPr lang="zh-CN" altLang="en-US"/>
              <a:pPr>
                <a:defRPr/>
              </a:pPr>
              <a:t>63</a:t>
            </a:fld>
            <a:endParaRPr lang="zh-CN" altLang="en-US"/>
          </a:p>
        </p:txBody>
      </p:sp>
      <p:sp>
        <p:nvSpPr>
          <p:cNvPr id="65539" name="标题 1"/>
          <p:cNvSpPr>
            <a:spLocks noGrp="1"/>
          </p:cNvSpPr>
          <p:nvPr>
            <p:ph type="title" idx="4294967295"/>
          </p:nvPr>
        </p:nvSpPr>
        <p:spPr>
          <a:xfrm>
            <a:off x="395288" y="333375"/>
            <a:ext cx="8539162" cy="782638"/>
          </a:xfrm>
        </p:spPr>
        <p:txBody>
          <a:bodyPr lIns="0" rIns="0" bIns="0" anchor="b"/>
          <a:lstStyle/>
          <a:p>
            <a:r>
              <a:rPr lang="en-US" altLang="zh-CN" smtClean="0"/>
              <a:t>GFS</a:t>
            </a:r>
            <a:r>
              <a:rPr lang="zh-CN" altLang="en-US" smtClean="0"/>
              <a:t>架构</a:t>
            </a:r>
          </a:p>
        </p:txBody>
      </p:sp>
      <p:sp>
        <p:nvSpPr>
          <p:cNvPr id="65540" name="内容占位符 2"/>
          <p:cNvSpPr>
            <a:spLocks noGrp="1"/>
          </p:cNvSpPr>
          <p:nvPr>
            <p:ph idx="4294967295"/>
          </p:nvPr>
        </p:nvSpPr>
        <p:spPr/>
        <p:txBody>
          <a:bodyPr/>
          <a:lstStyle/>
          <a:p>
            <a:pPr marL="273050" indent="-273050"/>
            <a:r>
              <a:rPr lang="en-US" altLang="zh-CN" smtClean="0"/>
              <a:t>GFS</a:t>
            </a:r>
            <a:r>
              <a:rPr lang="zh-CN" altLang="en-US" smtClean="0"/>
              <a:t>集群</a:t>
            </a:r>
          </a:p>
          <a:p>
            <a:pPr marL="742950" lvl="1" indent="-285750"/>
            <a:r>
              <a:rPr lang="zh-CN" altLang="en-US" smtClean="0"/>
              <a:t>一个</a:t>
            </a:r>
            <a:r>
              <a:rPr lang="en-US" altLang="zh-CN" smtClean="0"/>
              <a:t>Master</a:t>
            </a:r>
            <a:endParaRPr lang="zh-CN" altLang="en-US" smtClean="0"/>
          </a:p>
          <a:p>
            <a:pPr marL="742950" lvl="1" indent="-285750"/>
            <a:r>
              <a:rPr lang="zh-CN" altLang="en-US" smtClean="0"/>
              <a:t>多个</a:t>
            </a:r>
            <a:r>
              <a:rPr lang="en-US" altLang="zh-CN" smtClean="0"/>
              <a:t>ChunkServer</a:t>
            </a:r>
            <a:endParaRPr lang="zh-CN" altLang="en-US" smtClean="0"/>
          </a:p>
          <a:p>
            <a:pPr marL="742950" lvl="1" indent="-285750"/>
            <a:r>
              <a:rPr lang="zh-CN" altLang="en-US" smtClean="0"/>
              <a:t>多个</a:t>
            </a:r>
            <a:r>
              <a:rPr lang="en-US" altLang="zh-CN" smtClean="0"/>
              <a:t>Client</a:t>
            </a:r>
          </a:p>
          <a:p>
            <a:pPr marL="742950" lvl="1" indent="-285750"/>
            <a:r>
              <a:rPr lang="en-US" altLang="zh-CN" smtClean="0"/>
              <a:t>Master</a:t>
            </a:r>
            <a:r>
              <a:rPr lang="zh-CN" altLang="en-US" smtClean="0"/>
              <a:t>和 </a:t>
            </a:r>
            <a:r>
              <a:rPr lang="en-US" altLang="zh-CN" smtClean="0"/>
              <a:t>ChunkServer</a:t>
            </a:r>
            <a:r>
              <a:rPr lang="zh-CN" altLang="en-US" smtClean="0"/>
              <a:t>通常是运行用户层服务进程的</a:t>
            </a:r>
            <a:r>
              <a:rPr lang="en-US" altLang="zh-CN" smtClean="0"/>
              <a:t>Linux</a:t>
            </a:r>
            <a:r>
              <a:rPr lang="zh-CN" altLang="en-US" smtClean="0"/>
              <a:t>机器。</a:t>
            </a:r>
          </a:p>
          <a:p>
            <a:pPr marL="742950" lvl="1" indent="-285750"/>
            <a:r>
              <a:rPr lang="zh-CN" altLang="en-US" smtClean="0"/>
              <a:t>只要资源和可靠性允许，</a:t>
            </a:r>
            <a:r>
              <a:rPr lang="en-US" altLang="zh-CN" smtClean="0"/>
              <a:t>Chunkserver</a:t>
            </a:r>
            <a:r>
              <a:rPr lang="zh-CN" altLang="en-US" smtClean="0"/>
              <a:t>和</a:t>
            </a:r>
            <a:r>
              <a:rPr lang="en-US" altLang="zh-CN" smtClean="0"/>
              <a:t>Client</a:t>
            </a:r>
            <a:r>
              <a:rPr lang="zh-CN" altLang="en-US" smtClean="0"/>
              <a:t>可以运行在同一个机器 上。</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23E54FDD-D1E5-4792-B681-2BA767DEF49B}" type="slidenum">
              <a:rPr lang="zh-CN" altLang="en-US"/>
              <a:pPr>
                <a:defRPr/>
              </a:pPr>
              <a:t>64</a:t>
            </a:fld>
            <a:endParaRPr lang="zh-CN" altLang="en-US"/>
          </a:p>
        </p:txBody>
      </p:sp>
      <p:sp>
        <p:nvSpPr>
          <p:cNvPr id="66563" name="标题 1"/>
          <p:cNvSpPr>
            <a:spLocks noGrp="1"/>
          </p:cNvSpPr>
          <p:nvPr>
            <p:ph type="title" idx="4294967295"/>
          </p:nvPr>
        </p:nvSpPr>
        <p:spPr>
          <a:xfrm>
            <a:off x="395288" y="0"/>
            <a:ext cx="8539162" cy="1143000"/>
          </a:xfrm>
        </p:spPr>
        <p:txBody>
          <a:bodyPr lIns="0" rIns="0" bIns="0" anchor="b"/>
          <a:lstStyle/>
          <a:p>
            <a:r>
              <a:rPr lang="en-US" altLang="zh-CN" sz="4000" smtClean="0"/>
              <a:t>Master</a:t>
            </a:r>
            <a:endParaRPr lang="zh-CN" altLang="en-US" sz="4000" smtClean="0"/>
          </a:p>
        </p:txBody>
      </p:sp>
      <p:sp>
        <p:nvSpPr>
          <p:cNvPr id="66564" name="内容占位符 2"/>
          <p:cNvSpPr>
            <a:spLocks noGrp="1"/>
          </p:cNvSpPr>
          <p:nvPr>
            <p:ph idx="4294967295"/>
          </p:nvPr>
        </p:nvSpPr>
        <p:spPr>
          <a:xfrm>
            <a:off x="395288" y="1557338"/>
            <a:ext cx="8539162" cy="4800600"/>
          </a:xfrm>
        </p:spPr>
        <p:txBody>
          <a:bodyPr/>
          <a:lstStyle/>
          <a:p>
            <a:pPr marL="273050" indent="-273050" algn="just"/>
            <a:r>
              <a:rPr lang="zh-CN" altLang="en-US" smtClean="0"/>
              <a:t>单一的</a:t>
            </a:r>
            <a:r>
              <a:rPr lang="en-US" altLang="zh-CN" smtClean="0"/>
              <a:t>Master</a:t>
            </a:r>
            <a:r>
              <a:rPr lang="zh-CN" altLang="en-US" smtClean="0"/>
              <a:t>节点的策略大大简化了</a:t>
            </a:r>
            <a:r>
              <a:rPr lang="en-US" altLang="zh-CN" smtClean="0"/>
              <a:t>GFS</a:t>
            </a:r>
            <a:r>
              <a:rPr lang="zh-CN" altLang="en-US" smtClean="0"/>
              <a:t>的设计。但是，必须减少对</a:t>
            </a:r>
            <a:r>
              <a:rPr lang="en-US" altLang="zh-CN" smtClean="0"/>
              <a:t>Master</a:t>
            </a:r>
            <a:r>
              <a:rPr lang="zh-CN" altLang="en-US" smtClean="0"/>
              <a:t>节点的读写，避免</a:t>
            </a:r>
            <a:r>
              <a:rPr lang="en-US" altLang="zh-CN" smtClean="0"/>
              <a:t>Master</a:t>
            </a:r>
            <a:r>
              <a:rPr lang="zh-CN" altLang="en-US" smtClean="0"/>
              <a:t>节点成为系统的瓶颈。</a:t>
            </a:r>
          </a:p>
          <a:p>
            <a:pPr marL="273050" indent="-273050" algn="just"/>
            <a:r>
              <a:rPr lang="en-US" altLang="zh-CN" smtClean="0"/>
              <a:t>Master</a:t>
            </a:r>
            <a:r>
              <a:rPr lang="zh-CN" altLang="en-US" smtClean="0"/>
              <a:t>用心跳信息周期地跟每个</a:t>
            </a:r>
            <a:r>
              <a:rPr lang="en-US" altLang="zh-CN" smtClean="0"/>
              <a:t>ChunkServer</a:t>
            </a:r>
            <a:r>
              <a:rPr lang="zh-CN" altLang="en-US" smtClean="0"/>
              <a:t>通信，给他们以指示并收集他们的状态。</a:t>
            </a:r>
          </a:p>
          <a:p>
            <a:pPr marL="273050" indent="-273050"/>
            <a:r>
              <a:rPr lang="en-US" altLang="zh-CN" smtClean="0"/>
              <a:t>Master</a:t>
            </a:r>
            <a:r>
              <a:rPr lang="zh-CN" altLang="zh-CN" smtClean="0"/>
              <a:t>负责管理所有的文件系统的元数据</a:t>
            </a:r>
            <a:endParaRPr lang="zh-CN" altLang="en-US" smtClean="0"/>
          </a:p>
          <a:p>
            <a:pPr marL="273050" indent="-273050"/>
            <a:r>
              <a:rPr lang="en-US" altLang="zh-CN" smtClean="0"/>
              <a:t>Master</a:t>
            </a:r>
            <a:r>
              <a:rPr lang="zh-CN" altLang="en-US" smtClean="0"/>
              <a:t>控制系统级别的活动</a:t>
            </a:r>
          </a:p>
          <a:p>
            <a:pPr marL="273050" indent="-273050"/>
            <a:endParaRPr lang="zh-CN" altLang="en-US" smtClean="0"/>
          </a:p>
          <a:p>
            <a:pPr marL="273050" indent="-273050" algn="just"/>
            <a:endParaRPr lang="en-US" altLang="zh-CN" smtClean="0"/>
          </a:p>
          <a:p>
            <a:pPr marL="273050" indent="-273050" algn="just"/>
            <a:endParaRPr lang="zh-CN" altLang="en-US"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9FEF1383-22D5-4407-9419-C41C7CB1948E}" type="slidenum">
              <a:rPr lang="zh-CN" altLang="en-US"/>
              <a:pPr>
                <a:defRPr/>
              </a:pPr>
              <a:t>65</a:t>
            </a:fld>
            <a:endParaRPr lang="zh-CN" altLang="en-US"/>
          </a:p>
        </p:txBody>
      </p:sp>
      <p:sp>
        <p:nvSpPr>
          <p:cNvPr id="67587" name="Rectangle 2"/>
          <p:cNvSpPr>
            <a:spLocks noGrp="1" noChangeArrowheads="1"/>
          </p:cNvSpPr>
          <p:nvPr>
            <p:ph type="title" idx="4294967295"/>
          </p:nvPr>
        </p:nvSpPr>
        <p:spPr/>
        <p:txBody>
          <a:bodyPr/>
          <a:lstStyle/>
          <a:p>
            <a:pPr eaLnBrk="1" hangingPunct="1"/>
            <a:r>
              <a:rPr lang="en-US" altLang="zh-CN" sz="3900" smtClean="0">
                <a:ea typeface="宋体" pitchFamily="2" charset="-122"/>
              </a:rPr>
              <a:t>Chunkserver</a:t>
            </a:r>
          </a:p>
        </p:txBody>
      </p:sp>
      <p:sp>
        <p:nvSpPr>
          <p:cNvPr id="67588" name="AutoShape 3"/>
          <p:cNvSpPr>
            <a:spLocks noChangeAspect="1" noChangeArrowheads="1" noTextEdit="1"/>
          </p:cNvSpPr>
          <p:nvPr/>
        </p:nvSpPr>
        <p:spPr bwMode="gray">
          <a:xfrm flipH="1">
            <a:off x="4868863" y="3071813"/>
            <a:ext cx="909637" cy="1244600"/>
          </a:xfrm>
          <a:prstGeom prst="rect">
            <a:avLst/>
          </a:prstGeom>
          <a:noFill/>
          <a:ln w="9525">
            <a:noFill/>
            <a:miter lim="800000"/>
            <a:headEnd/>
            <a:tailEnd/>
          </a:ln>
        </p:spPr>
        <p:txBody>
          <a:bodyPr/>
          <a:lstStyle/>
          <a:p>
            <a:endParaRPr lang="zh-CN" altLang="en-US"/>
          </a:p>
        </p:txBody>
      </p:sp>
      <p:sp>
        <p:nvSpPr>
          <p:cNvPr id="67589" name="TextBox 1"/>
          <p:cNvSpPr txBox="1">
            <a:spLocks noChangeArrowheads="1"/>
          </p:cNvSpPr>
          <p:nvPr/>
        </p:nvSpPr>
        <p:spPr bwMode="auto">
          <a:xfrm>
            <a:off x="685800" y="1366838"/>
            <a:ext cx="7543800" cy="461962"/>
          </a:xfrm>
          <a:prstGeom prst="rect">
            <a:avLst/>
          </a:prstGeom>
          <a:noFill/>
          <a:ln w="9525">
            <a:noFill/>
            <a:miter lim="800000"/>
            <a:headEnd/>
            <a:tailEnd/>
          </a:ln>
        </p:spPr>
        <p:txBody>
          <a:bodyPr>
            <a:spAutoFit/>
          </a:bodyPr>
          <a:lstStyle/>
          <a:p>
            <a:pPr algn="ctr" eaLnBrk="0" hangingPunct="0"/>
            <a:endParaRPr lang="zh-CN" altLang="en-US" sz="2400">
              <a:solidFill>
                <a:schemeClr val="bg1"/>
              </a:solidFill>
            </a:endParaRPr>
          </a:p>
        </p:txBody>
      </p:sp>
      <p:sp>
        <p:nvSpPr>
          <p:cNvPr id="67590" name="Rectangle 2"/>
          <p:cNvSpPr txBox="1">
            <a:spLocks noChangeArrowheads="1"/>
          </p:cNvSpPr>
          <p:nvPr/>
        </p:nvSpPr>
        <p:spPr bwMode="gray">
          <a:xfrm>
            <a:off x="304800" y="1171575"/>
            <a:ext cx="7924800" cy="563563"/>
          </a:xfrm>
          <a:prstGeom prst="rect">
            <a:avLst/>
          </a:prstGeom>
          <a:noFill/>
          <a:ln w="9525">
            <a:noFill/>
            <a:miter lim="800000"/>
            <a:headEnd/>
            <a:tailEnd/>
          </a:ln>
        </p:spPr>
        <p:txBody>
          <a:bodyPr anchor="ctr"/>
          <a:lstStyle/>
          <a:p>
            <a:endParaRPr lang="en-US" altLang="zh-CN" sz="2400" b="1"/>
          </a:p>
        </p:txBody>
      </p:sp>
      <p:sp>
        <p:nvSpPr>
          <p:cNvPr id="67591" name="内容占位符 2"/>
          <p:cNvSpPr>
            <a:spLocks/>
          </p:cNvSpPr>
          <p:nvPr/>
        </p:nvSpPr>
        <p:spPr bwMode="auto">
          <a:xfrm>
            <a:off x="604838" y="1214422"/>
            <a:ext cx="8324880" cy="4800600"/>
          </a:xfrm>
          <a:prstGeom prst="rect">
            <a:avLst/>
          </a:prstGeom>
          <a:noFill/>
          <a:ln w="9525">
            <a:noFill/>
            <a:miter lim="800000"/>
            <a:headEnd/>
            <a:tailEnd/>
          </a:ln>
        </p:spPr>
        <p:txBody>
          <a:bodyPr/>
          <a:lstStyle/>
          <a:p>
            <a:pPr marL="273050" indent="-273050" algn="just" eaLnBrk="0" hangingPunct="0">
              <a:spcBef>
                <a:spcPts val="600"/>
              </a:spcBef>
              <a:buClr>
                <a:schemeClr val="accent1"/>
              </a:buClr>
              <a:buSzPct val="80000"/>
              <a:buFont typeface="Wingdings 2" pitchFamily="18" charset="2"/>
              <a:buChar char=""/>
            </a:pPr>
            <a:r>
              <a:rPr lang="zh-CN" altLang="zh-CN" sz="2800" dirty="0">
                <a:latin typeface="Gill Sans MT" pitchFamily="34" charset="0"/>
                <a:ea typeface="华文中宋" pitchFamily="2" charset="-122"/>
              </a:rPr>
              <a:t>在</a:t>
            </a:r>
            <a:r>
              <a:rPr lang="en-US" altLang="zh-CN" sz="2800" dirty="0">
                <a:latin typeface="Gill Sans MT" pitchFamily="34" charset="0"/>
                <a:ea typeface="华文中宋" pitchFamily="2" charset="-122"/>
              </a:rPr>
              <a:t>GFS</a:t>
            </a:r>
            <a:r>
              <a:rPr lang="zh-CN" altLang="zh-CN" sz="2800" dirty="0">
                <a:latin typeface="Gill Sans MT" pitchFamily="34" charset="0"/>
                <a:ea typeface="华文中宋" pitchFamily="2" charset="-122"/>
              </a:rPr>
              <a:t>下，每一个文件都拆成固定大小的</a:t>
            </a:r>
            <a:r>
              <a:rPr lang="zh-CN" altLang="en-US" sz="2800" dirty="0">
                <a:latin typeface="Gill Sans MT" pitchFamily="34" charset="0"/>
                <a:ea typeface="华文中宋" pitchFamily="2" charset="-122"/>
              </a:rPr>
              <a:t>C</a:t>
            </a:r>
            <a:r>
              <a:rPr lang="en-US" altLang="zh-CN" sz="2800" dirty="0">
                <a:latin typeface="Gill Sans MT" pitchFamily="34" charset="0"/>
                <a:ea typeface="华文中宋" pitchFamily="2" charset="-122"/>
              </a:rPr>
              <a:t>hunk(</a:t>
            </a:r>
            <a:r>
              <a:rPr lang="zh-CN" altLang="zh-CN" sz="2800" dirty="0">
                <a:latin typeface="Gill Sans MT" pitchFamily="34" charset="0"/>
                <a:ea typeface="华文中宋" pitchFamily="2" charset="-122"/>
              </a:rPr>
              <a:t>块</a:t>
            </a:r>
            <a:r>
              <a:rPr lang="en-US" altLang="zh-CN" sz="2800" dirty="0">
                <a:latin typeface="Gill Sans MT" pitchFamily="34" charset="0"/>
                <a:ea typeface="华文中宋" pitchFamily="2" charset="-122"/>
              </a:rPr>
              <a:t>)</a:t>
            </a:r>
            <a:r>
              <a:rPr lang="zh-CN" altLang="zh-CN" sz="2800" dirty="0">
                <a:latin typeface="Gill Sans MT" pitchFamily="34" charset="0"/>
                <a:ea typeface="华文中宋" pitchFamily="2" charset="-122"/>
              </a:rPr>
              <a:t>。每一个块都由</a:t>
            </a:r>
            <a:r>
              <a:rPr lang="zh-CN" altLang="en-US" sz="2800" dirty="0">
                <a:latin typeface="Gill Sans MT" pitchFamily="34" charset="0"/>
                <a:ea typeface="华文中宋" pitchFamily="2" charset="-122"/>
              </a:rPr>
              <a:t>M</a:t>
            </a:r>
            <a:r>
              <a:rPr lang="en-US" altLang="zh-CN" sz="2800" dirty="0">
                <a:latin typeface="Gill Sans MT" pitchFamily="34" charset="0"/>
                <a:ea typeface="华文中宋" pitchFamily="2" charset="-122"/>
              </a:rPr>
              <a:t>aster</a:t>
            </a:r>
            <a:r>
              <a:rPr lang="zh-CN" altLang="zh-CN" sz="2800" dirty="0">
                <a:latin typeface="Gill Sans MT" pitchFamily="34" charset="0"/>
                <a:ea typeface="华文中宋" pitchFamily="2" charset="-122"/>
              </a:rPr>
              <a:t>根据块创建时间产生一个全局唯一的以后不会改变的</a:t>
            </a:r>
            <a:r>
              <a:rPr lang="en-US" altLang="zh-CN" sz="2800" dirty="0">
                <a:latin typeface="Gill Sans MT" pitchFamily="34" charset="0"/>
                <a:ea typeface="华文中宋" pitchFamily="2" charset="-122"/>
              </a:rPr>
              <a:t>64</a:t>
            </a:r>
            <a:r>
              <a:rPr lang="zh-CN" altLang="zh-CN" sz="2800" dirty="0">
                <a:latin typeface="Gill Sans MT" pitchFamily="34" charset="0"/>
                <a:ea typeface="华文中宋" pitchFamily="2" charset="-122"/>
              </a:rPr>
              <a:t>位的</a:t>
            </a:r>
            <a:r>
              <a:rPr lang="zh-CN" altLang="en-US" sz="2800" dirty="0">
                <a:latin typeface="Gill Sans MT" pitchFamily="34" charset="0"/>
                <a:ea typeface="华文中宋" pitchFamily="2" charset="-122"/>
              </a:rPr>
              <a:t>C</a:t>
            </a:r>
            <a:r>
              <a:rPr lang="en-US" altLang="zh-CN" sz="2800" dirty="0">
                <a:latin typeface="Gill Sans MT" pitchFamily="34" charset="0"/>
                <a:ea typeface="华文中宋" pitchFamily="2" charset="-122"/>
              </a:rPr>
              <a:t>hunk handle</a:t>
            </a:r>
            <a:r>
              <a:rPr lang="zh-CN" altLang="zh-CN" sz="2800" dirty="0">
                <a:latin typeface="Gill Sans MT" pitchFamily="34" charset="0"/>
                <a:ea typeface="华文中宋" pitchFamily="2" charset="-122"/>
              </a:rPr>
              <a:t>标志</a:t>
            </a:r>
            <a:r>
              <a:rPr lang="zh-CN" altLang="en-US" sz="2800" dirty="0">
                <a:latin typeface="Gill Sans MT" pitchFamily="34" charset="0"/>
                <a:ea typeface="华文中宋" pitchFamily="2" charset="-122"/>
              </a:rPr>
              <a:t>。</a:t>
            </a:r>
            <a:endParaRPr lang="en-US" altLang="zh-CN" sz="2800" dirty="0">
              <a:latin typeface="Gill Sans MT" pitchFamily="34" charset="0"/>
              <a:ea typeface="华文中宋" pitchFamily="2" charset="-122"/>
            </a:endParaRPr>
          </a:p>
          <a:p>
            <a:pPr marL="273050" indent="-273050" eaLnBrk="0" hangingPunct="0">
              <a:spcBef>
                <a:spcPts val="600"/>
              </a:spcBef>
              <a:buClr>
                <a:schemeClr val="accent1"/>
              </a:buClr>
              <a:buSzPct val="80000"/>
              <a:buFont typeface="Wingdings 2" pitchFamily="18" charset="2"/>
              <a:buChar char=""/>
            </a:pPr>
            <a:r>
              <a:rPr lang="en-US" altLang="zh-CN" sz="2800" dirty="0" err="1">
                <a:latin typeface="Gill Sans MT" pitchFamily="34" charset="0"/>
                <a:ea typeface="华文中宋" pitchFamily="2" charset="-122"/>
              </a:rPr>
              <a:t>ChunkServers</a:t>
            </a:r>
            <a:r>
              <a:rPr lang="zh-CN" altLang="zh-CN" sz="2800" dirty="0">
                <a:latin typeface="Gill Sans MT" pitchFamily="34" charset="0"/>
                <a:ea typeface="华文中宋" pitchFamily="2" charset="-122"/>
              </a:rPr>
              <a:t>在本地磁盘上用</a:t>
            </a:r>
            <a:r>
              <a:rPr lang="en-US" altLang="zh-CN" sz="2800" dirty="0">
                <a:latin typeface="Gill Sans MT" pitchFamily="34" charset="0"/>
                <a:ea typeface="华文中宋" pitchFamily="2" charset="-122"/>
              </a:rPr>
              <a:t>Linux</a:t>
            </a:r>
            <a:r>
              <a:rPr lang="zh-CN" altLang="zh-CN" sz="2800" dirty="0">
                <a:latin typeface="Gill Sans MT" pitchFamily="34" charset="0"/>
                <a:ea typeface="华文中宋" pitchFamily="2" charset="-122"/>
              </a:rPr>
              <a:t>文件系统保存这些块，并且根据</a:t>
            </a:r>
            <a:r>
              <a:rPr lang="en-US" altLang="zh-CN" sz="2800" dirty="0">
                <a:latin typeface="Gill Sans MT" pitchFamily="34" charset="0"/>
                <a:ea typeface="华文中宋" pitchFamily="2" charset="-122"/>
              </a:rPr>
              <a:t>chunk handle</a:t>
            </a:r>
            <a:r>
              <a:rPr lang="zh-CN" altLang="zh-CN" sz="2800" dirty="0">
                <a:latin typeface="Gill Sans MT" pitchFamily="34" charset="0"/>
                <a:ea typeface="华文中宋" pitchFamily="2" charset="-122"/>
              </a:rPr>
              <a:t>和字节区间，通过</a:t>
            </a:r>
            <a:r>
              <a:rPr lang="en-US" altLang="zh-CN" sz="2800" dirty="0">
                <a:latin typeface="Gill Sans MT" pitchFamily="34" charset="0"/>
                <a:ea typeface="华文中宋" pitchFamily="2" charset="-122"/>
              </a:rPr>
              <a:t>Linux</a:t>
            </a:r>
            <a:r>
              <a:rPr lang="zh-CN" altLang="zh-CN" sz="2800" dirty="0">
                <a:latin typeface="Gill Sans MT" pitchFamily="34" charset="0"/>
                <a:ea typeface="华文中宋" pitchFamily="2" charset="-122"/>
              </a:rPr>
              <a:t>文件系统读写这些块的数据</a:t>
            </a:r>
            <a:r>
              <a:rPr lang="zh-CN" altLang="en-US" sz="2800" dirty="0">
                <a:latin typeface="Gill Sans MT" pitchFamily="34" charset="0"/>
                <a:ea typeface="华文中宋" pitchFamily="2" charset="-122"/>
              </a:rPr>
              <a:t>。</a:t>
            </a:r>
            <a:endParaRPr lang="en-US" altLang="zh-CN" sz="2800" dirty="0">
              <a:latin typeface="Gill Sans MT" pitchFamily="34" charset="0"/>
              <a:ea typeface="华文中宋" pitchFamily="2" charset="-122"/>
            </a:endParaRPr>
          </a:p>
          <a:p>
            <a:pPr marL="273050" indent="-273050" eaLnBrk="0" hangingPunct="0">
              <a:spcBef>
                <a:spcPts val="600"/>
              </a:spcBef>
              <a:buClr>
                <a:schemeClr val="accent1"/>
              </a:buClr>
              <a:buSzPct val="80000"/>
              <a:buFont typeface="Wingdings 2" pitchFamily="18" charset="2"/>
              <a:buChar char=""/>
            </a:pPr>
            <a:r>
              <a:rPr lang="zh-CN" altLang="en-US" sz="2800" dirty="0">
                <a:latin typeface="Gill Sans MT" pitchFamily="34" charset="0"/>
                <a:ea typeface="华文中宋" pitchFamily="2" charset="-122"/>
              </a:rPr>
              <a:t>考虑到</a:t>
            </a:r>
            <a:r>
              <a:rPr lang="zh-CN" altLang="zh-CN" sz="2800" dirty="0">
                <a:latin typeface="Gill Sans MT" pitchFamily="34" charset="0"/>
                <a:ea typeface="华文中宋" pitchFamily="2" charset="-122"/>
              </a:rPr>
              <a:t>可靠性，每一个块都会在不同的</a:t>
            </a:r>
            <a:r>
              <a:rPr lang="zh-CN" altLang="en-US" sz="2800" dirty="0">
                <a:latin typeface="Gill Sans MT" pitchFamily="34" charset="0"/>
                <a:ea typeface="华文中宋" pitchFamily="2" charset="-122"/>
              </a:rPr>
              <a:t>C</a:t>
            </a:r>
            <a:r>
              <a:rPr lang="en-US" altLang="zh-CN" sz="2800" dirty="0" err="1">
                <a:latin typeface="Gill Sans MT" pitchFamily="34" charset="0"/>
                <a:ea typeface="华文中宋" pitchFamily="2" charset="-122"/>
              </a:rPr>
              <a:t>hunkServer</a:t>
            </a:r>
            <a:r>
              <a:rPr lang="zh-CN" altLang="zh-CN" sz="2800" dirty="0">
                <a:latin typeface="Gill Sans MT" pitchFamily="34" charset="0"/>
                <a:ea typeface="华文中宋" pitchFamily="2" charset="-122"/>
              </a:rPr>
              <a:t>上保存备份</a:t>
            </a:r>
            <a:r>
              <a:rPr lang="zh-CN" altLang="en-US" sz="2800" dirty="0">
                <a:latin typeface="Gill Sans MT" pitchFamily="34" charset="0"/>
                <a:ea typeface="华文中宋" pitchFamily="2" charset="-122"/>
              </a:rPr>
              <a:t>，</a:t>
            </a:r>
            <a:r>
              <a:rPr lang="zh-CN" altLang="zh-CN" sz="2800" dirty="0">
                <a:latin typeface="Gill Sans MT" pitchFamily="34" charset="0"/>
                <a:ea typeface="华文中宋" pitchFamily="2" charset="-122"/>
              </a:rPr>
              <a:t>缺省情况下保存</a:t>
            </a:r>
            <a:r>
              <a:rPr lang="en-US" altLang="zh-CN" sz="2800" dirty="0">
                <a:latin typeface="Gill Sans MT" pitchFamily="34" charset="0"/>
                <a:ea typeface="华文中宋" pitchFamily="2" charset="-122"/>
              </a:rPr>
              <a:t>3</a:t>
            </a:r>
            <a:r>
              <a:rPr lang="zh-CN" altLang="zh-CN" sz="2800" dirty="0">
                <a:latin typeface="Gill Sans MT" pitchFamily="34" charset="0"/>
                <a:ea typeface="华文中宋" pitchFamily="2" charset="-122"/>
              </a:rPr>
              <a:t>个备份</a:t>
            </a:r>
            <a:r>
              <a:rPr lang="zh-CN" altLang="en-US" sz="2800" dirty="0">
                <a:latin typeface="Gill Sans MT" pitchFamily="34" charset="0"/>
                <a:ea typeface="华文中宋" pitchFamily="2" charset="-122"/>
              </a:rPr>
              <a:t>。</a:t>
            </a:r>
          </a:p>
          <a:p>
            <a:pPr marL="273050" indent="-273050" eaLnBrk="0" hangingPunct="0">
              <a:spcBef>
                <a:spcPts val="600"/>
              </a:spcBef>
              <a:buClr>
                <a:schemeClr val="accent1"/>
              </a:buClr>
              <a:buSzPct val="80000"/>
              <a:buFont typeface="Wingdings 2" pitchFamily="18" charset="2"/>
              <a:buChar char=""/>
            </a:pPr>
            <a:r>
              <a:rPr lang="zh-CN" altLang="en-US" sz="2800" dirty="0">
                <a:latin typeface="Gill Sans MT" pitchFamily="34" charset="0"/>
                <a:ea typeface="华文中宋" pitchFamily="2" charset="-122"/>
              </a:rPr>
              <a:t>块大小缺省是</a:t>
            </a:r>
            <a:r>
              <a:rPr lang="en-US" altLang="zh-CN" sz="2800" dirty="0">
                <a:latin typeface="Times New Roman" pitchFamily="18" charset="0"/>
                <a:ea typeface="华文中宋" pitchFamily="2" charset="-122"/>
                <a:cs typeface="Times New Roman" pitchFamily="18" charset="0"/>
              </a:rPr>
              <a:t>64</a:t>
            </a:r>
            <a:r>
              <a:rPr lang="en-US" altLang="zh-CN" sz="2800" dirty="0">
                <a:latin typeface="Gill Sans MT" pitchFamily="34" charset="0"/>
                <a:ea typeface="华文中宋" pitchFamily="2" charset="-122"/>
              </a:rPr>
              <a:t>MB</a:t>
            </a:r>
            <a:r>
              <a:rPr lang="zh-CN" altLang="en-US" sz="2800" dirty="0">
                <a:latin typeface="Gill Sans MT" pitchFamily="34" charset="0"/>
                <a:ea typeface="华文中宋" pitchFamily="2" charset="-122"/>
              </a:rPr>
              <a:t>，这比一般的文件系统中的文件块要大得多。</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6C8212A2-8C2D-4DAA-BD3A-62D3D2051248}" type="slidenum">
              <a:rPr lang="zh-CN" altLang="en-US"/>
              <a:pPr>
                <a:defRPr/>
              </a:pPr>
              <a:t>66</a:t>
            </a:fld>
            <a:endParaRPr lang="zh-CN" altLang="en-US"/>
          </a:p>
        </p:txBody>
      </p:sp>
      <p:sp>
        <p:nvSpPr>
          <p:cNvPr id="68611" name="Rectangle 2"/>
          <p:cNvSpPr>
            <a:spLocks noGrp="1" noChangeArrowheads="1"/>
          </p:cNvSpPr>
          <p:nvPr>
            <p:ph type="title" idx="4294967295"/>
          </p:nvPr>
        </p:nvSpPr>
        <p:spPr/>
        <p:txBody>
          <a:bodyPr/>
          <a:lstStyle/>
          <a:p>
            <a:pPr eaLnBrk="1" hangingPunct="1"/>
            <a:r>
              <a:rPr lang="en-US" altLang="zh-CN" smtClean="0">
                <a:ea typeface="宋体" pitchFamily="2" charset="-122"/>
              </a:rPr>
              <a:t>Chunkserver</a:t>
            </a:r>
          </a:p>
        </p:txBody>
      </p:sp>
      <p:sp>
        <p:nvSpPr>
          <p:cNvPr id="68612" name="AutoShape 3"/>
          <p:cNvSpPr>
            <a:spLocks noChangeAspect="1" noChangeArrowheads="1" noTextEdit="1"/>
          </p:cNvSpPr>
          <p:nvPr/>
        </p:nvSpPr>
        <p:spPr bwMode="gray">
          <a:xfrm flipH="1">
            <a:off x="4868863" y="3071813"/>
            <a:ext cx="909637" cy="1244600"/>
          </a:xfrm>
          <a:prstGeom prst="rect">
            <a:avLst/>
          </a:prstGeom>
          <a:noFill/>
          <a:ln w="9525">
            <a:noFill/>
            <a:miter lim="800000"/>
            <a:headEnd/>
            <a:tailEnd/>
          </a:ln>
        </p:spPr>
        <p:txBody>
          <a:bodyPr/>
          <a:lstStyle/>
          <a:p>
            <a:endParaRPr lang="zh-CN" altLang="en-US"/>
          </a:p>
        </p:txBody>
      </p:sp>
      <p:sp>
        <p:nvSpPr>
          <p:cNvPr id="68613" name="TextBox 1"/>
          <p:cNvSpPr txBox="1">
            <a:spLocks noChangeArrowheads="1"/>
          </p:cNvSpPr>
          <p:nvPr/>
        </p:nvSpPr>
        <p:spPr bwMode="auto">
          <a:xfrm>
            <a:off x="685800" y="1366838"/>
            <a:ext cx="7543800" cy="461962"/>
          </a:xfrm>
          <a:prstGeom prst="rect">
            <a:avLst/>
          </a:prstGeom>
          <a:noFill/>
          <a:ln w="9525">
            <a:noFill/>
            <a:miter lim="800000"/>
            <a:headEnd/>
            <a:tailEnd/>
          </a:ln>
        </p:spPr>
        <p:txBody>
          <a:bodyPr>
            <a:spAutoFit/>
          </a:bodyPr>
          <a:lstStyle/>
          <a:p>
            <a:pPr algn="ctr" eaLnBrk="0" hangingPunct="0"/>
            <a:endParaRPr lang="zh-CN" altLang="en-US" sz="2400">
              <a:solidFill>
                <a:schemeClr val="bg1"/>
              </a:solidFill>
            </a:endParaRPr>
          </a:p>
        </p:txBody>
      </p:sp>
      <p:sp>
        <p:nvSpPr>
          <p:cNvPr id="68614" name="Rectangle 2"/>
          <p:cNvSpPr txBox="1">
            <a:spLocks noChangeArrowheads="1"/>
          </p:cNvSpPr>
          <p:nvPr/>
        </p:nvSpPr>
        <p:spPr bwMode="gray">
          <a:xfrm>
            <a:off x="304800" y="1171575"/>
            <a:ext cx="7924800" cy="563563"/>
          </a:xfrm>
          <a:prstGeom prst="rect">
            <a:avLst/>
          </a:prstGeom>
          <a:noFill/>
          <a:ln w="9525">
            <a:noFill/>
            <a:miter lim="800000"/>
            <a:headEnd/>
            <a:tailEnd/>
          </a:ln>
        </p:spPr>
        <p:txBody>
          <a:bodyPr anchor="ctr"/>
          <a:lstStyle/>
          <a:p>
            <a:endParaRPr lang="en-US" altLang="zh-CN" sz="2400" b="1"/>
          </a:p>
        </p:txBody>
      </p:sp>
      <p:sp>
        <p:nvSpPr>
          <p:cNvPr id="68615" name="内容占位符 2"/>
          <p:cNvSpPr>
            <a:spLocks/>
          </p:cNvSpPr>
          <p:nvPr/>
        </p:nvSpPr>
        <p:spPr bwMode="auto">
          <a:xfrm>
            <a:off x="395288" y="1557338"/>
            <a:ext cx="8539162" cy="4800600"/>
          </a:xfrm>
          <a:prstGeom prst="rect">
            <a:avLst/>
          </a:prstGeom>
          <a:noFill/>
          <a:ln w="9525">
            <a:noFill/>
            <a:miter lim="800000"/>
            <a:headEnd/>
            <a:tailEnd/>
          </a:ln>
        </p:spPr>
        <p:txBody>
          <a:bodyPr/>
          <a:lstStyle/>
          <a:p>
            <a:pPr marL="273050" indent="-273050" eaLnBrk="0" hangingPunct="0">
              <a:spcBef>
                <a:spcPts val="600"/>
              </a:spcBef>
              <a:buClr>
                <a:schemeClr val="accent1"/>
              </a:buClr>
              <a:buSzPct val="80000"/>
              <a:buFont typeface="Wingdings 2" pitchFamily="18" charset="2"/>
              <a:buChar char=""/>
            </a:pPr>
            <a:r>
              <a:rPr lang="zh-CN" altLang="zh-CN" sz="2800">
                <a:latin typeface="Gill Sans MT" pitchFamily="34" charset="0"/>
                <a:ea typeface="华文中宋" pitchFamily="2" charset="-122"/>
              </a:rPr>
              <a:t>每一个文件都拆成固定大小的</a:t>
            </a:r>
            <a:r>
              <a:rPr lang="zh-CN" altLang="en-US" sz="2800">
                <a:latin typeface="Gill Sans MT" pitchFamily="34" charset="0"/>
                <a:ea typeface="华文中宋" pitchFamily="2" charset="-122"/>
              </a:rPr>
              <a:t>C</a:t>
            </a:r>
            <a:r>
              <a:rPr lang="en-US" altLang="zh-CN" sz="2800">
                <a:latin typeface="Gill Sans MT" pitchFamily="34" charset="0"/>
                <a:ea typeface="华文中宋" pitchFamily="2" charset="-122"/>
              </a:rPr>
              <a:t>hunk(</a:t>
            </a:r>
            <a:r>
              <a:rPr lang="zh-CN" altLang="zh-CN" sz="2800">
                <a:latin typeface="Gill Sans MT" pitchFamily="34" charset="0"/>
                <a:ea typeface="华文中宋" pitchFamily="2" charset="-122"/>
              </a:rPr>
              <a:t>块</a:t>
            </a:r>
            <a:r>
              <a:rPr lang="en-US" altLang="zh-CN" sz="2800">
                <a:latin typeface="Gill Sans MT" pitchFamily="34" charset="0"/>
                <a:ea typeface="华文中宋" pitchFamily="2" charset="-122"/>
              </a:rPr>
              <a:t>)</a:t>
            </a:r>
            <a:r>
              <a:rPr lang="zh-CN" altLang="en-US" sz="2800">
                <a:latin typeface="Gill Sans MT" pitchFamily="34" charset="0"/>
                <a:ea typeface="华文中宋" pitchFamily="2" charset="-122"/>
              </a:rPr>
              <a:t>，</a:t>
            </a:r>
            <a:r>
              <a:rPr lang="en-US" altLang="zh-CN" sz="2800">
                <a:latin typeface="Gill Sans MT" pitchFamily="34" charset="0"/>
                <a:ea typeface="华文中宋" pitchFamily="2" charset="-122"/>
              </a:rPr>
              <a:t>Chunksize </a:t>
            </a:r>
            <a:r>
              <a:rPr lang="zh-CN" altLang="en-US" sz="2800">
                <a:latin typeface="Gill Sans MT" pitchFamily="34" charset="0"/>
                <a:ea typeface="华文中宋" pitchFamily="2" charset="-122"/>
              </a:rPr>
              <a:t>是设计的关键参数，缺省是</a:t>
            </a:r>
            <a:r>
              <a:rPr lang="en-US" altLang="zh-CN" sz="2800">
                <a:latin typeface="Gill Sans MT" pitchFamily="34" charset="0"/>
                <a:ea typeface="华文中宋" pitchFamily="2" charset="-122"/>
              </a:rPr>
              <a:t>64M</a:t>
            </a:r>
          </a:p>
          <a:p>
            <a:pPr marL="742950" lvl="1" indent="-285750" eaLnBrk="0" hangingPunct="0">
              <a:spcBef>
                <a:spcPts val="550"/>
              </a:spcBef>
              <a:buClr>
                <a:schemeClr val="accent1"/>
              </a:buClr>
              <a:buFont typeface="Verdana" pitchFamily="34" charset="0"/>
              <a:buChar char="◦"/>
            </a:pPr>
            <a:r>
              <a:rPr lang="zh-CN" altLang="en-US" sz="2400">
                <a:latin typeface="Gill Sans MT" pitchFamily="34" charset="0"/>
                <a:ea typeface="华文中宋" pitchFamily="2" charset="-122"/>
              </a:rPr>
              <a:t>采用很大的</a:t>
            </a:r>
            <a:r>
              <a:rPr lang="en-US" altLang="zh-CN" sz="2400">
                <a:latin typeface="Gill Sans MT" pitchFamily="34" charset="0"/>
                <a:ea typeface="华文中宋" pitchFamily="2" charset="-122"/>
              </a:rPr>
              <a:t>Chunksize</a:t>
            </a:r>
            <a:r>
              <a:rPr lang="zh-CN" altLang="en-US" sz="2400">
                <a:latin typeface="Gill Sans MT" pitchFamily="34" charset="0"/>
                <a:ea typeface="华文中宋" pitchFamily="2" charset="-122"/>
              </a:rPr>
              <a:t>优点：</a:t>
            </a:r>
            <a:endParaRPr lang="en-US" altLang="zh-CN" sz="2400">
              <a:latin typeface="Gill Sans MT" pitchFamily="34" charset="0"/>
              <a:ea typeface="华文中宋" pitchFamily="2" charset="-122"/>
            </a:endParaRPr>
          </a:p>
          <a:p>
            <a:pPr marL="1143000" lvl="2" indent="-228600" eaLnBrk="0" hangingPunct="0">
              <a:spcBef>
                <a:spcPct val="20000"/>
              </a:spcBef>
              <a:buClr>
                <a:schemeClr val="accent2"/>
              </a:buClr>
              <a:buFont typeface="Wingdings 2" pitchFamily="18" charset="2"/>
              <a:buChar char=""/>
            </a:pPr>
            <a:r>
              <a:rPr lang="zh-CN" altLang="en-US" sz="2000">
                <a:latin typeface="Gill Sans MT" pitchFamily="34" charset="0"/>
                <a:ea typeface="华文中宋" pitchFamily="2" charset="-122"/>
              </a:rPr>
              <a:t>它减少了客户端和</a:t>
            </a:r>
            <a:r>
              <a:rPr lang="en-US" altLang="zh-CN" sz="2000">
                <a:latin typeface="Gill Sans MT" pitchFamily="34" charset="0"/>
                <a:ea typeface="华文中宋" pitchFamily="2" charset="-122"/>
              </a:rPr>
              <a:t>Master</a:t>
            </a:r>
            <a:r>
              <a:rPr lang="zh-CN" altLang="en-US" sz="2000">
                <a:latin typeface="Gill Sans MT" pitchFamily="34" charset="0"/>
                <a:ea typeface="华文中宋" pitchFamily="2" charset="-122"/>
              </a:rPr>
              <a:t>的交互。</a:t>
            </a:r>
            <a:endParaRPr lang="en-US" altLang="zh-CN" sz="2000">
              <a:latin typeface="Gill Sans MT" pitchFamily="34" charset="0"/>
              <a:ea typeface="华文中宋" pitchFamily="2" charset="-122"/>
            </a:endParaRPr>
          </a:p>
          <a:p>
            <a:pPr marL="1143000" lvl="2" indent="-228600" eaLnBrk="0" hangingPunct="0">
              <a:spcBef>
                <a:spcPct val="20000"/>
              </a:spcBef>
              <a:buClr>
                <a:schemeClr val="accent2"/>
              </a:buClr>
              <a:buFont typeface="Wingdings 2" pitchFamily="18" charset="2"/>
              <a:buChar char=""/>
            </a:pPr>
            <a:r>
              <a:rPr lang="zh-CN" altLang="en-US" sz="2000">
                <a:latin typeface="Gill Sans MT" pitchFamily="34" charset="0"/>
                <a:ea typeface="华文中宋" pitchFamily="2" charset="-122"/>
              </a:rPr>
              <a:t>减少网络管理量。</a:t>
            </a:r>
            <a:endParaRPr lang="en-US" altLang="zh-CN" sz="2000">
              <a:latin typeface="Gill Sans MT" pitchFamily="34" charset="0"/>
              <a:ea typeface="华文中宋" pitchFamily="2" charset="-122"/>
            </a:endParaRPr>
          </a:p>
          <a:p>
            <a:pPr marL="1143000" lvl="2" indent="-228600" eaLnBrk="0" hangingPunct="0">
              <a:spcBef>
                <a:spcPct val="20000"/>
              </a:spcBef>
              <a:buClr>
                <a:schemeClr val="accent2"/>
              </a:buClr>
              <a:buFont typeface="Wingdings 2" pitchFamily="18" charset="2"/>
              <a:buChar char=""/>
            </a:pPr>
            <a:r>
              <a:rPr lang="zh-CN" altLang="en-US" sz="2000">
                <a:latin typeface="Gill Sans MT" pitchFamily="34" charset="0"/>
                <a:ea typeface="华文中宋" pitchFamily="2" charset="-122"/>
              </a:rPr>
              <a:t>减少了元数据在</a:t>
            </a:r>
            <a:r>
              <a:rPr lang="en-US" altLang="zh-CN" sz="2000">
                <a:latin typeface="Gill Sans MT" pitchFamily="34" charset="0"/>
                <a:ea typeface="华文中宋" pitchFamily="2" charset="-122"/>
              </a:rPr>
              <a:t>Master</a:t>
            </a:r>
            <a:r>
              <a:rPr lang="zh-CN" altLang="en-US" sz="2000">
                <a:latin typeface="Gill Sans MT" pitchFamily="34" charset="0"/>
                <a:ea typeface="华文中宋" pitchFamily="2" charset="-122"/>
              </a:rPr>
              <a:t>上的大小。</a:t>
            </a:r>
            <a:endParaRPr lang="en-US" altLang="zh-CN" sz="2000">
              <a:latin typeface="Gill Sans MT" pitchFamily="34" charset="0"/>
              <a:ea typeface="华文中宋" pitchFamily="2" charset="-122"/>
            </a:endParaRPr>
          </a:p>
          <a:p>
            <a:pPr marL="742950" lvl="1" indent="-285750" eaLnBrk="0" hangingPunct="0">
              <a:spcBef>
                <a:spcPts val="550"/>
              </a:spcBef>
              <a:buClr>
                <a:schemeClr val="accent1"/>
              </a:buClr>
              <a:buFont typeface="Verdana" pitchFamily="34" charset="0"/>
              <a:buChar char="◦"/>
            </a:pPr>
            <a:r>
              <a:rPr lang="zh-CN" altLang="en-US" sz="2400">
                <a:latin typeface="Gill Sans MT" pitchFamily="34" charset="0"/>
                <a:ea typeface="华文中宋" pitchFamily="2" charset="-122"/>
              </a:rPr>
              <a:t>采用很大的</a:t>
            </a:r>
            <a:r>
              <a:rPr lang="en-US" altLang="zh-CN" sz="2400">
                <a:latin typeface="Gill Sans MT" pitchFamily="34" charset="0"/>
                <a:ea typeface="华文中宋" pitchFamily="2" charset="-122"/>
              </a:rPr>
              <a:t>Chunksize</a:t>
            </a:r>
            <a:r>
              <a:rPr lang="zh-CN" altLang="en-US" sz="2400">
                <a:latin typeface="Gill Sans MT" pitchFamily="34" charset="0"/>
                <a:ea typeface="华文中宋" pitchFamily="2" charset="-122"/>
              </a:rPr>
              <a:t>缺点：</a:t>
            </a:r>
            <a:endParaRPr lang="en-US" altLang="zh-CN" sz="2400">
              <a:latin typeface="Gill Sans MT" pitchFamily="34" charset="0"/>
              <a:ea typeface="华文中宋" pitchFamily="2" charset="-122"/>
            </a:endParaRPr>
          </a:p>
          <a:p>
            <a:pPr marL="1143000" lvl="2" indent="-228600" eaLnBrk="0" hangingPunct="0">
              <a:spcBef>
                <a:spcPct val="20000"/>
              </a:spcBef>
              <a:buClr>
                <a:schemeClr val="accent2"/>
              </a:buClr>
              <a:buFont typeface="Wingdings 2" pitchFamily="18" charset="2"/>
              <a:buChar char=""/>
            </a:pPr>
            <a:r>
              <a:rPr lang="zh-CN" altLang="en-US" sz="2000">
                <a:latin typeface="Gill Sans MT" pitchFamily="34" charset="0"/>
                <a:ea typeface="华文中宋" pitchFamily="2" charset="-122"/>
              </a:rPr>
              <a:t>小型文件包含较少数目的</a:t>
            </a:r>
            <a:r>
              <a:rPr lang="en-US" altLang="zh-CN" sz="2000">
                <a:latin typeface="Gill Sans MT" pitchFamily="34" charset="0"/>
                <a:ea typeface="华文中宋" pitchFamily="2" charset="-122"/>
              </a:rPr>
              <a:t>Chunk</a:t>
            </a:r>
            <a:r>
              <a:rPr lang="zh-CN" altLang="en-US" sz="2000">
                <a:latin typeface="Gill Sans MT" pitchFamily="34" charset="0"/>
                <a:ea typeface="华文中宋" pitchFamily="2" charset="-122"/>
              </a:rPr>
              <a:t>，也许只有一个</a:t>
            </a:r>
            <a:r>
              <a:rPr lang="en-US" altLang="zh-CN" sz="2000">
                <a:latin typeface="Gill Sans MT" pitchFamily="34" charset="0"/>
                <a:ea typeface="华文中宋" pitchFamily="2" charset="-122"/>
              </a:rPr>
              <a:t>Chunk</a:t>
            </a:r>
            <a:r>
              <a:rPr lang="zh-CN" altLang="en-US" sz="2000">
                <a:latin typeface="Gill Sans MT" pitchFamily="34" charset="0"/>
                <a:ea typeface="华文中宋" pitchFamily="2" charset="-122"/>
              </a:rPr>
              <a:t>。</a:t>
            </a:r>
          </a:p>
          <a:p>
            <a:pPr marL="1143000" lvl="2" indent="-228600" eaLnBrk="0" hangingPunct="0">
              <a:spcBef>
                <a:spcPct val="20000"/>
              </a:spcBef>
              <a:buClr>
                <a:schemeClr val="accent2"/>
              </a:buClr>
              <a:buFont typeface="Wingdings 2" pitchFamily="18" charset="2"/>
              <a:buChar char=""/>
            </a:pPr>
            <a:r>
              <a:rPr lang="zh-CN" altLang="en-US" sz="2000">
                <a:latin typeface="Gill Sans MT" pitchFamily="34" charset="0"/>
                <a:ea typeface="华文中宋" pitchFamily="2" charset="-122"/>
              </a:rPr>
              <a:t>保存这些文件的</a:t>
            </a:r>
            <a:r>
              <a:rPr lang="en-US" altLang="zh-CN" sz="2000">
                <a:latin typeface="Gill Sans MT" pitchFamily="34" charset="0"/>
                <a:ea typeface="华文中宋" pitchFamily="2" charset="-122"/>
              </a:rPr>
              <a:t>Chunkserver</a:t>
            </a:r>
            <a:r>
              <a:rPr lang="zh-CN" altLang="en-US" sz="2000">
                <a:latin typeface="Gill Sans MT" pitchFamily="34" charset="0"/>
                <a:ea typeface="华文中宋" pitchFamily="2" charset="-122"/>
              </a:rPr>
              <a:t>就会在大量客户端访问的时候成为焦点，导致系统局部过载。</a:t>
            </a:r>
            <a:endParaRPr lang="en-US" altLang="zh-CN" sz="2000">
              <a:latin typeface="Gill Sans MT" pitchFamily="34" charset="0"/>
              <a:ea typeface="华文中宋" pitchFamily="2" charset="-122"/>
            </a:endParaRPr>
          </a:p>
          <a:p>
            <a:pPr marL="1143000" lvl="2" indent="-228600" eaLnBrk="0" hangingPunct="0">
              <a:buSzPct val="70000"/>
              <a:buFont typeface="Wingdings" pitchFamily="2" charset="2"/>
              <a:buChar char="l"/>
            </a:pPr>
            <a:endParaRPr lang="zh-CN" altLang="en-US" sz="2000">
              <a:latin typeface="Gill Sans MT" pitchFamily="34" charset="0"/>
              <a:ea typeface="华文中宋" pitchFamily="2"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9"/>
          <p:cNvSpPr>
            <a:spLocks noGrp="1"/>
          </p:cNvSpPr>
          <p:nvPr>
            <p:ph type="sldNum" sz="quarter" idx="12"/>
          </p:nvPr>
        </p:nvSpPr>
        <p:spPr/>
        <p:txBody>
          <a:bodyPr/>
          <a:lstStyle/>
          <a:p>
            <a:pPr>
              <a:defRPr/>
            </a:pPr>
            <a:fld id="{0077ADAC-6D48-4609-9470-9D4E8581C485}" type="slidenum">
              <a:rPr lang="zh-CN" altLang="en-US"/>
              <a:pPr>
                <a:defRPr/>
              </a:pPr>
              <a:t>67</a:t>
            </a:fld>
            <a:endParaRPr lang="zh-CN" altLang="en-US"/>
          </a:p>
        </p:txBody>
      </p:sp>
      <p:sp>
        <p:nvSpPr>
          <p:cNvPr id="69635" name="Rectangle 2"/>
          <p:cNvSpPr>
            <a:spLocks noGrp="1" noChangeArrowheads="1"/>
          </p:cNvSpPr>
          <p:nvPr>
            <p:ph type="title" idx="4294967295"/>
          </p:nvPr>
        </p:nvSpPr>
        <p:spPr/>
        <p:txBody>
          <a:bodyPr/>
          <a:lstStyle/>
          <a:p>
            <a:pPr eaLnBrk="1" hangingPunct="1"/>
            <a:r>
              <a:rPr lang="en-US" altLang="zh-CN" sz="3900" smtClean="0">
                <a:ea typeface="宋体" pitchFamily="2" charset="-122"/>
              </a:rPr>
              <a:t>Client</a:t>
            </a:r>
          </a:p>
        </p:txBody>
      </p:sp>
      <p:sp>
        <p:nvSpPr>
          <p:cNvPr id="69636" name="AutoShape 3"/>
          <p:cNvSpPr>
            <a:spLocks noChangeAspect="1" noChangeArrowheads="1" noTextEdit="1"/>
          </p:cNvSpPr>
          <p:nvPr/>
        </p:nvSpPr>
        <p:spPr bwMode="gray">
          <a:xfrm flipH="1">
            <a:off x="4868863" y="3071813"/>
            <a:ext cx="909637" cy="1244600"/>
          </a:xfrm>
          <a:prstGeom prst="rect">
            <a:avLst/>
          </a:prstGeom>
          <a:noFill/>
          <a:ln w="9525">
            <a:noFill/>
            <a:miter lim="800000"/>
            <a:headEnd/>
            <a:tailEnd/>
          </a:ln>
        </p:spPr>
        <p:txBody>
          <a:bodyPr/>
          <a:lstStyle/>
          <a:p>
            <a:endParaRPr lang="zh-CN" altLang="en-US"/>
          </a:p>
        </p:txBody>
      </p:sp>
      <p:sp>
        <p:nvSpPr>
          <p:cNvPr id="69637" name="TextBox 2"/>
          <p:cNvSpPr txBox="1">
            <a:spLocks noChangeArrowheads="1"/>
          </p:cNvSpPr>
          <p:nvPr/>
        </p:nvSpPr>
        <p:spPr bwMode="auto">
          <a:xfrm>
            <a:off x="1692275" y="3644900"/>
            <a:ext cx="8610600" cy="457200"/>
          </a:xfrm>
          <a:prstGeom prst="rect">
            <a:avLst/>
          </a:prstGeom>
          <a:noFill/>
          <a:ln w="9525">
            <a:noFill/>
            <a:miter lim="800000"/>
            <a:headEnd/>
            <a:tailEnd/>
          </a:ln>
        </p:spPr>
        <p:txBody>
          <a:bodyPr>
            <a:spAutoFit/>
          </a:bodyPr>
          <a:lstStyle/>
          <a:p>
            <a:pPr eaLnBrk="0" hangingPunct="0"/>
            <a:r>
              <a:rPr lang="en-US" altLang="zh-CN" sz="2400"/>
              <a:t>     </a:t>
            </a:r>
          </a:p>
        </p:txBody>
      </p:sp>
      <p:sp>
        <p:nvSpPr>
          <p:cNvPr id="69638" name="内容占位符 2"/>
          <p:cNvSpPr>
            <a:spLocks/>
          </p:cNvSpPr>
          <p:nvPr/>
        </p:nvSpPr>
        <p:spPr bwMode="auto">
          <a:xfrm>
            <a:off x="395288" y="1557338"/>
            <a:ext cx="8539162" cy="4800600"/>
          </a:xfrm>
          <a:prstGeom prst="rect">
            <a:avLst/>
          </a:prstGeom>
          <a:noFill/>
          <a:ln w="9525">
            <a:noFill/>
            <a:miter lim="800000"/>
            <a:headEnd/>
            <a:tailEnd/>
          </a:ln>
        </p:spPr>
        <p:txBody>
          <a:bodyPr/>
          <a:lstStyle/>
          <a:p>
            <a:pPr marL="273050" indent="-273050" eaLnBrk="0" hangingPunct="0">
              <a:spcBef>
                <a:spcPts val="600"/>
              </a:spcBef>
              <a:buClr>
                <a:schemeClr val="accent1"/>
              </a:buClr>
              <a:buSzPct val="80000"/>
              <a:buFont typeface="Wingdings 2" pitchFamily="18" charset="2"/>
              <a:buChar char=""/>
            </a:pPr>
            <a:r>
              <a:rPr lang="en-US" altLang="zh-CN" sz="2800">
                <a:latin typeface="Gill Sans MT" pitchFamily="34" charset="0"/>
                <a:ea typeface="华文中宋" pitchFamily="2" charset="-122"/>
              </a:rPr>
              <a:t>Client</a:t>
            </a:r>
            <a:r>
              <a:rPr lang="zh-CN" altLang="en-US" sz="2800">
                <a:latin typeface="Gill Sans MT" pitchFamily="34" charset="0"/>
                <a:ea typeface="华文中宋" pitchFamily="2" charset="-122"/>
              </a:rPr>
              <a:t>代码包含了</a:t>
            </a:r>
            <a:r>
              <a:rPr lang="en-US" altLang="zh-CN" sz="2800">
                <a:latin typeface="Gill Sans MT" pitchFamily="34" charset="0"/>
                <a:ea typeface="华文中宋" pitchFamily="2" charset="-122"/>
              </a:rPr>
              <a:t>GFS</a:t>
            </a:r>
            <a:r>
              <a:rPr lang="zh-CN" altLang="en-US" sz="2800">
                <a:latin typeface="Gill Sans MT" pitchFamily="34" charset="0"/>
                <a:ea typeface="华文中宋" pitchFamily="2" charset="-122"/>
              </a:rPr>
              <a:t>的</a:t>
            </a:r>
            <a:r>
              <a:rPr lang="en-US" altLang="zh-CN" sz="2800">
                <a:latin typeface="Gill Sans MT" pitchFamily="34" charset="0"/>
                <a:ea typeface="华文中宋" pitchFamily="2" charset="-122"/>
              </a:rPr>
              <a:t>API</a:t>
            </a:r>
            <a:r>
              <a:rPr lang="zh-CN" altLang="en-US" sz="2800">
                <a:latin typeface="Gill Sans MT" pitchFamily="34" charset="0"/>
                <a:ea typeface="华文中宋" pitchFamily="2" charset="-122"/>
              </a:rPr>
              <a:t>，与</a:t>
            </a:r>
            <a:r>
              <a:rPr lang="en-US" altLang="zh-CN" sz="2800">
                <a:latin typeface="Gill Sans MT" pitchFamily="34" charset="0"/>
                <a:ea typeface="华文中宋" pitchFamily="2" charset="-122"/>
              </a:rPr>
              <a:t>Master</a:t>
            </a:r>
            <a:r>
              <a:rPr lang="zh-CN" altLang="en-US" sz="2800">
                <a:latin typeface="Gill Sans MT" pitchFamily="34" charset="0"/>
                <a:ea typeface="华文中宋" pitchFamily="2" charset="-122"/>
              </a:rPr>
              <a:t>和</a:t>
            </a:r>
            <a:r>
              <a:rPr lang="en-US" altLang="zh-CN" sz="2800">
                <a:latin typeface="Gill Sans MT" pitchFamily="34" charset="0"/>
                <a:ea typeface="华文中宋" pitchFamily="2" charset="-122"/>
              </a:rPr>
              <a:t>        ChunkServer</a:t>
            </a:r>
            <a:r>
              <a:rPr lang="zh-CN" altLang="en-US" sz="2800">
                <a:latin typeface="Gill Sans MT" pitchFamily="34" charset="0"/>
                <a:ea typeface="华文中宋" pitchFamily="2" charset="-122"/>
              </a:rPr>
              <a:t>进行通信。</a:t>
            </a:r>
            <a:endParaRPr lang="en-US" altLang="zh-CN" sz="2800">
              <a:latin typeface="Gill Sans MT" pitchFamily="34" charset="0"/>
              <a:ea typeface="华文中宋" pitchFamily="2" charset="-122"/>
            </a:endParaRPr>
          </a:p>
          <a:p>
            <a:pPr marL="742950" lvl="1" indent="-285750" eaLnBrk="0" hangingPunct="0">
              <a:spcBef>
                <a:spcPts val="550"/>
              </a:spcBef>
              <a:buClr>
                <a:schemeClr val="accent1"/>
              </a:buClr>
              <a:buFont typeface="Verdana" pitchFamily="34" charset="0"/>
              <a:buChar char="◦"/>
            </a:pPr>
            <a:r>
              <a:rPr lang="en-US" altLang="zh-CN" sz="2400">
                <a:latin typeface="Gill Sans MT" pitchFamily="34" charset="0"/>
                <a:ea typeface="华文中宋" pitchFamily="2" charset="-122"/>
              </a:rPr>
              <a:t>Client</a:t>
            </a:r>
            <a:r>
              <a:rPr lang="zh-CN" altLang="en-US" sz="2400">
                <a:latin typeface="Gill Sans MT" pitchFamily="34" charset="0"/>
                <a:ea typeface="华文中宋" pitchFamily="2" charset="-122"/>
              </a:rPr>
              <a:t>和</a:t>
            </a:r>
            <a:r>
              <a:rPr lang="en-US" altLang="zh-CN" sz="2400">
                <a:latin typeface="Gill Sans MT" pitchFamily="34" charset="0"/>
                <a:ea typeface="华文中宋" pitchFamily="2" charset="-122"/>
              </a:rPr>
              <a:t>Master</a:t>
            </a:r>
            <a:r>
              <a:rPr lang="zh-CN" altLang="en-US" sz="2400">
                <a:latin typeface="Gill Sans MT" pitchFamily="34" charset="0"/>
                <a:ea typeface="华文中宋" pitchFamily="2" charset="-122"/>
              </a:rPr>
              <a:t>通信，获取元数据信息。</a:t>
            </a:r>
            <a:r>
              <a:rPr lang="en-US" altLang="zh-CN" sz="2400">
                <a:latin typeface="Gill Sans MT" pitchFamily="34" charset="0"/>
                <a:ea typeface="华文中宋" pitchFamily="2" charset="-122"/>
              </a:rPr>
              <a:t>Client</a:t>
            </a:r>
            <a:r>
              <a:rPr lang="zh-CN" altLang="en-US" sz="2400">
                <a:latin typeface="Gill Sans MT" pitchFamily="34" charset="0"/>
                <a:ea typeface="华文中宋" pitchFamily="2" charset="-122"/>
              </a:rPr>
              <a:t>会缓存从</a:t>
            </a:r>
            <a:r>
              <a:rPr lang="en-US" altLang="zh-CN" sz="2400">
                <a:latin typeface="Gill Sans MT" pitchFamily="34" charset="0"/>
                <a:ea typeface="华文中宋" pitchFamily="2" charset="-122"/>
              </a:rPr>
              <a:t>Master</a:t>
            </a:r>
            <a:r>
              <a:rPr lang="zh-CN" altLang="en-US" sz="2400">
                <a:latin typeface="Gill Sans MT" pitchFamily="34" charset="0"/>
                <a:ea typeface="华文中宋" pitchFamily="2" charset="-122"/>
              </a:rPr>
              <a:t>获取的元数据信息，以便对同一文件块的操作不再通过</a:t>
            </a:r>
            <a:r>
              <a:rPr lang="en-US" altLang="zh-CN" sz="2400">
                <a:latin typeface="Gill Sans MT" pitchFamily="34" charset="0"/>
                <a:ea typeface="华文中宋" pitchFamily="2" charset="-122"/>
              </a:rPr>
              <a:t>client-master</a:t>
            </a:r>
            <a:r>
              <a:rPr lang="zh-CN" altLang="en-US" sz="2400">
                <a:latin typeface="Gill Sans MT" pitchFamily="34" charset="0"/>
                <a:ea typeface="华文中宋" pitchFamily="2" charset="-122"/>
              </a:rPr>
              <a:t>交互。</a:t>
            </a:r>
            <a:r>
              <a:rPr lang="en-US" altLang="zh-CN" sz="2400">
                <a:latin typeface="Gill Sans MT" pitchFamily="34" charset="0"/>
                <a:ea typeface="华文中宋" pitchFamily="2" charset="-122"/>
              </a:rPr>
              <a:t>(</a:t>
            </a:r>
            <a:r>
              <a:rPr lang="zh-CN" altLang="en-US" sz="2400">
                <a:latin typeface="Gill Sans MT" pitchFamily="34" charset="0"/>
                <a:ea typeface="华文中宋" pitchFamily="2" charset="-122"/>
              </a:rPr>
              <a:t>除非</a:t>
            </a:r>
            <a:r>
              <a:rPr lang="en-US" altLang="zh-CN" sz="2400">
                <a:latin typeface="Gill Sans MT" pitchFamily="34" charset="0"/>
                <a:ea typeface="华文中宋" pitchFamily="2" charset="-122"/>
              </a:rPr>
              <a:t>cache</a:t>
            </a:r>
            <a:r>
              <a:rPr lang="zh-CN" altLang="en-US" sz="2400">
                <a:latin typeface="Gill Sans MT" pitchFamily="34" charset="0"/>
                <a:ea typeface="华文中宋" pitchFamily="2" charset="-122"/>
              </a:rPr>
              <a:t>过期或这个文件被再次打开。</a:t>
            </a:r>
            <a:endParaRPr lang="en-US" altLang="zh-CN" sz="2400">
              <a:latin typeface="Gill Sans MT" pitchFamily="34" charset="0"/>
              <a:ea typeface="华文中宋" pitchFamily="2" charset="-122"/>
            </a:endParaRPr>
          </a:p>
          <a:p>
            <a:pPr marL="742950" lvl="1" indent="-285750" eaLnBrk="0" hangingPunct="0">
              <a:spcBef>
                <a:spcPts val="550"/>
              </a:spcBef>
              <a:buClr>
                <a:schemeClr val="accent1"/>
              </a:buClr>
              <a:buFont typeface="Verdana" pitchFamily="34" charset="0"/>
              <a:buChar char="◦"/>
            </a:pPr>
            <a:r>
              <a:rPr lang="en-US" altLang="zh-CN" sz="2400">
                <a:latin typeface="Gill Sans MT" pitchFamily="34" charset="0"/>
                <a:ea typeface="华文中宋" pitchFamily="2" charset="-122"/>
              </a:rPr>
              <a:t>Client</a:t>
            </a:r>
            <a:r>
              <a:rPr lang="zh-CN" altLang="en-US" sz="2400">
                <a:latin typeface="Gill Sans MT" pitchFamily="34" charset="0"/>
                <a:ea typeface="华文中宋" pitchFamily="2" charset="-122"/>
              </a:rPr>
              <a:t>和</a:t>
            </a:r>
            <a:r>
              <a:rPr lang="en-US" altLang="zh-CN" sz="2400">
                <a:latin typeface="Gill Sans MT" pitchFamily="34" charset="0"/>
                <a:ea typeface="华文中宋" pitchFamily="2" charset="-122"/>
              </a:rPr>
              <a:t>ChunkServer</a:t>
            </a:r>
            <a:r>
              <a:rPr lang="zh-CN" altLang="en-US" sz="2400">
                <a:latin typeface="Gill Sans MT" pitchFamily="34" charset="0"/>
                <a:ea typeface="华文中宋" pitchFamily="2" charset="-122"/>
              </a:rPr>
              <a:t>通信，获取文件数据。</a:t>
            </a:r>
            <a:r>
              <a:rPr lang="en-US" altLang="zh-CN" sz="2400">
                <a:latin typeface="Gill Sans MT" pitchFamily="34" charset="0"/>
                <a:ea typeface="华文中宋" pitchFamily="2" charset="-122"/>
              </a:rPr>
              <a:t>Client</a:t>
            </a:r>
            <a:r>
              <a:rPr lang="zh-CN" altLang="zh-CN" sz="2400">
                <a:latin typeface="Gill Sans MT" pitchFamily="34" charset="0"/>
                <a:ea typeface="华文中宋" pitchFamily="2" charset="-122"/>
              </a:rPr>
              <a:t>所有</a:t>
            </a:r>
            <a:r>
              <a:rPr lang="zh-CN" altLang="en-US" sz="2400">
                <a:latin typeface="Gill Sans MT" pitchFamily="34" charset="0"/>
                <a:ea typeface="华文中宋" pitchFamily="2" charset="-122"/>
              </a:rPr>
              <a:t>与</a:t>
            </a:r>
            <a:r>
              <a:rPr lang="zh-CN" altLang="zh-CN" sz="2400">
                <a:latin typeface="Gill Sans MT" pitchFamily="34" charset="0"/>
                <a:ea typeface="华文中宋" pitchFamily="2" charset="-122"/>
              </a:rPr>
              <a:t>数据相关的通</a:t>
            </a:r>
            <a:r>
              <a:rPr lang="zh-CN" altLang="en-US" sz="2400">
                <a:latin typeface="Gill Sans MT" pitchFamily="34" charset="0"/>
                <a:ea typeface="华文中宋" pitchFamily="2" charset="-122"/>
              </a:rPr>
              <a:t>信</a:t>
            </a:r>
            <a:r>
              <a:rPr lang="zh-CN" altLang="zh-CN" sz="2400">
                <a:latin typeface="Gill Sans MT" pitchFamily="34" charset="0"/>
                <a:ea typeface="华文中宋" pitchFamily="2" charset="-122"/>
              </a:rPr>
              <a:t>直接和</a:t>
            </a:r>
            <a:r>
              <a:rPr lang="zh-CN" altLang="en-US" sz="2400">
                <a:latin typeface="Gill Sans MT" pitchFamily="34" charset="0"/>
                <a:ea typeface="华文中宋" pitchFamily="2" charset="-122"/>
              </a:rPr>
              <a:t>C</a:t>
            </a:r>
            <a:r>
              <a:rPr lang="en-US" altLang="zh-CN" sz="2400">
                <a:latin typeface="Gill Sans MT" pitchFamily="34" charset="0"/>
                <a:ea typeface="华文中宋" pitchFamily="2" charset="-122"/>
              </a:rPr>
              <a:t>hunkServer</a:t>
            </a:r>
            <a:r>
              <a:rPr lang="zh-CN" altLang="zh-CN" sz="2400">
                <a:latin typeface="Gill Sans MT" pitchFamily="34" charset="0"/>
                <a:ea typeface="华文中宋" pitchFamily="2" charset="-122"/>
              </a:rPr>
              <a:t>进行</a:t>
            </a:r>
            <a:r>
              <a:rPr lang="zh-CN" altLang="en-US" sz="2400">
                <a:latin typeface="Gill Sans MT" pitchFamily="34" charset="0"/>
                <a:ea typeface="华文中宋" pitchFamily="2" charset="-122"/>
              </a:rPr>
              <a:t>，但是不会缓存文件数据。</a:t>
            </a:r>
            <a:endParaRPr lang="en-US" altLang="zh-CN" sz="2400">
              <a:latin typeface="Gill Sans MT" pitchFamily="34" charset="0"/>
              <a:ea typeface="华文中宋" pitchFamily="2" charset="-122"/>
            </a:endParaRPr>
          </a:p>
          <a:p>
            <a:pPr marL="742950" lvl="1" indent="-285750" eaLnBrk="0" hangingPunct="0">
              <a:spcBef>
                <a:spcPts val="550"/>
              </a:spcBef>
              <a:buClr>
                <a:schemeClr val="accent1"/>
              </a:buClr>
              <a:buFont typeface="Verdana" pitchFamily="34" charset="0"/>
              <a:buChar char="◦"/>
            </a:pPr>
            <a:endParaRPr lang="en-US" altLang="zh-CN" sz="2400">
              <a:latin typeface="Gill Sans MT" pitchFamily="34" charset="0"/>
              <a:ea typeface="华文中宋" pitchFamily="2" charset="-122"/>
            </a:endParaRPr>
          </a:p>
          <a:p>
            <a:pPr marL="742950" lvl="1" indent="-285750" eaLnBrk="0" hangingPunct="0">
              <a:buSzPct val="70000"/>
            </a:pPr>
            <a:endParaRPr lang="zh-CN" altLang="en-US" sz="2400">
              <a:latin typeface="Gill Sans MT" pitchFamily="34" charset="0"/>
              <a:ea typeface="华文中宋" pitchFamily="2"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D87D44C1-246B-4EB4-8244-773A2798715B}" type="slidenum">
              <a:rPr lang="zh-CN" altLang="en-US"/>
              <a:pPr>
                <a:defRPr/>
              </a:pPr>
              <a:t>68</a:t>
            </a:fld>
            <a:endParaRPr lang="zh-CN" altLang="en-US"/>
          </a:p>
        </p:txBody>
      </p:sp>
      <p:sp>
        <p:nvSpPr>
          <p:cNvPr id="70659" name="标题 1"/>
          <p:cNvSpPr>
            <a:spLocks noGrp="1"/>
          </p:cNvSpPr>
          <p:nvPr>
            <p:ph type="title" idx="4294967295"/>
          </p:nvPr>
        </p:nvSpPr>
        <p:spPr/>
        <p:txBody>
          <a:bodyPr lIns="0" rIns="0" bIns="0" anchor="b"/>
          <a:lstStyle/>
          <a:p>
            <a:r>
              <a:rPr lang="zh-CN" altLang="en-US" smtClean="0"/>
              <a:t>系统交互</a:t>
            </a:r>
          </a:p>
        </p:txBody>
      </p:sp>
      <p:sp>
        <p:nvSpPr>
          <p:cNvPr id="70660" name="内容占位符 2"/>
          <p:cNvSpPr>
            <a:spLocks noGrp="1"/>
          </p:cNvSpPr>
          <p:nvPr>
            <p:ph idx="4294967295"/>
          </p:nvPr>
        </p:nvSpPr>
        <p:spPr>
          <a:xfrm>
            <a:off x="395288" y="1700213"/>
            <a:ext cx="8539162" cy="4348162"/>
          </a:xfrm>
        </p:spPr>
        <p:txBody>
          <a:bodyPr/>
          <a:lstStyle/>
          <a:p>
            <a:pPr marL="273050" indent="-273050" algn="just"/>
            <a:r>
              <a:rPr lang="zh-CN" altLang="en-US" smtClean="0"/>
              <a:t>租约和变更顺序</a:t>
            </a:r>
          </a:p>
          <a:p>
            <a:pPr marL="742950" lvl="1" indent="-285750" algn="just"/>
            <a:r>
              <a:rPr lang="zh-CN" altLang="en-US" smtClean="0"/>
              <a:t>变更是一个会改变</a:t>
            </a:r>
            <a:r>
              <a:rPr lang="en-US" altLang="zh-CN" smtClean="0"/>
              <a:t>Chunk</a:t>
            </a:r>
            <a:r>
              <a:rPr lang="zh-CN" altLang="en-US" smtClean="0"/>
              <a:t>内容或者元数据的操作，如写入操作。变更操作会在</a:t>
            </a:r>
            <a:r>
              <a:rPr lang="en-US" altLang="zh-CN" smtClean="0"/>
              <a:t>Chunk</a:t>
            </a:r>
            <a:r>
              <a:rPr lang="zh-CN" altLang="en-US" smtClean="0"/>
              <a:t>的所有副本上执行。</a:t>
            </a:r>
          </a:p>
          <a:p>
            <a:pPr marL="742950" lvl="1" indent="-285750" algn="just"/>
            <a:r>
              <a:rPr lang="en-US" altLang="zh-CN" smtClean="0"/>
              <a:t>GFS</a:t>
            </a:r>
            <a:r>
              <a:rPr lang="zh-CN" altLang="en-US" smtClean="0"/>
              <a:t>使用租约机制来保持多个副本间变更顺序的一致性。</a:t>
            </a:r>
            <a:r>
              <a:rPr lang="en-US" altLang="zh-CN" smtClean="0"/>
              <a:t>Master</a:t>
            </a:r>
            <a:r>
              <a:rPr lang="zh-CN" altLang="en-US" smtClean="0"/>
              <a:t>赋予其中一个副本一个租约，我们把这个副本叫做主块（</a:t>
            </a:r>
            <a:r>
              <a:rPr lang="en-US" altLang="zh-CN" smtClean="0"/>
              <a:t>primary)</a:t>
            </a:r>
            <a:r>
              <a:rPr lang="zh-CN" altLang="en-US" smtClean="0"/>
              <a:t>。主块选择对块所有操作的一系列顺序，进行操作的时候所有的副本遵从这个顺序。</a:t>
            </a:r>
          </a:p>
          <a:p>
            <a:pPr marL="742950" lvl="1" indent="-285750" algn="just"/>
            <a:r>
              <a:rPr lang="zh-CN" altLang="en-US" smtClean="0"/>
              <a:t>租约的设计机制是为了最小化主服务器的管理负载，其初始超时值是</a:t>
            </a:r>
            <a:r>
              <a:rPr lang="en-US" altLang="zh-CN" smtClean="0"/>
              <a:t>60</a:t>
            </a:r>
            <a:r>
              <a:rPr lang="zh-CN" altLang="en-US" smtClean="0"/>
              <a:t>秒。如果一个块将要被更改，那么主块可以请求更长的租期，额外的租期的请求和回复都在心跳报文中承载。</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9"/>
          <p:cNvSpPr>
            <a:spLocks noGrp="1"/>
          </p:cNvSpPr>
          <p:nvPr>
            <p:ph type="sldNum" sz="quarter" idx="12"/>
          </p:nvPr>
        </p:nvSpPr>
        <p:spPr/>
        <p:txBody>
          <a:bodyPr/>
          <a:lstStyle/>
          <a:p>
            <a:pPr>
              <a:defRPr/>
            </a:pPr>
            <a:fld id="{720416E4-DE02-4065-913E-A2A8599DF964}" type="slidenum">
              <a:rPr lang="zh-CN" altLang="en-US"/>
              <a:pPr>
                <a:defRPr/>
              </a:pPr>
              <a:t>69</a:t>
            </a:fld>
            <a:endParaRPr lang="zh-CN" altLang="en-US"/>
          </a:p>
        </p:txBody>
      </p:sp>
      <p:sp>
        <p:nvSpPr>
          <p:cNvPr id="71683" name="标题 1"/>
          <p:cNvSpPr>
            <a:spLocks noGrp="1"/>
          </p:cNvSpPr>
          <p:nvPr>
            <p:ph type="title" idx="4294967295"/>
          </p:nvPr>
        </p:nvSpPr>
        <p:spPr>
          <a:xfrm>
            <a:off x="323850" y="6021388"/>
            <a:ext cx="8229600" cy="422275"/>
          </a:xfrm>
        </p:spPr>
        <p:txBody>
          <a:bodyPr lIns="0" rIns="0" bIns="0" anchor="b"/>
          <a:lstStyle/>
          <a:p>
            <a:pPr algn="ctr"/>
            <a:r>
              <a:rPr lang="zh-CN" altLang="en-US" sz="1900" smtClean="0">
                <a:solidFill>
                  <a:schemeClr val="tx1"/>
                </a:solidFill>
                <a:latin typeface="Times New Roman" pitchFamily="18" charset="0"/>
                <a:cs typeface="Times New Roman" pitchFamily="18" charset="0"/>
              </a:rPr>
              <a:t>写操作控制流程图</a:t>
            </a:r>
          </a:p>
        </p:txBody>
      </p:sp>
      <p:pic>
        <p:nvPicPr>
          <p:cNvPr id="71684" name="Picture 2"/>
          <p:cNvPicPr>
            <a:picLocks noGrp="1" noChangeAspect="1" noChangeArrowheads="1"/>
          </p:cNvPicPr>
          <p:nvPr>
            <p:ph idx="4294967295"/>
          </p:nvPr>
        </p:nvPicPr>
        <p:blipFill>
          <a:blip r:embed="rId2" cstate="print"/>
          <a:srcRect l="12064" t="27470" r="54102" b="26596"/>
          <a:stretch>
            <a:fillRect/>
          </a:stretch>
        </p:blipFill>
        <p:spPr>
          <a:xfrm>
            <a:off x="0" y="1268413"/>
            <a:ext cx="4643438" cy="4465637"/>
          </a:xfrm>
        </p:spPr>
      </p:pic>
      <p:pic>
        <p:nvPicPr>
          <p:cNvPr id="71685" name="Picture 2"/>
          <p:cNvPicPr>
            <a:picLocks noChangeAspect="1" noChangeArrowheads="1"/>
          </p:cNvPicPr>
          <p:nvPr/>
        </p:nvPicPr>
        <p:blipFill>
          <a:blip r:embed="rId3" cstate="print"/>
          <a:srcRect/>
          <a:stretch>
            <a:fillRect/>
          </a:stretch>
        </p:blipFill>
        <p:spPr bwMode="auto">
          <a:xfrm>
            <a:off x="4775200" y="1350963"/>
            <a:ext cx="4368800" cy="4238625"/>
          </a:xfrm>
          <a:prstGeom prst="rect">
            <a:avLst/>
          </a:prstGeom>
          <a:noFill/>
          <a:ln w="9525">
            <a:noFill/>
            <a:miter lim="800000"/>
            <a:headEnd/>
            <a:tailEnd/>
          </a:ln>
        </p:spPr>
      </p:pic>
      <p:sp>
        <p:nvSpPr>
          <p:cNvPr id="71686" name="Rectangle 2"/>
          <p:cNvSpPr>
            <a:spLocks noChangeArrowheads="1"/>
          </p:cNvSpPr>
          <p:nvPr/>
        </p:nvSpPr>
        <p:spPr bwMode="auto">
          <a:xfrm>
            <a:off x="395288" y="274638"/>
            <a:ext cx="8539162" cy="1143000"/>
          </a:xfrm>
          <a:prstGeom prst="rect">
            <a:avLst/>
          </a:prstGeom>
          <a:noFill/>
          <a:ln w="9525">
            <a:noFill/>
            <a:miter lim="800000"/>
            <a:headEnd/>
            <a:tailEnd/>
          </a:ln>
        </p:spPr>
        <p:txBody>
          <a:bodyPr anchor="ctr"/>
          <a:lstStyle/>
          <a:p>
            <a:r>
              <a:rPr lang="zh-CN" altLang="en-US" sz="4000">
                <a:solidFill>
                  <a:srgbClr val="11488B"/>
                </a:solidFill>
                <a:latin typeface="Gill Sans MT" pitchFamily="34" charset="0"/>
                <a:ea typeface="华文中宋" pitchFamily="2" charset="-122"/>
              </a:rPr>
              <a:t>系统交互</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5B99E0E-819C-4879-B197-8A41F7B6287F}" type="slidenum">
              <a:rPr lang="zh-CN" altLang="en-US"/>
              <a:pPr>
                <a:defRPr/>
              </a:pPr>
              <a:t>70</a:t>
            </a:fld>
            <a:endParaRPr lang="zh-CN" altLang="en-US"/>
          </a:p>
        </p:txBody>
      </p:sp>
      <p:sp>
        <p:nvSpPr>
          <p:cNvPr id="72707" name="标题 1"/>
          <p:cNvSpPr>
            <a:spLocks noGrp="1"/>
          </p:cNvSpPr>
          <p:nvPr>
            <p:ph type="title" idx="4294967295"/>
          </p:nvPr>
        </p:nvSpPr>
        <p:spPr/>
        <p:txBody>
          <a:bodyPr lIns="0" rIns="0" bIns="0" anchor="b"/>
          <a:lstStyle/>
          <a:p>
            <a:r>
              <a:rPr lang="zh-CN" altLang="en-US" smtClean="0"/>
              <a:t>数据流</a:t>
            </a:r>
          </a:p>
        </p:txBody>
      </p:sp>
      <p:sp>
        <p:nvSpPr>
          <p:cNvPr id="72708" name="内容占位符 2"/>
          <p:cNvSpPr>
            <a:spLocks noGrp="1"/>
          </p:cNvSpPr>
          <p:nvPr>
            <p:ph idx="4294967295"/>
          </p:nvPr>
        </p:nvSpPr>
        <p:spPr>
          <a:xfrm>
            <a:off x="395288" y="1900238"/>
            <a:ext cx="8539162" cy="4348162"/>
          </a:xfrm>
        </p:spPr>
        <p:txBody>
          <a:bodyPr/>
          <a:lstStyle/>
          <a:p>
            <a:pPr marL="273050" indent="-273050"/>
            <a:r>
              <a:rPr lang="zh-CN" altLang="en-US" smtClean="0"/>
              <a:t>为了有效的利用网络，</a:t>
            </a:r>
            <a:r>
              <a:rPr lang="en-US" altLang="zh-CN" smtClean="0"/>
              <a:t>GFS</a:t>
            </a:r>
            <a:r>
              <a:rPr lang="zh-CN" altLang="en-US" smtClean="0"/>
              <a:t>将数据流和控制流分离。</a:t>
            </a:r>
          </a:p>
          <a:p>
            <a:pPr marL="273050" indent="-273050"/>
            <a:r>
              <a:rPr lang="zh-CN" altLang="en-US" smtClean="0"/>
              <a:t>数据是以流水线的方式在选定的</a:t>
            </a:r>
            <a:r>
              <a:rPr lang="en-US" altLang="zh-CN" smtClean="0"/>
              <a:t>ChunkServer</a:t>
            </a:r>
            <a:r>
              <a:rPr lang="zh-CN" altLang="en-US" smtClean="0"/>
              <a:t>链上线性传递。</a:t>
            </a:r>
          </a:p>
          <a:p>
            <a:pPr marL="273050" indent="-273050"/>
            <a:r>
              <a:rPr lang="zh-CN" altLang="en-US" smtClean="0"/>
              <a:t>每个机器的整个对外带宽都被用作传递数据。为避免瓶颈，每个机器在收到数据后，将它收到数据尽快传递给离它最近的机器。</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F51FF9AB-0BD8-4048-8C1D-DDD65CC89569}" type="slidenum">
              <a:rPr lang="zh-CN" altLang="en-US"/>
              <a:pPr>
                <a:defRPr/>
              </a:pPr>
              <a:t>71</a:t>
            </a:fld>
            <a:endParaRPr lang="zh-CN" altLang="en-US"/>
          </a:p>
        </p:txBody>
      </p:sp>
      <p:sp>
        <p:nvSpPr>
          <p:cNvPr id="73731" name="Rectangle 2"/>
          <p:cNvSpPr>
            <a:spLocks noGrp="1"/>
          </p:cNvSpPr>
          <p:nvPr>
            <p:ph type="title"/>
          </p:nvPr>
        </p:nvSpPr>
        <p:spPr/>
        <p:txBody>
          <a:bodyPr/>
          <a:lstStyle/>
          <a:p>
            <a:r>
              <a:rPr lang="en-US" altLang="zh-CN" smtClean="0"/>
              <a:t>System Interaction Steps</a:t>
            </a:r>
          </a:p>
        </p:txBody>
      </p:sp>
      <p:sp>
        <p:nvSpPr>
          <p:cNvPr id="73732" name="Rectangle 3"/>
          <p:cNvSpPr>
            <a:spLocks noGrp="1"/>
          </p:cNvSpPr>
          <p:nvPr>
            <p:ph type="body" idx="1"/>
          </p:nvPr>
        </p:nvSpPr>
        <p:spPr/>
        <p:txBody>
          <a:bodyPr/>
          <a:lstStyle/>
          <a:p>
            <a:r>
              <a:rPr lang="en-US" altLang="zh-CN" smtClean="0"/>
              <a:t>1. The client asks the master which chunkserver holds the current lease for the chunk and the locations of the other replicas. If no one has a lease, the master grants one to a replica it chooses.</a:t>
            </a:r>
          </a:p>
          <a:p>
            <a:r>
              <a:rPr lang="en-US" altLang="zh-CN" smtClean="0"/>
              <a:t>2. The master replies with the identity of the primary and the locations of the other (secondary) replicas. The client caches this data for future mutations. It needs to contact the master again only when the primary becomes unreachable or replies that it no longer holds a lease.</a:t>
            </a:r>
            <a:endParaRPr lang="zh-CN" altLang="en-US" smtClean="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6527D98E-5FAF-40D3-8680-0B54E2A98097}" type="slidenum">
              <a:rPr lang="zh-CN" altLang="en-US"/>
              <a:pPr>
                <a:defRPr/>
              </a:pPr>
              <a:t>72</a:t>
            </a:fld>
            <a:endParaRPr lang="zh-CN" altLang="en-US"/>
          </a:p>
        </p:txBody>
      </p:sp>
      <p:sp>
        <p:nvSpPr>
          <p:cNvPr id="74755" name="Rectangle 2"/>
          <p:cNvSpPr>
            <a:spLocks noGrp="1"/>
          </p:cNvSpPr>
          <p:nvPr>
            <p:ph type="title"/>
          </p:nvPr>
        </p:nvSpPr>
        <p:spPr/>
        <p:txBody>
          <a:bodyPr/>
          <a:lstStyle/>
          <a:p>
            <a:r>
              <a:rPr lang="en-US" altLang="zh-CN" smtClean="0"/>
              <a:t>System Interaction Steps</a:t>
            </a:r>
          </a:p>
        </p:txBody>
      </p:sp>
      <p:sp>
        <p:nvSpPr>
          <p:cNvPr id="74756" name="Rectangle 3"/>
          <p:cNvSpPr>
            <a:spLocks noGrp="1"/>
          </p:cNvSpPr>
          <p:nvPr>
            <p:ph type="body" idx="1"/>
          </p:nvPr>
        </p:nvSpPr>
        <p:spPr/>
        <p:txBody>
          <a:bodyPr/>
          <a:lstStyle/>
          <a:p>
            <a:pPr>
              <a:lnSpc>
                <a:spcPct val="90000"/>
              </a:lnSpc>
            </a:pPr>
            <a:r>
              <a:rPr lang="en-US" altLang="zh-CN" sz="2600" dirty="0" smtClean="0"/>
              <a:t>3. </a:t>
            </a:r>
            <a:r>
              <a:rPr lang="en-US" altLang="en-US" sz="2600" dirty="0" smtClean="0"/>
              <a:t>The client pushes the data to all the replicas. A client</a:t>
            </a:r>
            <a:r>
              <a:rPr lang="en-US" altLang="zh-CN" sz="2600" dirty="0" smtClean="0"/>
              <a:t> </a:t>
            </a:r>
            <a:r>
              <a:rPr lang="en-US" altLang="en-US" sz="2600" dirty="0" smtClean="0"/>
              <a:t>can do so in any order. Each </a:t>
            </a:r>
            <a:r>
              <a:rPr lang="en-US" altLang="en-US" sz="2600" dirty="0" err="1" smtClean="0"/>
              <a:t>chunkserver</a:t>
            </a:r>
            <a:r>
              <a:rPr lang="en-US" altLang="en-US" sz="2600" dirty="0" smtClean="0"/>
              <a:t> will store</a:t>
            </a:r>
            <a:r>
              <a:rPr lang="en-US" altLang="zh-CN" sz="2600" dirty="0" smtClean="0"/>
              <a:t> </a:t>
            </a:r>
            <a:r>
              <a:rPr lang="en-US" altLang="en-US" sz="2600" dirty="0" smtClean="0"/>
              <a:t>the data in an internal LRU</a:t>
            </a:r>
            <a:r>
              <a:rPr lang="en-US" altLang="zh-CN" sz="2600" dirty="0" smtClean="0"/>
              <a:t> (least recently used) </a:t>
            </a:r>
            <a:r>
              <a:rPr lang="en-US" altLang="en-US" sz="2600" dirty="0" smtClean="0"/>
              <a:t>buffer cache until the</a:t>
            </a:r>
            <a:r>
              <a:rPr lang="en-US" altLang="zh-CN" sz="2600" dirty="0" smtClean="0"/>
              <a:t> </a:t>
            </a:r>
            <a:r>
              <a:rPr lang="en-US" altLang="en-US" sz="2600" dirty="0" smtClean="0"/>
              <a:t>data is used or aged out. </a:t>
            </a:r>
            <a:endParaRPr lang="en-US" altLang="zh-CN" sz="2600" dirty="0" smtClean="0"/>
          </a:p>
          <a:p>
            <a:pPr>
              <a:lnSpc>
                <a:spcPct val="90000"/>
              </a:lnSpc>
            </a:pPr>
            <a:r>
              <a:rPr lang="en-US" altLang="zh-CN" sz="2600" dirty="0" smtClean="0"/>
              <a:t>4. Once all the replicas have acknowledged receiving the data, the client sends a write request to the primary. The request identifies the data pushed earlier to all of the replicas. The primary assigns consecutive serial numbers to all the mutations it receives, possibly from multiple clients, which provides the necessary serialization. It applies the mutation to its own local state in serial number order.</a:t>
            </a:r>
            <a:endParaRPr lang="zh-CN" altLang="en-US" sz="2600" dirty="0"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1F91E058-65FB-414F-8CFF-27788F3E3264}" type="slidenum">
              <a:rPr lang="zh-CN" altLang="en-US"/>
              <a:pPr>
                <a:defRPr/>
              </a:pPr>
              <a:t>73</a:t>
            </a:fld>
            <a:endParaRPr lang="zh-CN" altLang="en-US"/>
          </a:p>
        </p:txBody>
      </p:sp>
      <p:sp>
        <p:nvSpPr>
          <p:cNvPr id="75779" name="Rectangle 2"/>
          <p:cNvSpPr>
            <a:spLocks noGrp="1"/>
          </p:cNvSpPr>
          <p:nvPr>
            <p:ph type="title"/>
          </p:nvPr>
        </p:nvSpPr>
        <p:spPr/>
        <p:txBody>
          <a:bodyPr/>
          <a:lstStyle/>
          <a:p>
            <a:r>
              <a:rPr lang="en-US" altLang="zh-CN" smtClean="0"/>
              <a:t>System Interaction Steps</a:t>
            </a:r>
          </a:p>
        </p:txBody>
      </p:sp>
      <p:sp>
        <p:nvSpPr>
          <p:cNvPr id="75780" name="Rectangle 3"/>
          <p:cNvSpPr>
            <a:spLocks noGrp="1"/>
          </p:cNvSpPr>
          <p:nvPr>
            <p:ph type="body" idx="1"/>
          </p:nvPr>
        </p:nvSpPr>
        <p:spPr/>
        <p:txBody>
          <a:bodyPr/>
          <a:lstStyle/>
          <a:p>
            <a:r>
              <a:rPr lang="en-US" altLang="zh-CN" smtClean="0"/>
              <a:t>5. The primary forwards the write request to all secondary replicas. Each secondary replica applies mutations in the same serial number order assigned by the primary</a:t>
            </a:r>
          </a:p>
          <a:p>
            <a:r>
              <a:rPr lang="en-US" altLang="zh-CN" smtClean="0"/>
              <a:t>6. </a:t>
            </a:r>
            <a:r>
              <a:rPr lang="en-US" altLang="en-US" smtClean="0"/>
              <a:t>The secondaries all reply to the primary indicating</a:t>
            </a:r>
            <a:r>
              <a:rPr lang="en-US" altLang="zh-CN" smtClean="0"/>
              <a:t> </a:t>
            </a:r>
            <a:r>
              <a:rPr lang="en-US" altLang="en-US" smtClean="0"/>
              <a:t>that they have completed the operation.</a:t>
            </a:r>
            <a:endParaRPr lang="zh-CN" altLang="en-US" smtClean="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49B0B18D-9A75-4078-8EB1-CE97D43F01F9}" type="slidenum">
              <a:rPr lang="zh-CN" altLang="en-US"/>
              <a:pPr>
                <a:defRPr/>
              </a:pPr>
              <a:t>74</a:t>
            </a:fld>
            <a:endParaRPr lang="zh-CN" altLang="en-US"/>
          </a:p>
        </p:txBody>
      </p:sp>
      <p:sp>
        <p:nvSpPr>
          <p:cNvPr id="76803" name="Rectangle 2"/>
          <p:cNvSpPr>
            <a:spLocks noGrp="1"/>
          </p:cNvSpPr>
          <p:nvPr>
            <p:ph type="title"/>
          </p:nvPr>
        </p:nvSpPr>
        <p:spPr/>
        <p:txBody>
          <a:bodyPr/>
          <a:lstStyle/>
          <a:p>
            <a:r>
              <a:rPr lang="en-US" altLang="zh-CN" smtClean="0"/>
              <a:t>System Interaction Steps</a:t>
            </a:r>
          </a:p>
        </p:txBody>
      </p:sp>
      <p:sp>
        <p:nvSpPr>
          <p:cNvPr id="76804" name="Rectangle 3"/>
          <p:cNvSpPr>
            <a:spLocks noGrp="1"/>
          </p:cNvSpPr>
          <p:nvPr>
            <p:ph type="body" idx="1"/>
          </p:nvPr>
        </p:nvSpPr>
        <p:spPr/>
        <p:txBody>
          <a:bodyPr/>
          <a:lstStyle/>
          <a:p>
            <a:pPr>
              <a:lnSpc>
                <a:spcPct val="90000"/>
              </a:lnSpc>
            </a:pPr>
            <a:r>
              <a:rPr lang="en-US" altLang="zh-CN" smtClean="0"/>
              <a:t>7. The primary replies to the client. Any errors encountered at any of the replicas are reported to the client. In case of errors, the write may have succeeded at the primary and an arbitrary subset of the secondary replicas. (If it had failed at the primary, it would not have been assigned a serial number and forwarded.) The client request is considered to have failed, and the modified region is left in an inconsistent state. Our client code handles such errors by retrying the failed mutation. It will make a few attempts at steps (3) through (7) before falling back to a retry from the beginning of the write.</a:t>
            </a:r>
            <a:endParaRPr lang="zh-CN" altLang="en-US" smtClean="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DFA9BAFF-BF0D-4852-B766-7BB31EB994B6}" type="slidenum">
              <a:rPr lang="zh-CN" altLang="en-US"/>
              <a:pPr>
                <a:defRPr/>
              </a:pPr>
              <a:t>75</a:t>
            </a:fld>
            <a:endParaRPr lang="zh-CN" altLang="en-US"/>
          </a:p>
        </p:txBody>
      </p:sp>
      <p:sp>
        <p:nvSpPr>
          <p:cNvPr id="77827" name="Rectangle 2"/>
          <p:cNvSpPr>
            <a:spLocks noGrp="1"/>
          </p:cNvSpPr>
          <p:nvPr>
            <p:ph type="title"/>
          </p:nvPr>
        </p:nvSpPr>
        <p:spPr/>
        <p:txBody>
          <a:bodyPr/>
          <a:lstStyle/>
          <a:p>
            <a:r>
              <a:rPr lang="en-US" altLang="zh-CN" smtClean="0"/>
              <a:t>Read process</a:t>
            </a:r>
          </a:p>
        </p:txBody>
      </p:sp>
      <p:sp>
        <p:nvSpPr>
          <p:cNvPr id="77828" name="Rectangle 3"/>
          <p:cNvSpPr>
            <a:spLocks noGrp="1"/>
          </p:cNvSpPr>
          <p:nvPr>
            <p:ph type="body" idx="1"/>
          </p:nvPr>
        </p:nvSpPr>
        <p:spPr/>
        <p:txBody>
          <a:bodyPr/>
          <a:lstStyle/>
          <a:p>
            <a:r>
              <a:rPr lang="en-US" altLang="zh-CN" smtClean="0"/>
              <a:t>1. Application originates the read request</a:t>
            </a:r>
          </a:p>
          <a:p>
            <a:r>
              <a:rPr lang="en-US" altLang="zh-CN" smtClean="0"/>
              <a:t>2. GFS client translates request and sends it to master</a:t>
            </a:r>
          </a:p>
          <a:p>
            <a:r>
              <a:rPr lang="en-US" altLang="zh-CN" smtClean="0"/>
              <a:t>3. Master responds with chunk handle and replica locations</a:t>
            </a:r>
            <a:endParaRPr lang="zh-CN" altLang="en-US" smtClean="0"/>
          </a:p>
        </p:txBody>
      </p:sp>
      <p:pic>
        <p:nvPicPr>
          <p:cNvPr id="77829" name="Picture 4"/>
          <p:cNvPicPr>
            <a:picLocks noChangeAspect="1" noChangeArrowheads="1"/>
          </p:cNvPicPr>
          <p:nvPr/>
        </p:nvPicPr>
        <p:blipFill>
          <a:blip r:embed="rId2" cstate="print"/>
          <a:srcRect/>
          <a:stretch>
            <a:fillRect/>
          </a:stretch>
        </p:blipFill>
        <p:spPr bwMode="auto">
          <a:xfrm>
            <a:off x="1042988" y="3357563"/>
            <a:ext cx="7650162" cy="3284537"/>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25E885C5-15B9-4525-958E-B3DFC949E71D}" type="slidenum">
              <a:rPr lang="zh-CN" altLang="en-US"/>
              <a:pPr>
                <a:defRPr/>
              </a:pPr>
              <a:t>76</a:t>
            </a:fld>
            <a:endParaRPr lang="zh-CN" altLang="en-US"/>
          </a:p>
        </p:txBody>
      </p:sp>
      <p:sp>
        <p:nvSpPr>
          <p:cNvPr id="78851" name="Rectangle 2"/>
          <p:cNvSpPr>
            <a:spLocks noGrp="1"/>
          </p:cNvSpPr>
          <p:nvPr>
            <p:ph type="title"/>
          </p:nvPr>
        </p:nvSpPr>
        <p:spPr/>
        <p:txBody>
          <a:bodyPr/>
          <a:lstStyle/>
          <a:p>
            <a:r>
              <a:rPr lang="en-US" altLang="zh-CN" smtClean="0"/>
              <a:t>Read process</a:t>
            </a:r>
          </a:p>
        </p:txBody>
      </p:sp>
      <p:sp>
        <p:nvSpPr>
          <p:cNvPr id="78852" name="Rectangle 3"/>
          <p:cNvSpPr>
            <a:spLocks noGrp="1"/>
          </p:cNvSpPr>
          <p:nvPr>
            <p:ph type="body" idx="1"/>
          </p:nvPr>
        </p:nvSpPr>
        <p:spPr/>
        <p:txBody>
          <a:bodyPr/>
          <a:lstStyle/>
          <a:p>
            <a:r>
              <a:rPr lang="en-US" altLang="zh-CN" smtClean="0"/>
              <a:t>4. Client picks a location and sends the request</a:t>
            </a:r>
          </a:p>
          <a:p>
            <a:r>
              <a:rPr lang="en-US" altLang="zh-CN" smtClean="0"/>
              <a:t>5. Chunkserver sends requested data to the client</a:t>
            </a:r>
          </a:p>
          <a:p>
            <a:r>
              <a:rPr lang="en-US" altLang="zh-CN" smtClean="0"/>
              <a:t>6. Client forwards the data to the application</a:t>
            </a:r>
            <a:endParaRPr lang="zh-CN" altLang="en-US" smtClean="0"/>
          </a:p>
        </p:txBody>
      </p:sp>
      <p:pic>
        <p:nvPicPr>
          <p:cNvPr id="78853" name="Picture 5"/>
          <p:cNvPicPr>
            <a:picLocks noChangeAspect="1" noChangeArrowheads="1"/>
          </p:cNvPicPr>
          <p:nvPr/>
        </p:nvPicPr>
        <p:blipFill>
          <a:blip r:embed="rId2" cstate="print"/>
          <a:srcRect/>
          <a:stretch>
            <a:fillRect/>
          </a:stretch>
        </p:blipFill>
        <p:spPr bwMode="auto">
          <a:xfrm>
            <a:off x="900113" y="3284538"/>
            <a:ext cx="7200900" cy="3168650"/>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BB9851AC-3C37-4D18-8A8D-B039E8E7C229}" type="slidenum">
              <a:rPr lang="zh-CN" altLang="en-US"/>
              <a:pPr>
                <a:defRPr/>
              </a:pPr>
              <a:t>77</a:t>
            </a:fld>
            <a:endParaRPr lang="zh-CN" altLang="en-US"/>
          </a:p>
        </p:txBody>
      </p:sp>
      <p:sp>
        <p:nvSpPr>
          <p:cNvPr id="79875" name="Rectangle 2"/>
          <p:cNvSpPr>
            <a:spLocks noGrp="1"/>
          </p:cNvSpPr>
          <p:nvPr>
            <p:ph type="title"/>
          </p:nvPr>
        </p:nvSpPr>
        <p:spPr/>
        <p:txBody>
          <a:bodyPr/>
          <a:lstStyle/>
          <a:p>
            <a:r>
              <a:rPr lang="en-US" altLang="zh-CN" smtClean="0"/>
              <a:t>Write process</a:t>
            </a:r>
          </a:p>
        </p:txBody>
      </p:sp>
      <p:sp>
        <p:nvSpPr>
          <p:cNvPr id="79876" name="Rectangle 3"/>
          <p:cNvSpPr>
            <a:spLocks noGrp="1"/>
          </p:cNvSpPr>
          <p:nvPr>
            <p:ph type="body" idx="1"/>
          </p:nvPr>
        </p:nvSpPr>
        <p:spPr/>
        <p:txBody>
          <a:bodyPr/>
          <a:lstStyle/>
          <a:p>
            <a:r>
              <a:rPr lang="en-US" altLang="zh-CN" smtClean="0"/>
              <a:t>1. Application originates the request</a:t>
            </a:r>
          </a:p>
          <a:p>
            <a:r>
              <a:rPr lang="en-US" altLang="zh-CN" smtClean="0"/>
              <a:t>2. GFS client translates request and sends it to master</a:t>
            </a:r>
          </a:p>
          <a:p>
            <a:r>
              <a:rPr lang="en-US" altLang="zh-CN" smtClean="0"/>
              <a:t>3. Master responds with chunk handle and replica locations</a:t>
            </a:r>
            <a:endParaRPr lang="zh-CN" altLang="en-US" smtClean="0"/>
          </a:p>
        </p:txBody>
      </p:sp>
      <p:pic>
        <p:nvPicPr>
          <p:cNvPr id="79877" name="Picture 5"/>
          <p:cNvPicPr>
            <a:picLocks noChangeAspect="1" noChangeArrowheads="1"/>
          </p:cNvPicPr>
          <p:nvPr/>
        </p:nvPicPr>
        <p:blipFill>
          <a:blip r:embed="rId2" cstate="print"/>
          <a:srcRect/>
          <a:stretch>
            <a:fillRect/>
          </a:stretch>
        </p:blipFill>
        <p:spPr bwMode="auto">
          <a:xfrm>
            <a:off x="971550" y="3357563"/>
            <a:ext cx="7615238" cy="3500437"/>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1C3783AA-45C2-46E3-BABF-73D6085B9688}" type="slidenum">
              <a:rPr lang="zh-CN" altLang="en-US"/>
              <a:pPr>
                <a:defRPr/>
              </a:pPr>
              <a:t>78</a:t>
            </a:fld>
            <a:endParaRPr lang="zh-CN" altLang="en-US"/>
          </a:p>
        </p:txBody>
      </p:sp>
      <p:sp>
        <p:nvSpPr>
          <p:cNvPr id="80899" name="Rectangle 2"/>
          <p:cNvSpPr>
            <a:spLocks noGrp="1"/>
          </p:cNvSpPr>
          <p:nvPr>
            <p:ph type="title"/>
          </p:nvPr>
        </p:nvSpPr>
        <p:spPr/>
        <p:txBody>
          <a:bodyPr/>
          <a:lstStyle/>
          <a:p>
            <a:r>
              <a:rPr lang="en-US" altLang="zh-CN" smtClean="0"/>
              <a:t>Write process</a:t>
            </a:r>
          </a:p>
        </p:txBody>
      </p:sp>
      <p:sp>
        <p:nvSpPr>
          <p:cNvPr id="80900" name="Rectangle 3"/>
          <p:cNvSpPr>
            <a:spLocks noGrp="1"/>
          </p:cNvSpPr>
          <p:nvPr>
            <p:ph type="body" idx="1"/>
          </p:nvPr>
        </p:nvSpPr>
        <p:spPr/>
        <p:txBody>
          <a:bodyPr/>
          <a:lstStyle/>
          <a:p>
            <a:r>
              <a:rPr lang="en-US" altLang="zh-CN" smtClean="0"/>
              <a:t>4. Client pushes write data to all locations. Data is stored in chunkserver’s internal buffers</a:t>
            </a:r>
            <a:endParaRPr lang="zh-CN" altLang="en-US" smtClean="0"/>
          </a:p>
        </p:txBody>
      </p:sp>
      <p:pic>
        <p:nvPicPr>
          <p:cNvPr id="80901" name="Picture 5"/>
          <p:cNvPicPr>
            <a:picLocks noChangeAspect="1" noChangeArrowheads="1"/>
          </p:cNvPicPr>
          <p:nvPr/>
        </p:nvPicPr>
        <p:blipFill>
          <a:blip r:embed="rId2" cstate="print"/>
          <a:srcRect/>
          <a:stretch>
            <a:fillRect/>
          </a:stretch>
        </p:blipFill>
        <p:spPr bwMode="auto">
          <a:xfrm>
            <a:off x="539750" y="2781300"/>
            <a:ext cx="8135938" cy="3789363"/>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255FB65A-A1E1-46A1-AF93-6C6AB0881363}" type="slidenum">
              <a:rPr lang="zh-CN" altLang="en-US"/>
              <a:pPr>
                <a:defRPr/>
              </a:pPr>
              <a:t>79</a:t>
            </a:fld>
            <a:endParaRPr lang="zh-CN" altLang="en-US"/>
          </a:p>
        </p:txBody>
      </p:sp>
      <p:sp>
        <p:nvSpPr>
          <p:cNvPr id="81923" name="Rectangle 2"/>
          <p:cNvSpPr>
            <a:spLocks noGrp="1"/>
          </p:cNvSpPr>
          <p:nvPr>
            <p:ph type="title"/>
          </p:nvPr>
        </p:nvSpPr>
        <p:spPr/>
        <p:txBody>
          <a:bodyPr/>
          <a:lstStyle/>
          <a:p>
            <a:r>
              <a:rPr lang="en-US" altLang="zh-CN" smtClean="0"/>
              <a:t>Write process</a:t>
            </a:r>
          </a:p>
        </p:txBody>
      </p:sp>
      <p:sp>
        <p:nvSpPr>
          <p:cNvPr id="81924" name="Rectangle 3"/>
          <p:cNvSpPr>
            <a:spLocks noGrp="1"/>
          </p:cNvSpPr>
          <p:nvPr>
            <p:ph type="body" idx="1"/>
          </p:nvPr>
        </p:nvSpPr>
        <p:spPr/>
        <p:txBody>
          <a:bodyPr/>
          <a:lstStyle/>
          <a:p>
            <a:r>
              <a:rPr lang="en-US" altLang="en-US" smtClean="0"/>
              <a:t>5. Client sends write command to primary</a:t>
            </a:r>
          </a:p>
          <a:p>
            <a:r>
              <a:rPr lang="en-US" altLang="en-US" smtClean="0"/>
              <a:t>6. Primary determines serial order for data instances in</a:t>
            </a:r>
            <a:r>
              <a:rPr lang="en-US" altLang="zh-CN" smtClean="0"/>
              <a:t> </a:t>
            </a:r>
            <a:r>
              <a:rPr lang="en-US" altLang="en-US" smtClean="0"/>
              <a:t>its buffer and writes the instances in that order to the</a:t>
            </a:r>
            <a:r>
              <a:rPr lang="en-US" altLang="zh-CN" smtClean="0"/>
              <a:t> </a:t>
            </a:r>
            <a:r>
              <a:rPr lang="en-US" altLang="en-US" smtClean="0"/>
              <a:t>chunk</a:t>
            </a:r>
            <a:endParaRPr lang="en-US" altLang="zh-CN" smtClean="0"/>
          </a:p>
          <a:p>
            <a:r>
              <a:rPr lang="en-US" altLang="en-US" smtClean="0"/>
              <a:t>7. Primary sends the serial order to the secondaries and</a:t>
            </a:r>
            <a:r>
              <a:rPr lang="en-US" altLang="zh-CN" smtClean="0"/>
              <a:t> </a:t>
            </a:r>
            <a:r>
              <a:rPr lang="en-US" altLang="en-US" smtClean="0"/>
              <a:t>tells them to perform the write</a:t>
            </a:r>
            <a:endParaRPr lang="zh-CN" altLang="en-US" smtClean="0"/>
          </a:p>
        </p:txBody>
      </p:sp>
      <p:pic>
        <p:nvPicPr>
          <p:cNvPr id="81925" name="Picture 5"/>
          <p:cNvPicPr>
            <a:picLocks noChangeAspect="1" noChangeArrowheads="1"/>
          </p:cNvPicPr>
          <p:nvPr/>
        </p:nvPicPr>
        <p:blipFill>
          <a:blip r:embed="rId2" cstate="print"/>
          <a:srcRect/>
          <a:stretch>
            <a:fillRect/>
          </a:stretch>
        </p:blipFill>
        <p:spPr bwMode="auto">
          <a:xfrm>
            <a:off x="1042988" y="4230688"/>
            <a:ext cx="6769100" cy="26273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B6C19BD1-5655-4B4F-96CE-A2E19B4624D0}" type="slidenum">
              <a:rPr lang="zh-CN" altLang="en-US"/>
              <a:pPr>
                <a:defRPr/>
              </a:pPr>
              <a:t>80</a:t>
            </a:fld>
            <a:endParaRPr lang="zh-CN" altLang="en-US"/>
          </a:p>
        </p:txBody>
      </p:sp>
      <p:sp>
        <p:nvSpPr>
          <p:cNvPr id="82947" name="Rectangle 2"/>
          <p:cNvSpPr>
            <a:spLocks noGrp="1"/>
          </p:cNvSpPr>
          <p:nvPr>
            <p:ph type="title"/>
          </p:nvPr>
        </p:nvSpPr>
        <p:spPr/>
        <p:txBody>
          <a:bodyPr/>
          <a:lstStyle/>
          <a:p>
            <a:r>
              <a:rPr lang="en-US" altLang="zh-CN" smtClean="0"/>
              <a:t>Write process</a:t>
            </a:r>
          </a:p>
        </p:txBody>
      </p:sp>
      <p:sp>
        <p:nvSpPr>
          <p:cNvPr id="82948" name="Rectangle 3"/>
          <p:cNvSpPr>
            <a:spLocks noGrp="1"/>
          </p:cNvSpPr>
          <p:nvPr>
            <p:ph type="body" idx="1"/>
          </p:nvPr>
        </p:nvSpPr>
        <p:spPr/>
        <p:txBody>
          <a:bodyPr/>
          <a:lstStyle/>
          <a:p>
            <a:r>
              <a:rPr lang="en-US" altLang="en-US" smtClean="0"/>
              <a:t>8. Secondaries respond back to primary</a:t>
            </a:r>
          </a:p>
          <a:p>
            <a:r>
              <a:rPr lang="en-US" altLang="en-US" smtClean="0"/>
              <a:t>9. Primary responds back to the client</a:t>
            </a:r>
            <a:endParaRPr lang="zh-CN" altLang="en-US" smtClean="0"/>
          </a:p>
        </p:txBody>
      </p:sp>
      <p:pic>
        <p:nvPicPr>
          <p:cNvPr id="82949" name="Picture 5"/>
          <p:cNvPicPr>
            <a:picLocks noChangeAspect="1" noChangeArrowheads="1"/>
          </p:cNvPicPr>
          <p:nvPr/>
        </p:nvPicPr>
        <p:blipFill>
          <a:blip r:embed="rId2" cstate="print"/>
          <a:srcRect/>
          <a:stretch>
            <a:fillRect/>
          </a:stretch>
        </p:blipFill>
        <p:spPr bwMode="auto">
          <a:xfrm>
            <a:off x="971550" y="2924175"/>
            <a:ext cx="7272338" cy="3684588"/>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7A39DCC7-BD7C-4245-8AED-788AAFFB054E}" type="slidenum">
              <a:rPr lang="zh-CN" altLang="en-US"/>
              <a:pPr>
                <a:defRPr/>
              </a:pPr>
              <a:t>81</a:t>
            </a:fld>
            <a:endParaRPr lang="zh-CN" altLang="en-US"/>
          </a:p>
        </p:txBody>
      </p:sp>
      <p:sp>
        <p:nvSpPr>
          <p:cNvPr id="83971" name="内容占位符 2"/>
          <p:cNvSpPr>
            <a:spLocks noGrp="1"/>
          </p:cNvSpPr>
          <p:nvPr>
            <p:ph idx="4294967295"/>
          </p:nvPr>
        </p:nvSpPr>
        <p:spPr>
          <a:xfrm>
            <a:off x="395288" y="1508125"/>
            <a:ext cx="8539162" cy="4800600"/>
          </a:xfrm>
        </p:spPr>
        <p:txBody>
          <a:bodyPr/>
          <a:lstStyle/>
          <a:p>
            <a:pPr marL="273050" indent="-273050" algn="just"/>
            <a:r>
              <a:rPr lang="zh-CN" altLang="en-US" smtClean="0"/>
              <a:t>块创建，重新复制，负载均衡</a:t>
            </a:r>
          </a:p>
          <a:p>
            <a:pPr marL="742950" lvl="1" indent="-285750"/>
            <a:r>
              <a:rPr lang="zh-CN" altLang="en-US" smtClean="0"/>
              <a:t>创建块以及复制块的策略都基于平均硬盘使用率和一个</a:t>
            </a:r>
            <a:r>
              <a:rPr lang="en-US" altLang="zh-CN" smtClean="0"/>
              <a:t>Chunkserver</a:t>
            </a:r>
            <a:r>
              <a:rPr lang="zh-CN" altLang="en-US" smtClean="0"/>
              <a:t>上面“创建”或“复制”操作的数量。</a:t>
            </a:r>
          </a:p>
          <a:p>
            <a:pPr marL="742950" lvl="1" indent="-285750"/>
            <a:r>
              <a:rPr lang="en-US" altLang="zh-CN" smtClean="0"/>
              <a:t>Master</a:t>
            </a:r>
            <a:r>
              <a:rPr lang="zh-CN" altLang="en-US" smtClean="0"/>
              <a:t>在可用的数据块备份低于用户设定的数目时需要进行重复制。</a:t>
            </a:r>
          </a:p>
          <a:p>
            <a:pPr marL="742950" lvl="1" indent="-285750"/>
            <a:r>
              <a:rPr lang="en-US" altLang="zh-CN" smtClean="0"/>
              <a:t>Master</a:t>
            </a:r>
            <a:r>
              <a:rPr lang="zh-CN" altLang="en-US" smtClean="0"/>
              <a:t>周期性的对副本进行负载均衡：它检查当前的副本分布情况，然后移动副本以得到更好的硬盘剩余空间，达到负载均衡</a:t>
            </a:r>
          </a:p>
        </p:txBody>
      </p:sp>
      <p:sp>
        <p:nvSpPr>
          <p:cNvPr id="83972" name="标题 1"/>
          <p:cNvSpPr>
            <a:spLocks/>
          </p:cNvSpPr>
          <p:nvPr/>
        </p:nvSpPr>
        <p:spPr bwMode="auto">
          <a:xfrm>
            <a:off x="395288" y="-26988"/>
            <a:ext cx="8539162" cy="1143001"/>
          </a:xfrm>
          <a:prstGeom prst="rect">
            <a:avLst/>
          </a:prstGeom>
          <a:noFill/>
          <a:ln w="9525">
            <a:noFill/>
            <a:miter lim="800000"/>
            <a:headEnd/>
            <a:tailEnd/>
          </a:ln>
        </p:spPr>
        <p:txBody>
          <a:bodyPr lIns="0" rIns="0" bIns="0" anchor="b"/>
          <a:lstStyle/>
          <a:p>
            <a:pPr eaLnBrk="0" hangingPunct="0"/>
            <a:r>
              <a:rPr lang="en-US" altLang="zh-CN" sz="4300">
                <a:solidFill>
                  <a:srgbClr val="11488B"/>
                </a:solidFill>
                <a:latin typeface="Gill Sans MT" pitchFamily="34" charset="0"/>
                <a:ea typeface="华文中宋" pitchFamily="2" charset="-122"/>
              </a:rPr>
              <a:t>Master</a:t>
            </a:r>
            <a:r>
              <a:rPr lang="zh-CN" altLang="en-US" sz="4300">
                <a:solidFill>
                  <a:srgbClr val="11488B"/>
                </a:solidFill>
                <a:latin typeface="Gill Sans MT" pitchFamily="34" charset="0"/>
                <a:ea typeface="华文中宋" pitchFamily="2" charset="-122"/>
              </a:rPr>
              <a:t>节点的操作</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AC4793E4-8E2C-4FB8-A7B2-BE408C0B100F}" type="slidenum">
              <a:rPr lang="zh-CN" altLang="en-US"/>
              <a:pPr>
                <a:defRPr/>
              </a:pPr>
              <a:t>82</a:t>
            </a:fld>
            <a:endParaRPr lang="zh-CN" altLang="en-US"/>
          </a:p>
        </p:txBody>
      </p:sp>
      <p:sp>
        <p:nvSpPr>
          <p:cNvPr id="84995" name="内容占位符 2"/>
          <p:cNvSpPr>
            <a:spLocks noGrp="1"/>
          </p:cNvSpPr>
          <p:nvPr>
            <p:ph idx="4294967295"/>
          </p:nvPr>
        </p:nvSpPr>
        <p:spPr>
          <a:xfrm>
            <a:off x="395288" y="1508125"/>
            <a:ext cx="8539162" cy="4800600"/>
          </a:xfrm>
        </p:spPr>
        <p:txBody>
          <a:bodyPr/>
          <a:lstStyle/>
          <a:p>
            <a:pPr marL="273050" indent="-273050"/>
            <a:r>
              <a:rPr lang="zh-CN" altLang="en-US" smtClean="0"/>
              <a:t>垃圾回收</a:t>
            </a:r>
          </a:p>
          <a:p>
            <a:pPr marL="742950" lvl="1" indent="-285750"/>
            <a:r>
              <a:rPr lang="en-US" altLang="zh-CN" smtClean="0"/>
              <a:t>GFS</a:t>
            </a:r>
            <a:r>
              <a:rPr lang="zh-CN" altLang="en-US" smtClean="0"/>
              <a:t>对该删除的数据采用惰性的垃圾回收机制。</a:t>
            </a:r>
          </a:p>
          <a:p>
            <a:pPr marL="742950" lvl="1" indent="-285750"/>
            <a:r>
              <a:rPr lang="zh-CN" altLang="en-US" smtClean="0"/>
              <a:t>当应用程序删除一个文件，</a:t>
            </a:r>
            <a:r>
              <a:rPr lang="en-US" altLang="zh-CN" smtClean="0"/>
              <a:t>Master</a:t>
            </a:r>
            <a:r>
              <a:rPr lang="zh-CN" altLang="en-US" smtClean="0"/>
              <a:t>会将这个操作记录入操作日志，但是并不立即删除它，而是将它的名字改为一个包含删除时间戳的隐藏名字，然后直到</a:t>
            </a:r>
            <a:r>
              <a:rPr lang="en-US" altLang="zh-CN" smtClean="0"/>
              <a:t>Master</a:t>
            </a:r>
            <a:r>
              <a:rPr lang="zh-CN" altLang="en-US" smtClean="0"/>
              <a:t>进行命名空间常规扫描的时候才删除存在时间超过三天以上的有隐藏名字的文件。</a:t>
            </a:r>
          </a:p>
        </p:txBody>
      </p:sp>
      <p:sp>
        <p:nvSpPr>
          <p:cNvPr id="84996" name="标题 1"/>
          <p:cNvSpPr>
            <a:spLocks/>
          </p:cNvSpPr>
          <p:nvPr/>
        </p:nvSpPr>
        <p:spPr bwMode="auto">
          <a:xfrm>
            <a:off x="395288" y="-26988"/>
            <a:ext cx="8539162" cy="1143001"/>
          </a:xfrm>
          <a:prstGeom prst="rect">
            <a:avLst/>
          </a:prstGeom>
          <a:noFill/>
          <a:ln w="9525">
            <a:noFill/>
            <a:miter lim="800000"/>
            <a:headEnd/>
            <a:tailEnd/>
          </a:ln>
        </p:spPr>
        <p:txBody>
          <a:bodyPr lIns="0" rIns="0" bIns="0" anchor="b"/>
          <a:lstStyle/>
          <a:p>
            <a:pPr eaLnBrk="0" hangingPunct="0"/>
            <a:r>
              <a:rPr lang="en-US" altLang="zh-CN" sz="4300">
                <a:solidFill>
                  <a:srgbClr val="11488B"/>
                </a:solidFill>
                <a:latin typeface="Gill Sans MT" pitchFamily="34" charset="0"/>
                <a:ea typeface="华文中宋" pitchFamily="2" charset="-122"/>
              </a:rPr>
              <a:t>Master</a:t>
            </a:r>
            <a:r>
              <a:rPr lang="zh-CN" altLang="en-US" sz="4300">
                <a:solidFill>
                  <a:srgbClr val="11488B"/>
                </a:solidFill>
                <a:latin typeface="Gill Sans MT" pitchFamily="34" charset="0"/>
                <a:ea typeface="华文中宋" pitchFamily="2" charset="-122"/>
              </a:rPr>
              <a:t>节点的操作</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8C61C2A-214D-40A3-8197-CFE723DA466E}" type="slidenum">
              <a:rPr lang="zh-CN" altLang="en-US"/>
              <a:pPr>
                <a:defRPr/>
              </a:pPr>
              <a:t>83</a:t>
            </a:fld>
            <a:endParaRPr lang="zh-CN" altLang="en-US"/>
          </a:p>
        </p:txBody>
      </p:sp>
      <p:sp>
        <p:nvSpPr>
          <p:cNvPr id="86019" name="内容占位符 2"/>
          <p:cNvSpPr>
            <a:spLocks noGrp="1"/>
          </p:cNvSpPr>
          <p:nvPr>
            <p:ph idx="4294967295"/>
          </p:nvPr>
        </p:nvSpPr>
        <p:spPr>
          <a:xfrm>
            <a:off x="395288" y="1508125"/>
            <a:ext cx="8539162" cy="4800600"/>
          </a:xfrm>
        </p:spPr>
        <p:txBody>
          <a:bodyPr/>
          <a:lstStyle/>
          <a:p>
            <a:pPr marL="273050" indent="-273050" algn="just"/>
            <a:r>
              <a:rPr lang="zh-CN" altLang="en-US" smtClean="0"/>
              <a:t>过期副本检测</a:t>
            </a:r>
          </a:p>
          <a:p>
            <a:pPr marL="742950" lvl="1" indent="-285750" algn="just"/>
            <a:r>
              <a:rPr lang="en-US" altLang="zh-CN" smtClean="0"/>
              <a:t>Master</a:t>
            </a:r>
            <a:r>
              <a:rPr lang="zh-CN" altLang="en-US" smtClean="0"/>
              <a:t>通过保存一个块的版本号，来分辨当前副本和过期副本。</a:t>
            </a:r>
          </a:p>
          <a:p>
            <a:pPr marL="742950" lvl="1" indent="-285750" algn="just"/>
            <a:r>
              <a:rPr lang="zh-CN" altLang="en-US" smtClean="0"/>
              <a:t>在</a:t>
            </a:r>
            <a:r>
              <a:rPr lang="en-US" altLang="zh-CN" smtClean="0"/>
              <a:t>Master</a:t>
            </a:r>
            <a:r>
              <a:rPr lang="zh-CN" altLang="en-US" smtClean="0"/>
              <a:t>和</a:t>
            </a:r>
            <a:r>
              <a:rPr lang="en-US" altLang="zh-CN" smtClean="0"/>
              <a:t>Client</a:t>
            </a:r>
            <a:r>
              <a:rPr lang="zh-CN" altLang="en-US" smtClean="0"/>
              <a:t>以及</a:t>
            </a:r>
            <a:r>
              <a:rPr lang="en-US" altLang="zh-CN" smtClean="0"/>
              <a:t>ChunkServer</a:t>
            </a:r>
            <a:r>
              <a:rPr lang="zh-CN" altLang="en-US" smtClean="0"/>
              <a:t>的通信信息中包含有块的版本号。</a:t>
            </a:r>
          </a:p>
          <a:p>
            <a:pPr marL="742950" lvl="1" indent="-285750" algn="just"/>
            <a:r>
              <a:rPr lang="zh-CN" altLang="en-US" smtClean="0"/>
              <a:t>每当</a:t>
            </a:r>
            <a:r>
              <a:rPr lang="en-US" altLang="zh-CN" smtClean="0"/>
              <a:t>Master</a:t>
            </a:r>
            <a:r>
              <a:rPr lang="zh-CN" altLang="en-US" smtClean="0"/>
              <a:t>获得一个块的租约，它就增加那个块的版本号，然后通知当前副本，然后它们在写入块之前和通知</a:t>
            </a:r>
            <a:r>
              <a:rPr lang="en-US" altLang="zh-CN" smtClean="0"/>
              <a:t>Client</a:t>
            </a:r>
            <a:r>
              <a:rPr lang="zh-CN" altLang="en-US" smtClean="0"/>
              <a:t>之前将版本号写入操作日志中。</a:t>
            </a:r>
          </a:p>
          <a:p>
            <a:pPr marL="742950" lvl="1" indent="-285750" algn="just"/>
            <a:r>
              <a:rPr lang="zh-CN" altLang="en-US" smtClean="0"/>
              <a:t>如果一个</a:t>
            </a:r>
            <a:r>
              <a:rPr lang="en-US" altLang="zh-CN" smtClean="0"/>
              <a:t>ChunkServer</a:t>
            </a:r>
            <a:r>
              <a:rPr lang="zh-CN" altLang="en-US" smtClean="0"/>
              <a:t>在这个时候正好不可用，那么它的版本号就不会被更新，当它重新启动以后，</a:t>
            </a:r>
            <a:r>
              <a:rPr lang="en-US" altLang="zh-CN" smtClean="0"/>
              <a:t>Master</a:t>
            </a:r>
            <a:r>
              <a:rPr lang="zh-CN" altLang="en-US" smtClean="0"/>
              <a:t>会判定它的某些块过期了，然后在周期性的垃圾回收中删除所有过期的副本。</a:t>
            </a:r>
          </a:p>
        </p:txBody>
      </p:sp>
      <p:sp>
        <p:nvSpPr>
          <p:cNvPr id="86020" name="标题 1"/>
          <p:cNvSpPr>
            <a:spLocks/>
          </p:cNvSpPr>
          <p:nvPr/>
        </p:nvSpPr>
        <p:spPr bwMode="auto">
          <a:xfrm>
            <a:off x="395288" y="-26988"/>
            <a:ext cx="8539162" cy="1143001"/>
          </a:xfrm>
          <a:prstGeom prst="rect">
            <a:avLst/>
          </a:prstGeom>
          <a:noFill/>
          <a:ln w="9525">
            <a:noFill/>
            <a:miter lim="800000"/>
            <a:headEnd/>
            <a:tailEnd/>
          </a:ln>
        </p:spPr>
        <p:txBody>
          <a:bodyPr lIns="0" rIns="0" bIns="0" anchor="b"/>
          <a:lstStyle/>
          <a:p>
            <a:pPr eaLnBrk="0" hangingPunct="0"/>
            <a:r>
              <a:rPr lang="en-US" altLang="zh-CN" sz="4300">
                <a:solidFill>
                  <a:srgbClr val="11488B"/>
                </a:solidFill>
                <a:latin typeface="Gill Sans MT" pitchFamily="34" charset="0"/>
                <a:ea typeface="华文中宋" pitchFamily="2" charset="-122"/>
              </a:rPr>
              <a:t>Master</a:t>
            </a:r>
            <a:r>
              <a:rPr lang="zh-CN" altLang="en-US" sz="4300">
                <a:solidFill>
                  <a:srgbClr val="11488B"/>
                </a:solidFill>
                <a:latin typeface="Gill Sans MT" pitchFamily="34" charset="0"/>
                <a:ea typeface="华文中宋" pitchFamily="2" charset="-122"/>
              </a:rPr>
              <a:t>节点的操作</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9FB84FCA-F9B9-4F8B-8DA1-828BF82705FF}" type="slidenum">
              <a:rPr lang="zh-CN" altLang="en-US"/>
              <a:pPr>
                <a:defRPr/>
              </a:pPr>
              <a:t>84</a:t>
            </a:fld>
            <a:endParaRPr lang="zh-CN" altLang="en-US"/>
          </a:p>
        </p:txBody>
      </p:sp>
      <p:sp>
        <p:nvSpPr>
          <p:cNvPr id="87043" name="标题 1"/>
          <p:cNvSpPr>
            <a:spLocks noGrp="1"/>
          </p:cNvSpPr>
          <p:nvPr>
            <p:ph type="title" idx="4294967295"/>
          </p:nvPr>
        </p:nvSpPr>
        <p:spPr>
          <a:xfrm>
            <a:off x="395288" y="-26988"/>
            <a:ext cx="8539162" cy="1143001"/>
          </a:xfrm>
        </p:spPr>
        <p:txBody>
          <a:bodyPr anchor="b"/>
          <a:lstStyle/>
          <a:p>
            <a:pPr eaLnBrk="1" hangingPunct="1"/>
            <a:r>
              <a:rPr lang="en-US" altLang="zh-CN" sz="4000" smtClean="0">
                <a:ea typeface="宋体" pitchFamily="2" charset="-122"/>
              </a:rPr>
              <a:t>High availability</a:t>
            </a:r>
            <a:endParaRPr lang="zh-CN" altLang="en-US" sz="4000" smtClean="0">
              <a:ea typeface="宋体" pitchFamily="2" charset="-122"/>
            </a:endParaRPr>
          </a:p>
        </p:txBody>
      </p:sp>
      <p:sp>
        <p:nvSpPr>
          <p:cNvPr id="87044" name="内容占位符 2"/>
          <p:cNvSpPr>
            <a:spLocks noGrp="1"/>
          </p:cNvSpPr>
          <p:nvPr>
            <p:ph sz="quarter" idx="4294967295"/>
          </p:nvPr>
        </p:nvSpPr>
        <p:spPr>
          <a:xfrm>
            <a:off x="457200" y="1516063"/>
            <a:ext cx="8291513" cy="5341937"/>
          </a:xfrm>
        </p:spPr>
        <p:txBody>
          <a:bodyPr/>
          <a:lstStyle/>
          <a:p>
            <a:pPr marL="273050" indent="-273050" eaLnBrk="1" hangingPunct="1"/>
            <a:r>
              <a:rPr lang="en-US" altLang="zh-CN" smtClean="0">
                <a:ea typeface="宋体" pitchFamily="2" charset="-122"/>
              </a:rPr>
              <a:t>Fast recovery</a:t>
            </a:r>
          </a:p>
          <a:p>
            <a:pPr marL="547688" lvl="1" indent="-273050"/>
            <a:r>
              <a:rPr lang="en-US" altLang="zh-CN" smtClean="0"/>
              <a:t>Both the master and the chunkserver are designed to restore their state and start in seconds no matter how they terminated.</a:t>
            </a:r>
          </a:p>
          <a:p>
            <a:pPr marL="273050" indent="-273050"/>
            <a:r>
              <a:rPr lang="en-US" altLang="zh-CN" smtClean="0">
                <a:ea typeface="宋体" pitchFamily="2" charset="-122"/>
              </a:rPr>
              <a:t>Chunk replication</a:t>
            </a:r>
          </a:p>
          <a:p>
            <a:pPr marL="547688" lvl="1" indent="-273050" eaLnBrk="1" hangingPunct="1"/>
            <a:r>
              <a:rPr lang="en-US" altLang="zh-CN" smtClean="0">
                <a:ea typeface="宋体" pitchFamily="2" charset="-122"/>
              </a:rPr>
              <a:t>default: 3 replicas</a:t>
            </a:r>
          </a:p>
          <a:p>
            <a:pPr marL="547688" lvl="1" indent="-273050"/>
            <a:r>
              <a:rPr lang="en-US" altLang="zh-CN" smtClean="0">
                <a:ea typeface="宋体" pitchFamily="2" charset="-122"/>
              </a:rPr>
              <a:t>other forms of cross-server redundancy such as parity or erasure codes</a:t>
            </a:r>
          </a:p>
          <a:p>
            <a:pPr marL="273050" indent="-273050" eaLnBrk="1" hangingPunct="1"/>
            <a:r>
              <a:rPr lang="en-US" altLang="zh-CN" smtClean="0">
                <a:ea typeface="宋体" pitchFamily="2" charset="-122"/>
              </a:rPr>
              <a:t>Master replication</a:t>
            </a:r>
          </a:p>
          <a:p>
            <a:pPr marL="547688" lvl="1" indent="-273050"/>
            <a:r>
              <a:rPr lang="en-US" altLang="zh-CN" sz="2500" smtClean="0">
                <a:ea typeface="宋体" pitchFamily="2" charset="-122"/>
              </a:rPr>
              <a:t>Master’s operation log and checkpoints are replicated on multiple machines.</a:t>
            </a:r>
          </a:p>
          <a:p>
            <a:pPr marL="547688" lvl="1" indent="-273050" eaLnBrk="1" hangingPunct="1"/>
            <a:r>
              <a:rPr lang="en-US" altLang="zh-CN" sz="2500" smtClean="0">
                <a:ea typeface="宋体" pitchFamily="2" charset="-122"/>
              </a:rPr>
              <a:t>Shadow masters: just for reading file data</a:t>
            </a:r>
            <a:endParaRPr lang="en-US" altLang="zh-CN" sz="700" smtClean="0">
              <a:ea typeface="宋体" pitchFamily="2"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5FB3B975-257D-49F4-ADC4-F141F2E33A49}" type="slidenum">
              <a:rPr lang="zh-CN" altLang="en-US"/>
              <a:pPr>
                <a:defRPr/>
              </a:pPr>
              <a:t>85</a:t>
            </a:fld>
            <a:endParaRPr lang="zh-CN" altLang="en-US"/>
          </a:p>
        </p:txBody>
      </p:sp>
      <p:sp>
        <p:nvSpPr>
          <p:cNvPr id="88067" name="AutoShape 3"/>
          <p:cNvSpPr>
            <a:spLocks noChangeAspect="1" noChangeArrowheads="1" noTextEdit="1"/>
          </p:cNvSpPr>
          <p:nvPr/>
        </p:nvSpPr>
        <p:spPr bwMode="gray">
          <a:xfrm flipH="1">
            <a:off x="4868863" y="3071813"/>
            <a:ext cx="909637" cy="1244600"/>
          </a:xfrm>
          <a:prstGeom prst="rect">
            <a:avLst/>
          </a:prstGeom>
          <a:noFill/>
          <a:ln w="9525">
            <a:noFill/>
            <a:miter lim="800000"/>
            <a:headEnd/>
            <a:tailEnd/>
          </a:ln>
        </p:spPr>
        <p:txBody>
          <a:bodyPr/>
          <a:lstStyle/>
          <a:p>
            <a:endParaRPr lang="zh-CN" altLang="en-US"/>
          </a:p>
        </p:txBody>
      </p:sp>
      <p:sp>
        <p:nvSpPr>
          <p:cNvPr id="88068" name="Text Box 4"/>
          <p:cNvSpPr txBox="1">
            <a:spLocks noChangeArrowheads="1"/>
          </p:cNvSpPr>
          <p:nvPr/>
        </p:nvSpPr>
        <p:spPr bwMode="auto">
          <a:xfrm>
            <a:off x="381000" y="1168400"/>
            <a:ext cx="7848600" cy="369888"/>
          </a:xfrm>
          <a:prstGeom prst="rect">
            <a:avLst/>
          </a:prstGeom>
          <a:noFill/>
          <a:ln w="9525">
            <a:noFill/>
            <a:miter lim="800000"/>
            <a:headEnd/>
            <a:tailEnd/>
          </a:ln>
        </p:spPr>
        <p:txBody>
          <a:bodyPr>
            <a:spAutoFit/>
          </a:bodyPr>
          <a:lstStyle/>
          <a:p>
            <a:pPr>
              <a:spcBef>
                <a:spcPct val="50000"/>
              </a:spcBef>
            </a:pPr>
            <a:r>
              <a:rPr lang="en-US" altLang="zh-CN"/>
              <a:t>Fast recovery and Replication</a:t>
            </a:r>
            <a:endParaRPr lang="zh-CN" altLang="en-US"/>
          </a:p>
        </p:txBody>
      </p:sp>
      <p:pic>
        <p:nvPicPr>
          <p:cNvPr id="88069" name="Picture 9"/>
          <p:cNvPicPr>
            <a:picLocks noChangeAspect="1" noChangeArrowheads="1"/>
          </p:cNvPicPr>
          <p:nvPr/>
        </p:nvPicPr>
        <p:blipFill>
          <a:blip r:embed="rId2" cstate="print"/>
          <a:srcRect/>
          <a:stretch>
            <a:fillRect/>
          </a:stretch>
        </p:blipFill>
        <p:spPr bwMode="gray">
          <a:xfrm>
            <a:off x="601663" y="1168400"/>
            <a:ext cx="7945437" cy="5468938"/>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9AAE5C8B-C308-4912-88E7-268D4C4F8038}" type="slidenum">
              <a:rPr lang="zh-CN" altLang="en-US"/>
              <a:pPr>
                <a:defRPr/>
              </a:pPr>
              <a:t>86</a:t>
            </a:fld>
            <a:endParaRPr lang="zh-CN" altLang="en-US"/>
          </a:p>
        </p:txBody>
      </p:sp>
      <p:sp>
        <p:nvSpPr>
          <p:cNvPr id="89091" name="标题 1"/>
          <p:cNvSpPr>
            <a:spLocks noGrp="1"/>
          </p:cNvSpPr>
          <p:nvPr>
            <p:ph type="title" idx="4294967295"/>
          </p:nvPr>
        </p:nvSpPr>
        <p:spPr>
          <a:xfrm>
            <a:off x="395288" y="-26988"/>
            <a:ext cx="8539162" cy="1143001"/>
          </a:xfrm>
        </p:spPr>
        <p:txBody>
          <a:bodyPr lIns="0" rIns="0" bIns="0" anchor="b"/>
          <a:lstStyle/>
          <a:p>
            <a:r>
              <a:rPr lang="zh-CN" altLang="en-US" smtClean="0"/>
              <a:t>数据完整性</a:t>
            </a:r>
          </a:p>
        </p:txBody>
      </p:sp>
      <p:sp>
        <p:nvSpPr>
          <p:cNvPr id="89092" name="内容占位符 2"/>
          <p:cNvSpPr>
            <a:spLocks noGrp="1"/>
          </p:cNvSpPr>
          <p:nvPr>
            <p:ph idx="4294967295"/>
          </p:nvPr>
        </p:nvSpPr>
        <p:spPr>
          <a:xfrm>
            <a:off x="395288" y="1557338"/>
            <a:ext cx="8539162" cy="4427537"/>
          </a:xfrm>
        </p:spPr>
        <p:txBody>
          <a:bodyPr/>
          <a:lstStyle/>
          <a:p>
            <a:pPr marL="273050" indent="-273050"/>
            <a:r>
              <a:rPr lang="zh-CN" altLang="en-US" smtClean="0"/>
              <a:t>每个</a:t>
            </a:r>
            <a:r>
              <a:rPr lang="en-US" altLang="zh-CN" smtClean="0"/>
              <a:t>ChunkServer</a:t>
            </a:r>
            <a:r>
              <a:rPr lang="zh-CN" altLang="en-US" smtClean="0"/>
              <a:t>都利用校验和</a:t>
            </a:r>
            <a:r>
              <a:rPr lang="en-US" altLang="zh-CN" smtClean="0"/>
              <a:t>(checksum)</a:t>
            </a:r>
            <a:r>
              <a:rPr lang="zh-CN" altLang="en-US" smtClean="0"/>
              <a:t>来检验存储数据的完整性。</a:t>
            </a:r>
            <a:endParaRPr lang="en-US" altLang="zh-CN" smtClean="0"/>
          </a:p>
          <a:p>
            <a:pPr marL="273050" indent="-273050"/>
            <a:r>
              <a:rPr lang="zh-CN" altLang="en-US" smtClean="0"/>
              <a:t>每个</a:t>
            </a:r>
            <a:r>
              <a:rPr lang="en-US" altLang="zh-CN" smtClean="0"/>
              <a:t>Chunk</a:t>
            </a:r>
            <a:r>
              <a:rPr lang="zh-CN" altLang="en-US" smtClean="0"/>
              <a:t>按</a:t>
            </a:r>
            <a:r>
              <a:rPr lang="en-US" altLang="zh-CN" smtClean="0"/>
              <a:t>64kB</a:t>
            </a:r>
            <a:r>
              <a:rPr lang="zh-CN" altLang="en-US" smtClean="0"/>
              <a:t>的大小分成块，每个块有</a:t>
            </a:r>
            <a:r>
              <a:rPr lang="en-US" altLang="zh-CN" smtClean="0"/>
              <a:t>32</a:t>
            </a:r>
            <a:r>
              <a:rPr lang="zh-CN" altLang="en-US" smtClean="0"/>
              <a:t>位的校验和，校验和和日志存储在一起，和用户数据分开。</a:t>
            </a:r>
            <a:endParaRPr lang="en-US" altLang="zh-CN" smtClean="0"/>
          </a:p>
          <a:p>
            <a:pPr marL="273050" indent="-273050"/>
            <a:r>
              <a:rPr lang="zh-CN" altLang="en-US" smtClean="0"/>
              <a:t>在读数据时，服务器首先检查与被读内容相关部分的校验和。如果块与记录的校验和不匹配，就返回错误信息给</a:t>
            </a:r>
            <a:r>
              <a:rPr lang="en-US" altLang="zh-CN" smtClean="0"/>
              <a:t>Client</a:t>
            </a:r>
            <a:r>
              <a:rPr lang="zh-CN" altLang="en-US" smtClean="0"/>
              <a:t>。然后</a:t>
            </a:r>
            <a:r>
              <a:rPr lang="en-US" altLang="zh-CN" smtClean="0"/>
              <a:t>Client</a:t>
            </a:r>
            <a:r>
              <a:rPr lang="zh-CN" altLang="en-US" smtClean="0"/>
              <a:t>会从另外一个正确的副本中读数据，同时</a:t>
            </a:r>
            <a:r>
              <a:rPr lang="en-US" altLang="zh-CN" smtClean="0"/>
              <a:t>Master</a:t>
            </a:r>
            <a:r>
              <a:rPr lang="zh-CN" altLang="en-US" smtClean="0"/>
              <a:t>会重新复制一个正确的副本，同时指导</a:t>
            </a:r>
            <a:r>
              <a:rPr lang="en-US" altLang="zh-CN" smtClean="0"/>
              <a:t>ChunkServer</a:t>
            </a:r>
            <a:r>
              <a:rPr lang="zh-CN" altLang="en-US" smtClean="0"/>
              <a:t>删除不匹配的副本</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9AAE5C8B-C308-4912-88E7-268D4C4F8038}" type="slidenum">
              <a:rPr lang="zh-CN" altLang="en-US"/>
              <a:pPr>
                <a:defRPr/>
              </a:pPr>
              <a:t>87</a:t>
            </a:fld>
            <a:endParaRPr lang="zh-CN" altLang="en-US"/>
          </a:p>
        </p:txBody>
      </p:sp>
      <p:sp>
        <p:nvSpPr>
          <p:cNvPr id="89091" name="标题 1"/>
          <p:cNvSpPr>
            <a:spLocks noGrp="1"/>
          </p:cNvSpPr>
          <p:nvPr>
            <p:ph type="title" idx="4294967295"/>
          </p:nvPr>
        </p:nvSpPr>
        <p:spPr>
          <a:xfrm>
            <a:off x="395288" y="-26988"/>
            <a:ext cx="8539162" cy="1143001"/>
          </a:xfrm>
        </p:spPr>
        <p:txBody>
          <a:bodyPr lIns="0" rIns="0" bIns="0" anchor="b"/>
          <a:lstStyle/>
          <a:p>
            <a:r>
              <a:rPr lang="zh-CN" altLang="en-US" smtClean="0"/>
              <a:t>数据完整性</a:t>
            </a:r>
          </a:p>
        </p:txBody>
      </p:sp>
      <p:sp>
        <p:nvSpPr>
          <p:cNvPr id="5" name="矩形 4"/>
          <p:cNvSpPr/>
          <p:nvPr/>
        </p:nvSpPr>
        <p:spPr>
          <a:xfrm>
            <a:off x="214282" y="1285861"/>
            <a:ext cx="8501122" cy="4542782"/>
          </a:xfrm>
          <a:prstGeom prst="rect">
            <a:avLst/>
          </a:prstGeom>
        </p:spPr>
        <p:txBody>
          <a:bodyPr wrap="square">
            <a:spAutoFit/>
          </a:bodyPr>
          <a:lstStyle/>
          <a:p>
            <a:r>
              <a:rPr lang="zh-CN" altLang="en-US" sz="2400" dirty="0" smtClean="0"/>
              <a:t>检验和，校验和</a:t>
            </a:r>
            <a:r>
              <a:rPr lang="en-US" altLang="zh-CN" sz="2400" dirty="0" smtClean="0"/>
              <a:t>(checksum)</a:t>
            </a:r>
            <a:r>
              <a:rPr lang="zh-CN" altLang="en-US" sz="2400" dirty="0" smtClean="0"/>
              <a:t>。在数据处理和数据通信领域中，用于校验目的的一组数据项的和。这些数据项可以是数字或在计算检验的过程中看作数字的其它字符串。</a:t>
            </a:r>
            <a:endParaRPr lang="en-US" altLang="zh-CN" sz="2400" dirty="0" smtClean="0"/>
          </a:p>
          <a:p>
            <a:endParaRPr lang="en-US" altLang="zh-CN" sz="2400" dirty="0" smtClean="0"/>
          </a:p>
          <a:p>
            <a:pPr eaLnBrk="0" hangingPunct="0">
              <a:spcBef>
                <a:spcPct val="30000"/>
              </a:spcBef>
              <a:defRPr/>
            </a:pPr>
            <a:r>
              <a:rPr lang="zh-CN" altLang="en-US" sz="2400" dirty="0" smtClean="0"/>
              <a:t>奇偶校验是一种校验代码传输正确性的方法。根据被传输的一组二进制代码的数位中“</a:t>
            </a:r>
            <a:r>
              <a:rPr lang="en-US" altLang="zh-CN" sz="2400" dirty="0" smtClean="0"/>
              <a:t>1”</a:t>
            </a:r>
            <a:r>
              <a:rPr lang="zh-CN" altLang="en-US" sz="2400" dirty="0" smtClean="0"/>
              <a:t>的个数是奇数或偶数来进行校验。采用奇数的称为奇校验，反之，称为偶 校验。采用何种校验是事先规定好的。通常专门设置一个奇偶校验位，用它使这组代码中“</a:t>
            </a:r>
            <a:r>
              <a:rPr lang="en-US" altLang="zh-CN" sz="2400" dirty="0" smtClean="0"/>
              <a:t>1”</a:t>
            </a:r>
            <a:r>
              <a:rPr lang="zh-CN" altLang="en-US" sz="2400" dirty="0" smtClean="0"/>
              <a:t>的个数为奇数或偶数。若用奇校验，则当接收端收到这组代码时，校 验“</a:t>
            </a:r>
            <a:r>
              <a:rPr lang="en-US" altLang="zh-CN" sz="2400" dirty="0" smtClean="0"/>
              <a:t>1”</a:t>
            </a:r>
            <a:r>
              <a:rPr lang="zh-CN" altLang="en-US" sz="2400" dirty="0" smtClean="0"/>
              <a:t>的个数是否为奇数，从而确定传输代码的正确性。 </a:t>
            </a:r>
          </a:p>
          <a:p>
            <a:r>
              <a:rPr lang="zh-CN" altLang="en-US" dirty="0" smtClean="0"/>
              <a:t> </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6A44D049-CCBD-42E7-ABC2-3452E70C780F}" type="slidenum">
              <a:rPr lang="zh-CN" altLang="en-US"/>
              <a:pPr>
                <a:defRPr/>
              </a:pPr>
              <a:t>88</a:t>
            </a:fld>
            <a:endParaRPr lang="zh-CN" altLang="en-US"/>
          </a:p>
        </p:txBody>
      </p:sp>
      <p:sp>
        <p:nvSpPr>
          <p:cNvPr id="4" name="日期占位符 3"/>
          <p:cNvSpPr txBox="1">
            <a:spLocks noGrp="1"/>
          </p:cNvSpPr>
          <p:nvPr/>
        </p:nvSpPr>
        <p:spPr>
          <a:xfrm>
            <a:off x="3662363" y="6300788"/>
            <a:ext cx="2133600" cy="476250"/>
          </a:xfrm>
          <a:prstGeom prst="rect">
            <a:avLst/>
          </a:prstGeom>
          <a:noFill/>
        </p:spPr>
        <p:txBody>
          <a:bodyPr anchor="b"/>
          <a:lstStyle/>
          <a:p>
            <a:pPr algn="r" fontAlgn="auto">
              <a:spcBef>
                <a:spcPts val="0"/>
              </a:spcBef>
              <a:spcAft>
                <a:spcPts val="0"/>
              </a:spcAft>
              <a:defRPr/>
            </a:pPr>
            <a:fld id="{348AB485-A12D-4633-84D5-DEFC3EEC4856}" type="datetime5">
              <a:rPr lang="zh-CN" altLang="en-US" sz="1200">
                <a:solidFill>
                  <a:schemeClr val="bg2">
                    <a:shade val="50000"/>
                    <a:satMod val="200000"/>
                  </a:schemeClr>
                </a:solidFill>
                <a:latin typeface="+mn-lt"/>
                <a:ea typeface="+mn-ea"/>
              </a:rPr>
              <a:pPr algn="r" fontAlgn="auto">
                <a:spcBef>
                  <a:spcPts val="0"/>
                </a:spcBef>
                <a:spcAft>
                  <a:spcPts val="0"/>
                </a:spcAft>
                <a:defRPr/>
              </a:pPr>
              <a:t>2017/10/24</a:t>
            </a:fld>
            <a:endParaRPr lang="zh-CN" altLang="en-US" sz="1200">
              <a:solidFill>
                <a:schemeClr val="bg2">
                  <a:shade val="50000"/>
                  <a:satMod val="200000"/>
                </a:schemeClr>
              </a:solidFill>
              <a:latin typeface="+mn-lt"/>
              <a:ea typeface="+mn-ea"/>
            </a:endParaRPr>
          </a:p>
        </p:txBody>
      </p:sp>
      <p:sp>
        <p:nvSpPr>
          <p:cNvPr id="5" name="页脚占位符 4"/>
          <p:cNvSpPr txBox="1">
            <a:spLocks noGrp="1"/>
          </p:cNvSpPr>
          <p:nvPr/>
        </p:nvSpPr>
        <p:spPr>
          <a:xfrm>
            <a:off x="6156325" y="6305550"/>
            <a:ext cx="2303463" cy="476250"/>
          </a:xfrm>
          <a:prstGeom prst="rect">
            <a:avLst/>
          </a:prstGeom>
          <a:noFill/>
        </p:spPr>
        <p:txBody>
          <a:bodyPr anchor="b"/>
          <a:lstStyle/>
          <a:p>
            <a:pPr>
              <a:defRPr/>
            </a:pPr>
            <a:r>
              <a:rPr lang="en-US" altLang="zh-CN" sz="1200">
                <a:solidFill>
                  <a:srgbClr val="B4B1A0"/>
                </a:solidFill>
                <a:latin typeface="+mn-lt"/>
                <a:ea typeface="+mn-ea"/>
              </a:rPr>
              <a:t>Cloud Computing,</a:t>
            </a:r>
            <a:r>
              <a:rPr lang="zh-CN" altLang="en-US" sz="1200">
                <a:solidFill>
                  <a:srgbClr val="B4B1A0"/>
                </a:solidFill>
                <a:latin typeface="+mn-lt"/>
                <a:ea typeface="+mn-ea"/>
              </a:rPr>
              <a:t> </a:t>
            </a:r>
            <a:r>
              <a:rPr lang="en-US" altLang="zh-CN" sz="1200">
                <a:solidFill>
                  <a:srgbClr val="B4B1A0"/>
                </a:solidFill>
                <a:latin typeface="+mn-lt"/>
                <a:ea typeface="+mn-ea"/>
              </a:rPr>
              <a:t>GUCAS</a:t>
            </a:r>
            <a:endParaRPr lang="zh-CN" altLang="en-US" sz="1200">
              <a:solidFill>
                <a:srgbClr val="B4B1A0"/>
              </a:solidFill>
              <a:latin typeface="+mn-lt"/>
              <a:ea typeface="+mn-ea"/>
            </a:endParaRPr>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130598A2-A8E9-4B76-B7C7-A6BCB30ABE17}" type="slidenum">
              <a:rPr lang="zh-CN" altLang="en-US" sz="1200">
                <a:solidFill>
                  <a:schemeClr val="bg2">
                    <a:shade val="50000"/>
                    <a:satMod val="200000"/>
                  </a:schemeClr>
                </a:solidFill>
                <a:latin typeface="+mn-lt"/>
                <a:ea typeface="+mn-ea"/>
              </a:rPr>
              <a:pPr algn="ctr" fontAlgn="auto">
                <a:spcBef>
                  <a:spcPts val="0"/>
                </a:spcBef>
                <a:spcAft>
                  <a:spcPts val="0"/>
                </a:spcAft>
                <a:defRPr/>
              </a:pPr>
              <a:t>88</a:t>
            </a:fld>
            <a:endParaRPr lang="zh-CN" altLang="en-US" sz="1200">
              <a:solidFill>
                <a:schemeClr val="bg2">
                  <a:shade val="50000"/>
                  <a:satMod val="200000"/>
                </a:schemeClr>
              </a:solidFill>
              <a:latin typeface="+mn-lt"/>
              <a:ea typeface="+mn-ea"/>
            </a:endParaRPr>
          </a:p>
        </p:txBody>
      </p:sp>
      <p:sp>
        <p:nvSpPr>
          <p:cNvPr id="90118" name="Rectangle 2"/>
          <p:cNvSpPr>
            <a:spLocks noGrp="1"/>
          </p:cNvSpPr>
          <p:nvPr>
            <p:ph type="title" idx="4294967295"/>
          </p:nvPr>
        </p:nvSpPr>
        <p:spPr>
          <a:noFill/>
        </p:spPr>
        <p:txBody>
          <a:bodyPr/>
          <a:lstStyle/>
          <a:p>
            <a:r>
              <a:rPr lang="zh-CN" altLang="en-US" smtClean="0"/>
              <a:t>提纲</a:t>
            </a:r>
          </a:p>
        </p:txBody>
      </p:sp>
      <p:sp>
        <p:nvSpPr>
          <p:cNvPr id="90119" name="Rectangle 3"/>
          <p:cNvSpPr>
            <a:spLocks noGrp="1"/>
          </p:cNvSpPr>
          <p:nvPr>
            <p:ph type="body" idx="4294967295"/>
          </p:nvPr>
        </p:nvSpPr>
        <p:spPr/>
        <p:txBody>
          <a:bodyPr/>
          <a:lstStyle/>
          <a:p>
            <a:r>
              <a:rPr lang="en-US" altLang="zh-CN" sz="3200" smtClean="0"/>
              <a:t>1. </a:t>
            </a:r>
            <a:r>
              <a:rPr lang="zh-CN" altLang="en-US" sz="3200" smtClean="0"/>
              <a:t>文件系统</a:t>
            </a:r>
          </a:p>
          <a:p>
            <a:r>
              <a:rPr lang="en-US" altLang="zh-CN" sz="3200" smtClean="0"/>
              <a:t>2. </a:t>
            </a:r>
            <a:r>
              <a:rPr lang="zh-CN" altLang="en-US" sz="3200" smtClean="0"/>
              <a:t>分布式文件系统</a:t>
            </a:r>
          </a:p>
          <a:p>
            <a:r>
              <a:rPr lang="en-US" altLang="zh-CN" sz="3200" smtClean="0"/>
              <a:t>3. </a:t>
            </a:r>
            <a:r>
              <a:rPr lang="zh-CN" altLang="en-US" sz="3200" smtClean="0"/>
              <a:t>典型分布式文件系统</a:t>
            </a:r>
          </a:p>
          <a:p>
            <a:r>
              <a:rPr lang="en-US" altLang="zh-CN" sz="3200" smtClean="0"/>
              <a:t>4. Goolge File System </a:t>
            </a:r>
            <a:endParaRPr lang="zh-CN" altLang="en-US" sz="3200" smtClean="0"/>
          </a:p>
          <a:p>
            <a:r>
              <a:rPr lang="en-US" altLang="zh-CN" sz="3200" smtClean="0">
                <a:solidFill>
                  <a:schemeClr val="hlink"/>
                </a:solidFill>
              </a:rPr>
              <a:t>5. Hadoop Distributed File System</a:t>
            </a:r>
          </a:p>
          <a:p>
            <a:endParaRPr lang="zh-CN" altLang="en-US" sz="3200" smtClean="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EE9D2C64-D024-4954-B8B0-13D32D758629}" type="slidenum">
              <a:rPr lang="zh-CN" altLang="en-US"/>
              <a:pPr>
                <a:defRPr/>
              </a:pPr>
              <a:t>89</a:t>
            </a:fld>
            <a:endParaRPr lang="zh-CN" altLang="en-US"/>
          </a:p>
        </p:txBody>
      </p:sp>
      <p:sp>
        <p:nvSpPr>
          <p:cNvPr id="294914" name="Rectangle 2"/>
          <p:cNvSpPr>
            <a:spLocks noGrp="1"/>
          </p:cNvSpPr>
          <p:nvPr>
            <p:ph type="title"/>
          </p:nvPr>
        </p:nvSpPr>
        <p:spPr/>
        <p:txBody>
          <a:bodyPr/>
          <a:lstStyle/>
          <a:p>
            <a:pPr>
              <a:defRPr/>
            </a:pPr>
            <a:r>
              <a:rPr lang="en-US" altLang="zh-CN" smtClean="0">
                <a:effectLst>
                  <a:outerShdw blurRad="38100" dist="38100" dir="2700000" algn="tl">
                    <a:srgbClr val="C0C0C0"/>
                  </a:outerShdw>
                </a:effectLst>
              </a:rPr>
              <a:t>Hadoop</a:t>
            </a:r>
            <a:r>
              <a:rPr lang="zh-CN" altLang="en-US" smtClean="0">
                <a:effectLst>
                  <a:outerShdw blurRad="38100" dist="38100" dir="2700000" algn="tl">
                    <a:srgbClr val="C0C0C0"/>
                  </a:outerShdw>
                </a:effectLst>
              </a:rPr>
              <a:t>起源</a:t>
            </a:r>
          </a:p>
        </p:txBody>
      </p:sp>
      <p:sp>
        <p:nvSpPr>
          <p:cNvPr id="91140" name="内容占位符 2"/>
          <p:cNvSpPr>
            <a:spLocks noGrp="1"/>
          </p:cNvSpPr>
          <p:nvPr>
            <p:ph type="body" idx="1"/>
          </p:nvPr>
        </p:nvSpPr>
        <p:spPr/>
        <p:txBody>
          <a:bodyPr/>
          <a:lstStyle/>
          <a:p>
            <a:r>
              <a:rPr lang="en-US" altLang="zh-TW" smtClean="0"/>
              <a:t>In 200</a:t>
            </a:r>
            <a:r>
              <a:rPr lang="en-US" altLang="zh-CN" smtClean="0"/>
              <a:t>3 and 2004</a:t>
            </a:r>
            <a:r>
              <a:rPr lang="en-US" altLang="zh-TW" smtClean="0"/>
              <a:t>, Google’s GFS &amp; MapReduce papers published</a:t>
            </a:r>
          </a:p>
          <a:p>
            <a:r>
              <a:rPr lang="en-US" altLang="zh-CN" smtClean="0"/>
              <a:t>2005</a:t>
            </a:r>
            <a:r>
              <a:rPr lang="zh-CN" altLang="en-US" smtClean="0"/>
              <a:t>年</a:t>
            </a:r>
            <a:r>
              <a:rPr lang="en-US" altLang="zh-CN" smtClean="0"/>
              <a:t>Doug</a:t>
            </a:r>
            <a:r>
              <a:rPr lang="en-US" altLang="zh-TW" smtClean="0"/>
              <a:t> Cutting </a:t>
            </a:r>
            <a:r>
              <a:rPr lang="zh-CN" altLang="en-US" smtClean="0"/>
              <a:t>开始参考论文来实现，</a:t>
            </a:r>
            <a:r>
              <a:rPr kumimoji="1" lang="zh-CN" altLang="en-US" smtClean="0"/>
              <a:t>添加</a:t>
            </a:r>
            <a:r>
              <a:rPr kumimoji="1" lang="en-US" altLang="zh-TW" smtClean="0"/>
              <a:t>DFS &amp; MapReduce</a:t>
            </a:r>
            <a:r>
              <a:rPr kumimoji="1" lang="zh-CN" altLang="en-US" smtClean="0"/>
              <a:t>的实现到</a:t>
            </a:r>
            <a:r>
              <a:rPr kumimoji="1" lang="en-US" altLang="zh-TW" smtClean="0"/>
              <a:t>Nutch</a:t>
            </a:r>
            <a:r>
              <a:rPr kumimoji="1" lang="zh-CN" altLang="en-US" smtClean="0"/>
              <a:t>中</a:t>
            </a:r>
            <a:endParaRPr lang="zh-TW" altLang="en-US" smtClean="0"/>
          </a:p>
          <a:p>
            <a:r>
              <a:rPr lang="en-US" altLang="zh-CN" smtClean="0"/>
              <a:t>2006</a:t>
            </a:r>
            <a:r>
              <a:rPr lang="zh-CN" altLang="en-US" smtClean="0"/>
              <a:t>年，</a:t>
            </a:r>
            <a:r>
              <a:rPr lang="en-US" altLang="zh-CN" smtClean="0"/>
              <a:t>Nutch</a:t>
            </a:r>
            <a:r>
              <a:rPr lang="en-US" altLang="zh-TW" smtClean="0"/>
              <a:t> 0.8</a:t>
            </a:r>
            <a:r>
              <a:rPr lang="zh-CN" altLang="en-US" smtClean="0"/>
              <a:t>版本以后</a:t>
            </a:r>
            <a:r>
              <a:rPr lang="zh-TW" altLang="en-US" smtClean="0"/>
              <a:t>，</a:t>
            </a:r>
            <a:r>
              <a:rPr lang="en-US" altLang="zh-TW" smtClean="0"/>
              <a:t>Hadoop</a:t>
            </a:r>
            <a:r>
              <a:rPr lang="zh-CN" altLang="en-US" smtClean="0"/>
              <a:t>成为独立的项目</a:t>
            </a:r>
            <a:endParaRPr lang="zh-TW" altLang="en-US" smtClean="0"/>
          </a:p>
          <a:p>
            <a:r>
              <a:rPr lang="en-US" altLang="zh-TW" smtClean="0"/>
              <a:t>Yahoo </a:t>
            </a:r>
            <a:r>
              <a:rPr lang="zh-CN" altLang="en-US" smtClean="0"/>
              <a:t>于</a:t>
            </a:r>
            <a:r>
              <a:rPr lang="en-US" altLang="zh-TW" smtClean="0"/>
              <a:t>2006</a:t>
            </a:r>
            <a:r>
              <a:rPr lang="zh-TW" altLang="en-US" smtClean="0"/>
              <a:t>年</a:t>
            </a:r>
            <a:r>
              <a:rPr lang="zh-CN" altLang="en-US" smtClean="0"/>
              <a:t>雇用</a:t>
            </a:r>
            <a:r>
              <a:rPr lang="en-US" altLang="zh-TW" smtClean="0"/>
              <a:t>Do</a:t>
            </a:r>
            <a:r>
              <a:rPr lang="en-US" altLang="zh-CN" smtClean="0"/>
              <a:t>u</a:t>
            </a:r>
            <a:r>
              <a:rPr lang="en-US" altLang="zh-TW" smtClean="0"/>
              <a:t>g Cutting </a:t>
            </a:r>
            <a:r>
              <a:rPr lang="zh-CN" altLang="en-US" smtClean="0"/>
              <a:t>组队专职开发</a:t>
            </a:r>
            <a:endParaRPr lang="en-US" altLang="zh-CN" smtClean="0"/>
          </a:p>
          <a:p>
            <a:r>
              <a:rPr lang="en-US" altLang="zh-CN" smtClean="0"/>
              <a:t>Doug Cutting</a:t>
            </a:r>
            <a:r>
              <a:rPr lang="zh-CN" altLang="en-US" smtClean="0"/>
              <a:t>如此解释</a:t>
            </a:r>
            <a:r>
              <a:rPr lang="en-US" altLang="zh-CN" smtClean="0"/>
              <a:t>Hadoop</a:t>
            </a:r>
            <a:r>
              <a:rPr lang="zh-CN" altLang="en-US" smtClean="0"/>
              <a:t>的得名：</a:t>
            </a:r>
            <a:r>
              <a:rPr lang="en-US" altLang="zh-CN" smtClean="0"/>
              <a:t>“</a:t>
            </a:r>
            <a:r>
              <a:rPr lang="zh-CN" altLang="en-US" smtClean="0"/>
              <a:t>这个名字来自我孩子喜欢的一头棕黄色大象玩具的名字</a:t>
            </a:r>
            <a:r>
              <a:rPr lang="en-US" altLang="zh-CN" smtClean="0"/>
              <a:t>”</a:t>
            </a:r>
            <a:endParaRPr lang="zh-CN" altLang="en-US" smtClean="0"/>
          </a:p>
          <a:p>
            <a:endParaRPr lang="en-US" altLang="zh-TW" smtClean="0"/>
          </a:p>
          <a:p>
            <a:endParaRPr lang="zh-CN" altLang="en-US" sz="2600" smtClean="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8ED46A18-0EC1-401A-87F5-A688BBE19EA8}" type="slidenum">
              <a:rPr lang="zh-CN" altLang="en-US"/>
              <a:pPr>
                <a:defRPr/>
              </a:pPr>
              <a:t>90</a:t>
            </a:fld>
            <a:endParaRPr lang="zh-CN" altLang="en-US"/>
          </a:p>
        </p:txBody>
      </p:sp>
      <p:sp>
        <p:nvSpPr>
          <p:cNvPr id="92163" name="Rectangle 2"/>
          <p:cNvSpPr>
            <a:spLocks noGrp="1"/>
          </p:cNvSpPr>
          <p:nvPr>
            <p:ph type="title"/>
          </p:nvPr>
        </p:nvSpPr>
        <p:spPr/>
        <p:txBody>
          <a:bodyPr/>
          <a:lstStyle/>
          <a:p>
            <a:r>
              <a:rPr lang="en-US" altLang="zh-CN" smtClean="0"/>
              <a:t>Hadoop</a:t>
            </a:r>
            <a:r>
              <a:rPr lang="zh-CN" altLang="en-US" smtClean="0"/>
              <a:t>子项目</a:t>
            </a:r>
          </a:p>
        </p:txBody>
      </p:sp>
      <p:sp>
        <p:nvSpPr>
          <p:cNvPr id="92164" name="Rectangle 3"/>
          <p:cNvSpPr>
            <a:spLocks noGrp="1"/>
          </p:cNvSpPr>
          <p:nvPr>
            <p:ph type="body" idx="1"/>
          </p:nvPr>
        </p:nvSpPr>
        <p:spPr/>
        <p:txBody>
          <a:bodyPr/>
          <a:lstStyle/>
          <a:p>
            <a:r>
              <a:rPr lang="en-US" altLang="zh-CN" smtClean="0"/>
              <a:t>Hadoop Common</a:t>
            </a:r>
            <a:r>
              <a:rPr lang="zh-CN" altLang="en-US" smtClean="0"/>
              <a:t>：就是原来</a:t>
            </a:r>
            <a:r>
              <a:rPr lang="en-US" altLang="zh-CN" smtClean="0"/>
              <a:t>Hadoop Core</a:t>
            </a:r>
            <a:r>
              <a:rPr lang="zh-CN" altLang="en-US" smtClean="0"/>
              <a:t>。这是整个</a:t>
            </a:r>
            <a:r>
              <a:rPr lang="en-US" altLang="zh-CN" smtClean="0"/>
              <a:t>Hadoop</a:t>
            </a:r>
            <a:r>
              <a:rPr lang="zh-CN" altLang="en-US" smtClean="0"/>
              <a:t>项目的核心，其他的</a:t>
            </a:r>
            <a:r>
              <a:rPr lang="en-US" altLang="zh-CN" smtClean="0"/>
              <a:t>Hadoop</a:t>
            </a:r>
            <a:r>
              <a:rPr lang="zh-CN" altLang="en-US" smtClean="0"/>
              <a:t>子项目都是在</a:t>
            </a:r>
            <a:r>
              <a:rPr lang="en-US" altLang="zh-CN" smtClean="0"/>
              <a:t>Hadoop Common</a:t>
            </a:r>
            <a:r>
              <a:rPr lang="zh-CN" altLang="en-US" smtClean="0"/>
              <a:t>的基础上发展的</a:t>
            </a:r>
          </a:p>
          <a:p>
            <a:r>
              <a:rPr lang="en-US" altLang="zh-CN" smtClean="0"/>
              <a:t>HBase</a:t>
            </a:r>
            <a:r>
              <a:rPr lang="zh-CN" altLang="en-US" smtClean="0"/>
              <a:t>：支持结构化数据存储的分布式数据库系统，是</a:t>
            </a:r>
            <a:r>
              <a:rPr lang="en-US" altLang="zh-CN" smtClean="0"/>
              <a:t>Bigtable</a:t>
            </a:r>
            <a:r>
              <a:rPr lang="zh-CN" altLang="en-US" smtClean="0"/>
              <a:t>的开源实现</a:t>
            </a:r>
          </a:p>
          <a:p>
            <a:r>
              <a:rPr lang="en-US" altLang="zh-CN" smtClean="0">
                <a:solidFill>
                  <a:schemeClr val="accent2"/>
                </a:solidFill>
              </a:rPr>
              <a:t>HDFS</a:t>
            </a:r>
            <a:r>
              <a:rPr lang="zh-CN" altLang="en-US" smtClean="0">
                <a:solidFill>
                  <a:schemeClr val="accent2"/>
                </a:solidFill>
              </a:rPr>
              <a:t>：提供高吞吐量的分布式文件系统，是</a:t>
            </a:r>
            <a:r>
              <a:rPr lang="en-US" altLang="zh-CN" smtClean="0">
                <a:solidFill>
                  <a:schemeClr val="accent2"/>
                </a:solidFill>
              </a:rPr>
              <a:t>GFS</a:t>
            </a:r>
            <a:r>
              <a:rPr lang="zh-CN" altLang="en-US" smtClean="0">
                <a:solidFill>
                  <a:schemeClr val="accent2"/>
                </a:solidFill>
              </a:rPr>
              <a:t>的开源实现</a:t>
            </a:r>
          </a:p>
          <a:p>
            <a:r>
              <a:rPr lang="en-US" altLang="zh-CN" smtClean="0"/>
              <a:t>Avro</a:t>
            </a:r>
            <a:r>
              <a:rPr lang="zh-CN" altLang="en-US" smtClean="0"/>
              <a:t>：</a:t>
            </a:r>
            <a:r>
              <a:rPr lang="en-US" altLang="zh-CN" smtClean="0"/>
              <a:t>Hadoop</a:t>
            </a:r>
            <a:r>
              <a:rPr lang="zh-CN" altLang="en-US" smtClean="0"/>
              <a:t>的</a:t>
            </a:r>
            <a:r>
              <a:rPr lang="en-US" altLang="zh-CN" smtClean="0"/>
              <a:t>RPC</a:t>
            </a:r>
            <a:r>
              <a:rPr lang="zh-CN" altLang="en-US" smtClean="0"/>
              <a:t>（远程过程调用）方案。</a:t>
            </a:r>
          </a:p>
          <a:p>
            <a:r>
              <a:rPr lang="en-US" altLang="zh-CN" smtClean="0"/>
              <a:t>Chukwa</a:t>
            </a:r>
            <a:r>
              <a:rPr lang="zh-CN" altLang="en-US" smtClean="0"/>
              <a:t>：一个用来管理大型分布式系统的数据采集系统。</a:t>
            </a:r>
          </a:p>
          <a:p>
            <a:endParaRPr lang="zh-CN" altLang="en-US" smtClean="0">
              <a:solidFill>
                <a:schemeClr val="accent2"/>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32A66CC2-EDF6-4D05-BA02-31E85C16C746}" type="slidenum">
              <a:rPr lang="zh-CN" altLang="en-US"/>
              <a:pPr>
                <a:defRPr/>
              </a:pPr>
              <a:t>91</a:t>
            </a:fld>
            <a:endParaRPr lang="zh-CN" altLang="en-US"/>
          </a:p>
        </p:txBody>
      </p:sp>
      <p:sp>
        <p:nvSpPr>
          <p:cNvPr id="93187" name="Rectangle 2"/>
          <p:cNvSpPr>
            <a:spLocks noGrp="1"/>
          </p:cNvSpPr>
          <p:nvPr>
            <p:ph type="title"/>
          </p:nvPr>
        </p:nvSpPr>
        <p:spPr/>
        <p:txBody>
          <a:bodyPr/>
          <a:lstStyle/>
          <a:p>
            <a:r>
              <a:rPr lang="en-US" altLang="zh-CN" smtClean="0"/>
              <a:t>Hadoop</a:t>
            </a:r>
            <a:r>
              <a:rPr lang="zh-CN" altLang="en-US" smtClean="0"/>
              <a:t>子项目</a:t>
            </a:r>
          </a:p>
        </p:txBody>
      </p:sp>
      <p:sp>
        <p:nvSpPr>
          <p:cNvPr id="93188" name="Rectangle 3"/>
          <p:cNvSpPr>
            <a:spLocks noGrp="1"/>
          </p:cNvSpPr>
          <p:nvPr>
            <p:ph type="body" idx="1"/>
          </p:nvPr>
        </p:nvSpPr>
        <p:spPr/>
        <p:txBody>
          <a:bodyPr/>
          <a:lstStyle/>
          <a:p>
            <a:r>
              <a:rPr lang="en-US" altLang="zh-CN" smtClean="0"/>
              <a:t>Hive</a:t>
            </a:r>
            <a:r>
              <a:rPr lang="zh-CN" altLang="en-US" smtClean="0"/>
              <a:t>：提供数据摘要和查询功能的数据仓库</a:t>
            </a:r>
          </a:p>
          <a:p>
            <a:r>
              <a:rPr lang="en-US" altLang="zh-CN" smtClean="0"/>
              <a:t>MapReduce</a:t>
            </a:r>
            <a:r>
              <a:rPr lang="zh-CN" altLang="en-US" smtClean="0"/>
              <a:t>：大型数据的分布式处理模型，是</a:t>
            </a:r>
            <a:r>
              <a:rPr lang="en-US" altLang="zh-CN" smtClean="0"/>
              <a:t>Google</a:t>
            </a:r>
            <a:r>
              <a:rPr lang="zh-CN" altLang="en-US" smtClean="0"/>
              <a:t>的</a:t>
            </a:r>
            <a:r>
              <a:rPr lang="en-US" altLang="zh-CN" smtClean="0"/>
              <a:t>MapReduce</a:t>
            </a:r>
            <a:r>
              <a:rPr lang="zh-CN" altLang="en-US" smtClean="0"/>
              <a:t>的开源实现</a:t>
            </a:r>
          </a:p>
          <a:p>
            <a:r>
              <a:rPr lang="en-US" altLang="zh-CN" smtClean="0"/>
              <a:t>Pig</a:t>
            </a:r>
            <a:r>
              <a:rPr lang="zh-CN" altLang="en-US" smtClean="0"/>
              <a:t>：是在</a:t>
            </a:r>
            <a:r>
              <a:rPr lang="en-US" altLang="zh-CN" smtClean="0"/>
              <a:t>MapReduce</a:t>
            </a:r>
            <a:r>
              <a:rPr lang="zh-CN" altLang="en-US" smtClean="0"/>
              <a:t>上构建的一种高级的数据流语言，它是</a:t>
            </a:r>
            <a:r>
              <a:rPr lang="en-US" altLang="zh-CN" smtClean="0"/>
              <a:t>Sawzall</a:t>
            </a:r>
            <a:r>
              <a:rPr lang="zh-CN" altLang="en-US" smtClean="0"/>
              <a:t>的开源实现。</a:t>
            </a:r>
          </a:p>
          <a:p>
            <a:r>
              <a:rPr lang="en-US" altLang="zh-CN" smtClean="0"/>
              <a:t>ZooKeeper</a:t>
            </a:r>
            <a:r>
              <a:rPr lang="zh-CN" altLang="en-US" smtClean="0"/>
              <a:t>：用于解决分布式系统中一致性问题，是</a:t>
            </a:r>
            <a:r>
              <a:rPr lang="en-US" altLang="zh-CN" smtClean="0"/>
              <a:t>Chubby</a:t>
            </a:r>
            <a:r>
              <a:rPr lang="zh-CN" altLang="en-US" smtClean="0"/>
              <a:t>的开源实现。</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84BBC67-E01C-4CCF-9AB0-62E4D356FB29}" type="slidenum">
              <a:rPr lang="zh-CN" altLang="en-US"/>
              <a:pPr>
                <a:defRPr/>
              </a:pPr>
              <a:t>92</a:t>
            </a:fld>
            <a:endParaRPr lang="zh-CN" altLang="en-US"/>
          </a:p>
        </p:txBody>
      </p:sp>
      <p:pic>
        <p:nvPicPr>
          <p:cNvPr id="94211" name="Picture 2" descr="C:\Users\lenovo\Desktop\未命名.jpg"/>
          <p:cNvPicPr>
            <a:picLocks noGrp="1" noChangeAspect="1" noChangeArrowheads="1"/>
          </p:cNvPicPr>
          <p:nvPr>
            <p:ph idx="4294967295"/>
          </p:nvPr>
        </p:nvPicPr>
        <p:blipFill>
          <a:blip r:embed="rId2" cstate="print"/>
          <a:srcRect/>
          <a:stretch>
            <a:fillRect/>
          </a:stretch>
        </p:blipFill>
        <p:spPr>
          <a:xfrm>
            <a:off x="395288" y="1428750"/>
            <a:ext cx="8551862" cy="4857750"/>
          </a:xfrm>
          <a:noFill/>
        </p:spPr>
      </p:pic>
      <p:sp>
        <p:nvSpPr>
          <p:cNvPr id="94212"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US" altLang="zh-CN" sz="4300">
                <a:solidFill>
                  <a:srgbClr val="11488B"/>
                </a:solidFill>
                <a:latin typeface="Gill Sans MT" pitchFamily="34" charset="0"/>
                <a:ea typeface="华文中宋" pitchFamily="2" charset="-122"/>
              </a:rPr>
              <a:t>HDFS</a:t>
            </a:r>
            <a:r>
              <a:rPr lang="zh-CN" altLang="en-US" sz="4300">
                <a:solidFill>
                  <a:srgbClr val="11488B"/>
                </a:solidFill>
                <a:latin typeface="Gill Sans MT" pitchFamily="34" charset="0"/>
                <a:ea typeface="华文中宋" pitchFamily="2" charset="-122"/>
              </a:rPr>
              <a:t>和</a:t>
            </a:r>
            <a:r>
              <a:rPr lang="en-US" altLang="zh-CN" sz="4300">
                <a:solidFill>
                  <a:srgbClr val="11488B"/>
                </a:solidFill>
                <a:latin typeface="Gill Sans MT" pitchFamily="34" charset="0"/>
                <a:ea typeface="华文中宋" pitchFamily="2" charset="-122"/>
              </a:rPr>
              <a:t>GFS</a:t>
            </a:r>
            <a:r>
              <a:rPr lang="zh-CN" altLang="en-US" sz="4300">
                <a:solidFill>
                  <a:srgbClr val="11488B"/>
                </a:solidFill>
                <a:latin typeface="Gill Sans MT" pitchFamily="34" charset="0"/>
                <a:ea typeface="华文中宋" pitchFamily="2" charset="-122"/>
              </a:rPr>
              <a:t>的对照</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8167563B-E5A2-4076-9743-93930AA24135}" type="slidenum">
              <a:rPr lang="zh-CN" altLang="en-US"/>
              <a:pPr>
                <a:defRPr/>
              </a:pPr>
              <a:t>93</a:t>
            </a:fld>
            <a:endParaRPr lang="zh-CN" altLang="en-US"/>
          </a:p>
        </p:txBody>
      </p:sp>
      <p:pic>
        <p:nvPicPr>
          <p:cNvPr id="95235" name="Picture 2" descr="C:\Users\lenovo\Desktop\hdfsarchitecture.gif"/>
          <p:cNvPicPr>
            <a:picLocks noGrp="1" noChangeAspect="1" noChangeArrowheads="1"/>
          </p:cNvPicPr>
          <p:nvPr>
            <p:ph idx="4294967295"/>
          </p:nvPr>
        </p:nvPicPr>
        <p:blipFill>
          <a:blip r:embed="rId2" cstate="print"/>
          <a:srcRect/>
          <a:stretch>
            <a:fillRect/>
          </a:stretch>
        </p:blipFill>
        <p:spPr>
          <a:xfrm>
            <a:off x="606425" y="1428750"/>
            <a:ext cx="7273925" cy="5026025"/>
          </a:xfrm>
          <a:noFill/>
        </p:spPr>
      </p:pic>
      <p:sp>
        <p:nvSpPr>
          <p:cNvPr id="95236"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US" altLang="zh-CN" sz="4300">
                <a:solidFill>
                  <a:srgbClr val="11488B"/>
                </a:solidFill>
                <a:latin typeface="Gill Sans MT" pitchFamily="34" charset="0"/>
                <a:ea typeface="华文中宋" pitchFamily="2" charset="-122"/>
              </a:rPr>
              <a:t>HDFS Architecture</a:t>
            </a:r>
            <a:endParaRPr lang="zh-CN" altLang="en-US" sz="4300">
              <a:solidFill>
                <a:srgbClr val="11488B"/>
              </a:solidFill>
              <a:latin typeface="Gill Sans MT" pitchFamily="34" charset="0"/>
              <a:ea typeface="华文中宋" pitchFamily="2" charset="-122"/>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31E8DAA3-BE13-4E54-AFC2-916A9120F929}" type="slidenum">
              <a:rPr lang="zh-CN" altLang="en-US"/>
              <a:pPr>
                <a:defRPr/>
              </a:pPr>
              <a:t>94</a:t>
            </a:fld>
            <a:endParaRPr lang="zh-CN" altLang="en-US"/>
          </a:p>
        </p:txBody>
      </p:sp>
      <p:sp>
        <p:nvSpPr>
          <p:cNvPr id="96259" name="内容占位符 2"/>
          <p:cNvSpPr>
            <a:spLocks noGrp="1"/>
          </p:cNvSpPr>
          <p:nvPr>
            <p:ph idx="4294967295"/>
          </p:nvPr>
        </p:nvSpPr>
        <p:spPr/>
        <p:txBody>
          <a:bodyPr/>
          <a:lstStyle/>
          <a:p>
            <a:pPr marL="447675" indent="-382588" eaLnBrk="1" hangingPunct="1">
              <a:lnSpc>
                <a:spcPct val="90000"/>
              </a:lnSpc>
            </a:pPr>
            <a:r>
              <a:rPr lang="en-US" altLang="zh-CN" smtClean="0"/>
              <a:t>HDFS</a:t>
            </a:r>
            <a:r>
              <a:rPr lang="zh-CN" altLang="en-US" smtClean="0"/>
              <a:t>主要由</a:t>
            </a:r>
            <a:r>
              <a:rPr lang="zh-CN" altLang="en-US" smtClean="0">
                <a:solidFill>
                  <a:schemeClr val="accent2"/>
                </a:solidFill>
              </a:rPr>
              <a:t>主控服务器</a:t>
            </a:r>
            <a:r>
              <a:rPr lang="en-US" altLang="zh-CN" smtClean="0">
                <a:solidFill>
                  <a:schemeClr val="accent2"/>
                </a:solidFill>
              </a:rPr>
              <a:t>NameNode</a:t>
            </a:r>
            <a:r>
              <a:rPr lang="zh-CN" altLang="en-US" smtClean="0">
                <a:solidFill>
                  <a:schemeClr val="accent2"/>
                </a:solidFill>
              </a:rPr>
              <a:t>，数据服务器</a:t>
            </a:r>
            <a:r>
              <a:rPr lang="en-US" altLang="zh-CN" smtClean="0">
                <a:solidFill>
                  <a:schemeClr val="accent2"/>
                </a:solidFill>
              </a:rPr>
              <a:t>DataNode</a:t>
            </a:r>
            <a:r>
              <a:rPr lang="zh-CN" altLang="en-US" smtClean="0">
                <a:solidFill>
                  <a:schemeClr val="accent2"/>
                </a:solidFill>
              </a:rPr>
              <a:t>，客户端</a:t>
            </a:r>
            <a:r>
              <a:rPr lang="zh-CN" altLang="en-US" smtClean="0"/>
              <a:t>组成。</a:t>
            </a:r>
          </a:p>
          <a:p>
            <a:pPr marL="447675" indent="-382588" eaLnBrk="1" hangingPunct="1">
              <a:lnSpc>
                <a:spcPct val="90000"/>
              </a:lnSpc>
            </a:pPr>
            <a:r>
              <a:rPr lang="zh-CN" altLang="en-US" smtClean="0"/>
              <a:t>核心思想是：文件的目录结构独立存储在一个主控服务器</a:t>
            </a:r>
            <a:r>
              <a:rPr lang="en-US" altLang="zh-CN" smtClean="0"/>
              <a:t>NameNode</a:t>
            </a:r>
            <a:r>
              <a:rPr lang="zh-CN" altLang="en-US" smtClean="0"/>
              <a:t>上，而具体文件数据，拆分成若干块，冗余的存放在不同的数据服务器</a:t>
            </a:r>
            <a:r>
              <a:rPr lang="en-US" altLang="zh-CN" smtClean="0"/>
              <a:t>DataNode</a:t>
            </a:r>
            <a:r>
              <a:rPr lang="zh-CN" altLang="en-US" smtClean="0"/>
              <a:t>上。</a:t>
            </a:r>
          </a:p>
        </p:txBody>
      </p:sp>
      <p:sp>
        <p:nvSpPr>
          <p:cNvPr id="96260"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US" altLang="zh-CN" sz="4300">
                <a:solidFill>
                  <a:srgbClr val="11488B"/>
                </a:solidFill>
                <a:latin typeface="Gill Sans MT" pitchFamily="34" charset="0"/>
                <a:ea typeface="华文中宋" pitchFamily="2" charset="-122"/>
              </a:rPr>
              <a:t>HDFS</a:t>
            </a:r>
            <a:r>
              <a:rPr lang="zh-CN" altLang="en-US" sz="4300">
                <a:solidFill>
                  <a:srgbClr val="11488B"/>
                </a:solidFill>
                <a:latin typeface="Gill Sans MT" pitchFamily="34" charset="0"/>
                <a:ea typeface="华文中宋" pitchFamily="2" charset="-122"/>
              </a:rPr>
              <a:t>组成</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1886E303-FDEA-48AA-AC05-B20541D832E0}" type="slidenum">
              <a:rPr lang="zh-CN" altLang="en-US"/>
              <a:pPr>
                <a:defRPr/>
              </a:pPr>
              <a:t>95</a:t>
            </a:fld>
            <a:endParaRPr lang="zh-CN" altLang="en-US"/>
          </a:p>
        </p:txBody>
      </p:sp>
      <p:pic>
        <p:nvPicPr>
          <p:cNvPr id="97283" name="Picture 2" descr="C:\Users\lenovo\Desktop\hdfsdatanodes.gif"/>
          <p:cNvPicPr>
            <a:picLocks noGrp="1" noChangeAspect="1" noChangeArrowheads="1"/>
          </p:cNvPicPr>
          <p:nvPr>
            <p:ph idx="4294967295"/>
          </p:nvPr>
        </p:nvPicPr>
        <p:blipFill>
          <a:blip r:embed="rId2" cstate="print"/>
          <a:srcRect/>
          <a:stretch>
            <a:fillRect/>
          </a:stretch>
        </p:blipFill>
        <p:spPr>
          <a:xfrm>
            <a:off x="395288" y="1484313"/>
            <a:ext cx="8153400" cy="5000625"/>
          </a:xfrm>
          <a:noFill/>
        </p:spPr>
      </p:pic>
      <p:sp>
        <p:nvSpPr>
          <p:cNvPr id="97284"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US" altLang="zh-CN" sz="4300">
                <a:solidFill>
                  <a:srgbClr val="11488B"/>
                </a:solidFill>
                <a:latin typeface="Gill Sans MT" pitchFamily="34" charset="0"/>
                <a:ea typeface="华文中宋" pitchFamily="2" charset="-122"/>
              </a:rPr>
              <a:t>Block Replication</a:t>
            </a:r>
            <a:endParaRPr lang="zh-CN" altLang="en-US" sz="4300">
              <a:solidFill>
                <a:srgbClr val="11488B"/>
              </a:solidFill>
              <a:latin typeface="Gill Sans MT" pitchFamily="34" charset="0"/>
              <a:ea typeface="华文中宋" pitchFamily="2"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1778B97E-B0BA-46D3-B58C-29689A634891}" type="slidenum">
              <a:rPr lang="zh-CN" altLang="en-US"/>
              <a:pPr>
                <a:defRPr/>
              </a:pPr>
              <a:t>96</a:t>
            </a:fld>
            <a:endParaRPr lang="zh-CN" altLang="en-US"/>
          </a:p>
        </p:txBody>
      </p:sp>
      <p:sp>
        <p:nvSpPr>
          <p:cNvPr id="98307" name="内容占位符 2"/>
          <p:cNvSpPr>
            <a:spLocks noGrp="1"/>
          </p:cNvSpPr>
          <p:nvPr>
            <p:ph idx="4294967295"/>
          </p:nvPr>
        </p:nvSpPr>
        <p:spPr>
          <a:xfrm>
            <a:off x="395288" y="1455738"/>
            <a:ext cx="8229600" cy="5141912"/>
          </a:xfrm>
        </p:spPr>
        <p:txBody>
          <a:bodyPr/>
          <a:lstStyle/>
          <a:p>
            <a:pPr marL="447675" indent="-382588" eaLnBrk="1" hangingPunct="1">
              <a:lnSpc>
                <a:spcPct val="90000"/>
              </a:lnSpc>
            </a:pPr>
            <a:r>
              <a:rPr lang="zh-CN" altLang="en-US" smtClean="0"/>
              <a:t>主控服务器</a:t>
            </a:r>
            <a:r>
              <a:rPr lang="en-US" altLang="zh-CN" smtClean="0"/>
              <a:t>NameNode</a:t>
            </a:r>
            <a:r>
              <a:rPr lang="zh-CN" altLang="en-US" smtClean="0"/>
              <a:t>在整个集群中，只有一个。它负责管理文件系统名称空间和控制外部客户机的访问。</a:t>
            </a:r>
            <a:endParaRPr lang="en-US" altLang="zh-CN" smtClean="0"/>
          </a:p>
          <a:p>
            <a:pPr marL="447675" indent="-382588" eaLnBrk="1" hangingPunct="1">
              <a:lnSpc>
                <a:spcPct val="90000"/>
              </a:lnSpc>
            </a:pPr>
            <a:r>
              <a:rPr lang="zh-CN" altLang="en-US" smtClean="0"/>
              <a:t>如果</a:t>
            </a:r>
            <a:r>
              <a:rPr lang="en-US" altLang="zh-CN" smtClean="0"/>
              <a:t>NameNode</a:t>
            </a:r>
            <a:r>
              <a:rPr lang="zh-CN" altLang="en-US" smtClean="0"/>
              <a:t>不幸崩溃的话，会有后备跟上。这种设计策略，使得主控服务器很可能成为整个架构的瓶颈所在。（可能是因为多台主控服务器即时同步数据的开销太大）</a:t>
            </a:r>
            <a:endParaRPr lang="en-US" altLang="zh-CN" smtClean="0"/>
          </a:p>
          <a:p>
            <a:pPr marL="447675" indent="-382588" eaLnBrk="1" hangingPunct="1">
              <a:lnSpc>
                <a:spcPct val="90000"/>
              </a:lnSpc>
            </a:pPr>
            <a:r>
              <a:rPr lang="zh-CN" altLang="en-US" smtClean="0"/>
              <a:t>数据服务器</a:t>
            </a:r>
            <a:r>
              <a:rPr lang="en-US" altLang="zh-CN" smtClean="0"/>
              <a:t>DataNode</a:t>
            </a:r>
            <a:r>
              <a:rPr lang="zh-CN" altLang="en-US" smtClean="0"/>
              <a:t>提供存储块。每一个文件的具体数据，被切分成若干个数据块，</a:t>
            </a:r>
            <a:r>
              <a:rPr lang="zh-CN" altLang="en-US" smtClean="0">
                <a:solidFill>
                  <a:schemeClr val="accent2"/>
                </a:solidFill>
              </a:rPr>
              <a:t>冗余地</a:t>
            </a:r>
            <a:r>
              <a:rPr lang="zh-CN" altLang="en-US" smtClean="0"/>
              <a:t>存放在数据服务器。</a:t>
            </a:r>
          </a:p>
          <a:p>
            <a:pPr marL="447675" indent="-382588" eaLnBrk="1" hangingPunct="1">
              <a:lnSpc>
                <a:spcPct val="90000"/>
              </a:lnSpc>
            </a:pPr>
            <a:r>
              <a:rPr lang="zh-CN" altLang="en-US" smtClean="0"/>
              <a:t>通常的配置，每一个数据块的大小为</a:t>
            </a:r>
            <a:r>
              <a:rPr lang="en-US" altLang="zh-CN" b="1" smtClean="0"/>
              <a:t>64M</a:t>
            </a:r>
            <a:r>
              <a:rPr lang="zh-CN" altLang="en-US" smtClean="0"/>
              <a:t>，在三个数据服务器上冗余存放。</a:t>
            </a:r>
            <a:endParaRPr lang="en-US" altLang="zh-CN" smtClean="0"/>
          </a:p>
        </p:txBody>
      </p:sp>
      <p:sp>
        <p:nvSpPr>
          <p:cNvPr id="98308"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US" altLang="zh-CN" sz="4300">
                <a:solidFill>
                  <a:srgbClr val="11488B"/>
                </a:solidFill>
                <a:latin typeface="Gill Sans MT" pitchFamily="34" charset="0"/>
                <a:ea typeface="华文中宋" pitchFamily="2" charset="-122"/>
              </a:rPr>
              <a:t>HDFS</a:t>
            </a:r>
            <a:r>
              <a:rPr lang="zh-CN" altLang="en-US" sz="4300">
                <a:solidFill>
                  <a:srgbClr val="11488B"/>
                </a:solidFill>
                <a:latin typeface="Gill Sans MT" pitchFamily="34" charset="0"/>
                <a:ea typeface="华文中宋" pitchFamily="2" charset="-122"/>
              </a:rPr>
              <a:t>组成</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04D89AA9-ED25-4086-B827-83255BFC0B3F}" type="slidenum">
              <a:rPr lang="zh-CN" altLang="en-US"/>
              <a:pPr>
                <a:defRPr/>
              </a:pPr>
              <a:t>97</a:t>
            </a:fld>
            <a:endParaRPr lang="zh-CN" altLang="en-US"/>
          </a:p>
        </p:txBody>
      </p:sp>
      <p:sp>
        <p:nvSpPr>
          <p:cNvPr id="99331" name="内容占位符 2"/>
          <p:cNvSpPr>
            <a:spLocks noGrp="1"/>
          </p:cNvSpPr>
          <p:nvPr>
            <p:ph idx="4294967295"/>
          </p:nvPr>
        </p:nvSpPr>
        <p:spPr>
          <a:xfrm>
            <a:off x="250825" y="1433513"/>
            <a:ext cx="8229600" cy="4516437"/>
          </a:xfrm>
        </p:spPr>
        <p:txBody>
          <a:bodyPr/>
          <a:lstStyle/>
          <a:p>
            <a:pPr marL="447675" indent="-382588" eaLnBrk="1" hangingPunct="1"/>
            <a:r>
              <a:rPr lang="zh-CN" altLang="en-US" smtClean="0"/>
              <a:t>数据块太大可能造成负荷不均匀，而如果太小的话，附加的控制信息传输成本，又太高了。因此没有比较特定的业务需求，可以考虑维持此配置。</a:t>
            </a:r>
            <a:r>
              <a:rPr lang="en-US" smtClean="0"/>
              <a:t> </a:t>
            </a:r>
            <a:endParaRPr lang="en-US" altLang="zh-CN" smtClean="0"/>
          </a:p>
          <a:p>
            <a:pPr marL="447675" indent="-382588" eaLnBrk="1" hangingPunct="1"/>
            <a:r>
              <a:rPr lang="en-US" altLang="zh-CN" smtClean="0"/>
              <a:t>NameNode </a:t>
            </a:r>
            <a:r>
              <a:rPr lang="zh-CN" altLang="en-US" smtClean="0"/>
              <a:t>与每个 </a:t>
            </a:r>
            <a:r>
              <a:rPr lang="en-US" altLang="zh-CN" smtClean="0"/>
              <a:t>DataNode </a:t>
            </a:r>
            <a:r>
              <a:rPr lang="zh-CN" altLang="en-US" smtClean="0"/>
              <a:t>有定期心跳（</a:t>
            </a:r>
            <a:r>
              <a:rPr lang="en-US" altLang="zh-CN" smtClean="0"/>
              <a:t>heartbeat</a:t>
            </a:r>
            <a:r>
              <a:rPr lang="en-US" smtClean="0"/>
              <a:t>）</a:t>
            </a:r>
            <a:r>
              <a:rPr lang="zh-CN" altLang="en-US" smtClean="0"/>
              <a:t>消息检查健康性。</a:t>
            </a:r>
            <a:endParaRPr lang="en-US" altLang="zh-CN" smtClean="0"/>
          </a:p>
          <a:p>
            <a:pPr marL="447675" indent="-382588" eaLnBrk="1" hangingPunct="1"/>
            <a:r>
              <a:rPr lang="zh-CN" altLang="en-US" smtClean="0"/>
              <a:t>客户端，它只是以一个类库（包）的模式存在，为用户提供了文件读写、目录操作等</a:t>
            </a:r>
            <a:r>
              <a:rPr lang="en-US" altLang="zh-CN" smtClean="0"/>
              <a:t>APIs</a:t>
            </a:r>
            <a:r>
              <a:rPr lang="zh-CN" altLang="en-US" smtClean="0"/>
              <a:t>。用户通过它来享受分布式文件系统提供的服务。</a:t>
            </a:r>
          </a:p>
        </p:txBody>
      </p:sp>
      <p:sp>
        <p:nvSpPr>
          <p:cNvPr id="99332"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en-US" altLang="zh-CN" sz="4300">
                <a:solidFill>
                  <a:srgbClr val="11488B"/>
                </a:solidFill>
                <a:latin typeface="Gill Sans MT" pitchFamily="34" charset="0"/>
                <a:ea typeface="华文中宋" pitchFamily="2" charset="-122"/>
              </a:rPr>
              <a:t>HDFS</a:t>
            </a:r>
            <a:r>
              <a:rPr lang="zh-CN" altLang="en-US" sz="4300">
                <a:solidFill>
                  <a:srgbClr val="11488B"/>
                </a:solidFill>
                <a:latin typeface="Gill Sans MT" pitchFamily="34" charset="0"/>
                <a:ea typeface="华文中宋" pitchFamily="2" charset="-122"/>
              </a:rPr>
              <a:t>组成</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5E2D3D03-7800-41F4-96E0-801EDC862332}" type="slidenum">
              <a:rPr lang="zh-CN" altLang="en-US"/>
              <a:pPr>
                <a:defRPr/>
              </a:pPr>
              <a:t>98</a:t>
            </a:fld>
            <a:endParaRPr lang="zh-CN" altLang="en-US"/>
          </a:p>
        </p:txBody>
      </p:sp>
      <p:sp>
        <p:nvSpPr>
          <p:cNvPr id="100355" name="内容占位符 2"/>
          <p:cNvSpPr>
            <a:spLocks noGrp="1"/>
          </p:cNvSpPr>
          <p:nvPr>
            <p:ph idx="4294967295"/>
          </p:nvPr>
        </p:nvSpPr>
        <p:spPr/>
        <p:txBody>
          <a:bodyPr/>
          <a:lstStyle/>
          <a:p>
            <a:pPr marL="447675" indent="-382588" eaLnBrk="1" hangingPunct="1"/>
            <a:r>
              <a:rPr lang="zh-CN" altLang="en-US" smtClean="0"/>
              <a:t>基本的文件操作，可以分成两类</a:t>
            </a:r>
          </a:p>
          <a:p>
            <a:pPr marL="742950" lvl="1" indent="-285750" eaLnBrk="1" hangingPunct="1"/>
            <a:r>
              <a:rPr lang="zh-CN" altLang="en-US" smtClean="0"/>
              <a:t>一个是对文件目录结构的操作，比如文件和目录的创建、删除、移动、更名等等；</a:t>
            </a:r>
          </a:p>
          <a:p>
            <a:pPr marL="742950" lvl="1" indent="-285750" eaLnBrk="1" hangingPunct="1"/>
            <a:r>
              <a:rPr lang="zh-CN" altLang="en-US" smtClean="0"/>
              <a:t>另一个是对文件数据流的操作，包括读取和写入文件数据。</a:t>
            </a:r>
            <a:endParaRPr lang="en-US" altLang="zh-CN" smtClean="0"/>
          </a:p>
          <a:p>
            <a:pPr marL="447675" indent="-382588" eaLnBrk="1" hangingPunct="1"/>
            <a:endParaRPr lang="zh-CN" altLang="en-US" smtClean="0"/>
          </a:p>
        </p:txBody>
      </p:sp>
      <p:sp>
        <p:nvSpPr>
          <p:cNvPr id="100356"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文件操作</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7DEE07BC-B9D5-4B28-90A2-FEE15BFCD60D}" type="slidenum">
              <a:rPr lang="zh-CN" altLang="en-US"/>
              <a:pPr>
                <a:defRPr/>
              </a:pPr>
              <a:t>99</a:t>
            </a:fld>
            <a:endParaRPr lang="zh-CN" altLang="en-US"/>
          </a:p>
        </p:txBody>
      </p:sp>
      <p:sp>
        <p:nvSpPr>
          <p:cNvPr id="101379" name="标题 1"/>
          <p:cNvSpPr>
            <a:spLocks noGrp="1"/>
          </p:cNvSpPr>
          <p:nvPr>
            <p:ph idx="4294967295"/>
          </p:nvPr>
        </p:nvSpPr>
        <p:spPr>
          <a:xfrm>
            <a:off x="468313" y="1357313"/>
            <a:ext cx="8229600" cy="5311775"/>
          </a:xfrm>
        </p:spPr>
        <p:txBody>
          <a:bodyPr/>
          <a:lstStyle/>
          <a:p>
            <a:pPr marL="447675" indent="-382588" eaLnBrk="1" hangingPunct="1"/>
            <a:r>
              <a:rPr lang="zh-CN" altLang="en-US" smtClean="0"/>
              <a:t>文件和目录的操作</a:t>
            </a:r>
          </a:p>
          <a:p>
            <a:pPr marL="742950" lvl="1" indent="-285750" eaLnBrk="1" hangingPunct="1"/>
            <a:r>
              <a:rPr lang="zh-CN" altLang="en-US" smtClean="0"/>
              <a:t>文件目录的信息，全部存储在主控服务器上，因此，所有对文件目录的操作，只会直接涉及到客户端和主控服务器。</a:t>
            </a:r>
          </a:p>
          <a:p>
            <a:pPr marL="742950" lvl="1" indent="-285750" eaLnBrk="1" hangingPunct="1"/>
            <a:r>
              <a:rPr lang="zh-CN" altLang="en-US" smtClean="0"/>
              <a:t>其实有的操作本质上还是涉及到了数据服务器，比如文件创建和删除操作。但是，即使在需要涉及到数据服务器的操作上，主控服务器都不会主动联系数据服务器，将指令传输给它们，而是放到相应的数据结构中，等待数据服务器来取。（也许是为了减少通信的次数，加快操作的执行速度。也许是之前提到的尽量减小唯一的主控服务器的负担）</a:t>
            </a:r>
            <a:endParaRPr lang="en-US" altLang="zh-CN" smtClean="0"/>
          </a:p>
          <a:p>
            <a:pPr marL="447675" indent="-382588" eaLnBrk="1" hangingPunct="1">
              <a:buFont typeface="Wingdings 2" pitchFamily="18" charset="2"/>
              <a:buNone/>
            </a:pPr>
            <a:endParaRPr lang="zh-CN" altLang="en-US" smtClean="0"/>
          </a:p>
        </p:txBody>
      </p:sp>
      <p:sp>
        <p:nvSpPr>
          <p:cNvPr id="101380"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文件操作</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7B67E6D5-5BB2-4571-8377-C7B7A992BEF6}" type="slidenum">
              <a:rPr lang="zh-CN" altLang="en-US"/>
              <a:pPr>
                <a:defRPr/>
              </a:pPr>
              <a:t>100</a:t>
            </a:fld>
            <a:endParaRPr lang="zh-CN" altLang="en-US"/>
          </a:p>
        </p:txBody>
      </p:sp>
      <p:sp>
        <p:nvSpPr>
          <p:cNvPr id="102403" name="内容占位符 2"/>
          <p:cNvSpPr>
            <a:spLocks noGrp="1"/>
          </p:cNvSpPr>
          <p:nvPr>
            <p:ph idx="4294967295"/>
          </p:nvPr>
        </p:nvSpPr>
        <p:spPr>
          <a:xfrm>
            <a:off x="457200" y="1285875"/>
            <a:ext cx="8229600" cy="5168900"/>
          </a:xfrm>
        </p:spPr>
        <p:txBody>
          <a:bodyPr/>
          <a:lstStyle/>
          <a:p>
            <a:pPr marL="447675" indent="-382588" eaLnBrk="1" hangingPunct="1"/>
            <a:r>
              <a:rPr lang="zh-CN" altLang="en-US" smtClean="0"/>
              <a:t>文件数据的读写</a:t>
            </a:r>
          </a:p>
          <a:p>
            <a:pPr marL="742950" lvl="1" indent="-285750" eaLnBrk="1" hangingPunct="1"/>
            <a:r>
              <a:rPr lang="zh-CN" altLang="en-US" smtClean="0"/>
              <a:t>不论读写，主控服务器只是中介。客户端把自己的需求提交给主控服务器，主控服务器挑选合适的数据服务器（物理位置近，或者是当前负荷小的数据服务器）与客户端通信。</a:t>
            </a:r>
          </a:p>
          <a:p>
            <a:pPr marL="742950" lvl="1" indent="-285750" eaLnBrk="1" hangingPunct="1"/>
            <a:r>
              <a:rPr lang="zh-CN" altLang="en-US" smtClean="0"/>
              <a:t>这种策略进一步降低了主控服务器的负载，提高了效率。</a:t>
            </a:r>
            <a:endParaRPr lang="en-US" altLang="zh-CN" smtClean="0"/>
          </a:p>
          <a:p>
            <a:pPr marL="742950" lvl="1" indent="-285750" eaLnBrk="1" hangingPunct="1"/>
            <a:r>
              <a:rPr lang="zh-CN" altLang="en-US" smtClean="0"/>
              <a:t>读取时一对一操作，一个客户端与一个数据服务器即可。而写入则是一对多，一次写入要让所有相关数据服务器同步。</a:t>
            </a:r>
          </a:p>
        </p:txBody>
      </p:sp>
      <p:sp>
        <p:nvSpPr>
          <p:cNvPr id="102404"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文件操作</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4493B083-E6AE-43A0-A10F-5D8DA14F1083}" type="slidenum">
              <a:rPr lang="zh-CN" altLang="en-US"/>
              <a:pPr>
                <a:defRPr/>
              </a:pPr>
              <a:t>101</a:t>
            </a:fld>
            <a:endParaRPr lang="zh-CN" altLang="en-US"/>
          </a:p>
        </p:txBody>
      </p:sp>
      <p:pic>
        <p:nvPicPr>
          <p:cNvPr id="103427" name="Picture 2" descr="C:\Users\lenovo\Desktop\reading-data-from-hdfs.png"/>
          <p:cNvPicPr>
            <a:picLocks noGrp="1" noChangeAspect="1" noChangeArrowheads="1"/>
          </p:cNvPicPr>
          <p:nvPr>
            <p:ph idx="4294967295"/>
          </p:nvPr>
        </p:nvPicPr>
        <p:blipFill>
          <a:blip r:embed="rId2" cstate="print"/>
          <a:srcRect/>
          <a:stretch>
            <a:fillRect/>
          </a:stretch>
        </p:blipFill>
        <p:spPr>
          <a:xfrm>
            <a:off x="420688" y="1447800"/>
            <a:ext cx="8488362" cy="4800600"/>
          </a:xfrm>
          <a:noFill/>
        </p:spPr>
      </p:pic>
      <p:sp>
        <p:nvSpPr>
          <p:cNvPr id="103428" name="Rectangle 4"/>
          <p:cNvSpPr>
            <a:spLocks noGrp="1"/>
          </p:cNvSpPr>
          <p:nvPr>
            <p:ph type="title" idx="4294967295"/>
          </p:nvPr>
        </p:nvSpPr>
        <p:spPr>
          <a:noFill/>
        </p:spPr>
        <p:txBody>
          <a:bodyPr/>
          <a:lstStyle/>
          <a:p>
            <a:r>
              <a:rPr lang="zh-CN" altLang="en-US" smtClean="0"/>
              <a:t>文件读取</a:t>
            </a:r>
          </a:p>
        </p:txBody>
      </p:sp>
      <p:sp>
        <p:nvSpPr>
          <p:cNvPr id="103429" name="Text Box 5"/>
          <p:cNvSpPr txBox="1">
            <a:spLocks noChangeArrowheads="1"/>
          </p:cNvSpPr>
          <p:nvPr/>
        </p:nvSpPr>
        <p:spPr bwMode="auto">
          <a:xfrm>
            <a:off x="2339975" y="6308725"/>
            <a:ext cx="3527425" cy="366713"/>
          </a:xfrm>
          <a:prstGeom prst="rect">
            <a:avLst/>
          </a:prstGeom>
          <a:noFill/>
          <a:ln w="9525">
            <a:noFill/>
            <a:miter lim="800000"/>
            <a:headEnd/>
            <a:tailEnd/>
          </a:ln>
        </p:spPr>
        <p:txBody>
          <a:bodyPr>
            <a:spAutoFit/>
          </a:bodyPr>
          <a:lstStyle/>
          <a:p>
            <a:pPr algn="ctr">
              <a:spcBef>
                <a:spcPct val="50000"/>
              </a:spcBef>
            </a:pPr>
            <a:r>
              <a:rPr lang="zh-CN" altLang="en-US"/>
              <a:t>文件读示意图</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9"/>
          <p:cNvSpPr>
            <a:spLocks noGrp="1"/>
          </p:cNvSpPr>
          <p:nvPr>
            <p:ph type="sldNum" sz="quarter" idx="12"/>
          </p:nvPr>
        </p:nvSpPr>
        <p:spPr/>
        <p:txBody>
          <a:bodyPr/>
          <a:lstStyle/>
          <a:p>
            <a:pPr>
              <a:defRPr/>
            </a:pPr>
            <a:fld id="{7E993D77-E08E-4382-BEDB-169ABB9DD091}" type="slidenum">
              <a:rPr lang="zh-CN" altLang="en-US"/>
              <a:pPr>
                <a:defRPr/>
              </a:pPr>
              <a:t>102</a:t>
            </a:fld>
            <a:endParaRPr lang="zh-CN" altLang="en-US"/>
          </a:p>
        </p:txBody>
      </p:sp>
      <p:pic>
        <p:nvPicPr>
          <p:cNvPr id="104451" name="Picture 4" descr="79_101126154249_1"/>
          <p:cNvPicPr>
            <a:picLocks noChangeAspect="1" noChangeArrowheads="1"/>
          </p:cNvPicPr>
          <p:nvPr/>
        </p:nvPicPr>
        <p:blipFill>
          <a:blip r:embed="rId2" cstate="print"/>
          <a:srcRect/>
          <a:stretch>
            <a:fillRect/>
          </a:stretch>
        </p:blipFill>
        <p:spPr bwMode="auto">
          <a:xfrm>
            <a:off x="1187450" y="1557338"/>
            <a:ext cx="7056438" cy="4338637"/>
          </a:xfrm>
          <a:prstGeom prst="rect">
            <a:avLst/>
          </a:prstGeom>
          <a:noFill/>
          <a:ln w="9525">
            <a:noFill/>
            <a:miter lim="800000"/>
            <a:headEnd/>
            <a:tailEnd/>
          </a:ln>
        </p:spPr>
      </p:pic>
      <p:sp>
        <p:nvSpPr>
          <p:cNvPr id="104452" name="Rectangle 5"/>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文件写入</a:t>
            </a:r>
          </a:p>
        </p:txBody>
      </p:sp>
      <p:sp>
        <p:nvSpPr>
          <p:cNvPr id="104453" name="Text Box 6"/>
          <p:cNvSpPr txBox="1">
            <a:spLocks noChangeArrowheads="1"/>
          </p:cNvSpPr>
          <p:nvPr/>
        </p:nvSpPr>
        <p:spPr bwMode="auto">
          <a:xfrm>
            <a:off x="2987675" y="6165850"/>
            <a:ext cx="2879725" cy="366713"/>
          </a:xfrm>
          <a:prstGeom prst="rect">
            <a:avLst/>
          </a:prstGeom>
          <a:noFill/>
          <a:ln w="9525">
            <a:noFill/>
            <a:miter lim="800000"/>
            <a:headEnd/>
            <a:tailEnd/>
          </a:ln>
        </p:spPr>
        <p:txBody>
          <a:bodyPr>
            <a:spAutoFit/>
          </a:bodyPr>
          <a:lstStyle/>
          <a:p>
            <a:pPr algn="ctr">
              <a:spcBef>
                <a:spcPct val="50000"/>
              </a:spcBef>
            </a:pPr>
            <a:r>
              <a:rPr lang="zh-CN" altLang="en-US"/>
              <a:t>文件写示意图</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5B84503-EDB6-425B-926B-A5EDD7F30FB9}" type="slidenum">
              <a:rPr lang="zh-CN" altLang="en-US"/>
              <a:pPr>
                <a:defRPr/>
              </a:pPr>
              <a:t>103</a:t>
            </a:fld>
            <a:endParaRPr lang="zh-CN" altLang="en-US"/>
          </a:p>
        </p:txBody>
      </p:sp>
      <p:sp>
        <p:nvSpPr>
          <p:cNvPr id="105475" name="内容占位符 2"/>
          <p:cNvSpPr>
            <a:spLocks noGrp="1"/>
          </p:cNvSpPr>
          <p:nvPr>
            <p:ph idx="4294967295"/>
          </p:nvPr>
        </p:nvSpPr>
        <p:spPr>
          <a:xfrm>
            <a:off x="395288" y="1484313"/>
            <a:ext cx="8229600" cy="4519612"/>
          </a:xfrm>
        </p:spPr>
        <p:txBody>
          <a:bodyPr/>
          <a:lstStyle/>
          <a:p>
            <a:pPr marL="447675" indent="-382588" eaLnBrk="1" hangingPunct="1"/>
            <a:r>
              <a:rPr lang="zh-CN" altLang="en-US" smtClean="0"/>
              <a:t>在分布式系统中，一旦涉及到写入操作，并发处理难免都会成为一个变相的串行操作。</a:t>
            </a:r>
          </a:p>
          <a:p>
            <a:pPr marL="447675" indent="-382588" eaLnBrk="1" hangingPunct="1"/>
            <a:r>
              <a:rPr lang="zh-CN" altLang="en-US" smtClean="0"/>
              <a:t>不同的客户端如果是任意时序并发写入的话，整个写入的次序无法保证</a:t>
            </a:r>
            <a:endParaRPr lang="en-US" altLang="zh-CN" smtClean="0"/>
          </a:p>
          <a:p>
            <a:pPr marL="447675" indent="-382588" eaLnBrk="1" hangingPunct="1"/>
            <a:r>
              <a:rPr lang="zh-CN" altLang="en-US" smtClean="0"/>
              <a:t>在</a:t>
            </a:r>
            <a:r>
              <a:rPr lang="en-US" altLang="zh-CN" smtClean="0"/>
              <a:t>HDFS</a:t>
            </a:r>
            <a:r>
              <a:rPr lang="zh-CN" altLang="en-US" smtClean="0"/>
              <a:t>中，并发写入的次序控制，是由主控服务器来把握的。当某文件正在写入操作时，其节点会被主控服务器上锁，拒绝其他客户端的写要求。</a:t>
            </a:r>
          </a:p>
        </p:txBody>
      </p:sp>
      <p:sp>
        <p:nvSpPr>
          <p:cNvPr id="105476"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文件写入</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02E4BD74-83D4-4249-943B-8F2BD2848405}" type="slidenum">
              <a:rPr lang="zh-CN" altLang="en-US"/>
              <a:pPr>
                <a:defRPr/>
              </a:pPr>
              <a:t>104</a:t>
            </a:fld>
            <a:endParaRPr lang="zh-CN" altLang="en-US"/>
          </a:p>
        </p:txBody>
      </p:sp>
      <p:sp>
        <p:nvSpPr>
          <p:cNvPr id="106499" name="内容占位符 2"/>
          <p:cNvSpPr>
            <a:spLocks noGrp="1"/>
          </p:cNvSpPr>
          <p:nvPr>
            <p:ph idx="4294967295"/>
          </p:nvPr>
        </p:nvSpPr>
        <p:spPr>
          <a:xfrm>
            <a:off x="468313" y="1484313"/>
            <a:ext cx="8229600" cy="5373687"/>
          </a:xfrm>
        </p:spPr>
        <p:txBody>
          <a:bodyPr/>
          <a:lstStyle/>
          <a:p>
            <a:pPr marL="447675" indent="-382588" eaLnBrk="1" hangingPunct="1"/>
            <a:r>
              <a:rPr lang="zh-CN" altLang="en-US" sz="2600" smtClean="0"/>
              <a:t>当客户端向</a:t>
            </a:r>
            <a:r>
              <a:rPr lang="en-US" altLang="zh-CN" sz="2600" smtClean="0"/>
              <a:t>HDFS</a:t>
            </a:r>
            <a:r>
              <a:rPr lang="zh-CN" altLang="en-US" sz="2600" smtClean="0"/>
              <a:t>文件写入数据的时候，假设该文件的副本系数设置为</a:t>
            </a:r>
            <a:r>
              <a:rPr lang="en-US" altLang="zh-CN" sz="2600" smtClean="0"/>
              <a:t>3</a:t>
            </a:r>
            <a:r>
              <a:rPr lang="zh-CN" altLang="en-US" sz="2600" smtClean="0"/>
              <a:t>，客户端会从</a:t>
            </a:r>
            <a:r>
              <a:rPr lang="en-US" altLang="zh-CN" sz="2600" smtClean="0"/>
              <a:t>Namenode</a:t>
            </a:r>
            <a:r>
              <a:rPr lang="zh-CN" altLang="en-US" sz="2600" smtClean="0"/>
              <a:t>获取一个</a:t>
            </a:r>
            <a:r>
              <a:rPr lang="en-US" altLang="zh-CN" sz="2600" smtClean="0"/>
              <a:t>Datanode</a:t>
            </a:r>
            <a:r>
              <a:rPr lang="zh-CN" altLang="en-US" sz="2600" smtClean="0"/>
              <a:t>列表用于存放副本。</a:t>
            </a:r>
          </a:p>
          <a:p>
            <a:pPr marL="447675" indent="-382588" eaLnBrk="1" hangingPunct="1"/>
            <a:r>
              <a:rPr lang="zh-CN" altLang="en-US" sz="2600" smtClean="0"/>
              <a:t>然后客户端开始向第一个</a:t>
            </a:r>
            <a:r>
              <a:rPr lang="en-US" altLang="zh-CN" sz="2600" smtClean="0"/>
              <a:t>Datanode</a:t>
            </a:r>
            <a:r>
              <a:rPr lang="zh-CN" altLang="en-US" sz="2600" smtClean="0"/>
              <a:t>传输数据，第一个</a:t>
            </a:r>
            <a:r>
              <a:rPr lang="en-US" altLang="zh-CN" sz="2600" smtClean="0"/>
              <a:t>Datanode</a:t>
            </a:r>
            <a:r>
              <a:rPr lang="zh-CN" altLang="en-US" sz="2600" smtClean="0"/>
              <a:t>接收数据，写入本地仓库，并同时传输该部分到列表中第二个</a:t>
            </a:r>
            <a:r>
              <a:rPr lang="en-US" altLang="zh-CN" sz="2600" smtClean="0"/>
              <a:t>Datanode</a:t>
            </a:r>
            <a:r>
              <a:rPr lang="zh-CN" altLang="en-US" sz="2600" smtClean="0"/>
              <a:t>节点。</a:t>
            </a:r>
          </a:p>
          <a:p>
            <a:pPr marL="447675" indent="-382588" eaLnBrk="1" hangingPunct="1"/>
            <a:r>
              <a:rPr lang="zh-CN" altLang="en-US" sz="2600" smtClean="0"/>
              <a:t>第二个</a:t>
            </a:r>
            <a:r>
              <a:rPr lang="en-US" altLang="zh-CN" sz="2600" smtClean="0"/>
              <a:t>Datanode</a:t>
            </a:r>
            <a:r>
              <a:rPr lang="zh-CN" altLang="en-US" sz="2600" smtClean="0"/>
              <a:t>也是这样接收数据，写入本地仓库，并同时传给第三个</a:t>
            </a:r>
            <a:r>
              <a:rPr lang="en-US" altLang="zh-CN" sz="2600" smtClean="0"/>
              <a:t>Datanode</a:t>
            </a:r>
            <a:r>
              <a:rPr lang="zh-CN" altLang="en-US" sz="2600" smtClean="0"/>
              <a:t>。</a:t>
            </a:r>
          </a:p>
          <a:p>
            <a:pPr marL="447675" indent="-382588" eaLnBrk="1" hangingPunct="1"/>
            <a:r>
              <a:rPr lang="zh-CN" altLang="en-US" sz="2600" smtClean="0"/>
              <a:t>最后，第三个</a:t>
            </a:r>
            <a:r>
              <a:rPr lang="en-US" altLang="zh-CN" sz="2600" smtClean="0"/>
              <a:t>Datanode</a:t>
            </a:r>
            <a:r>
              <a:rPr lang="zh-CN" altLang="en-US" sz="2600" smtClean="0"/>
              <a:t>接收数据并存储在本地。</a:t>
            </a:r>
          </a:p>
          <a:p>
            <a:pPr marL="447675" indent="-382588" eaLnBrk="1" hangingPunct="1"/>
            <a:r>
              <a:rPr lang="zh-CN" altLang="en-US" sz="2600" smtClean="0"/>
              <a:t>因此，</a:t>
            </a:r>
            <a:r>
              <a:rPr lang="en-US" altLang="zh-CN" sz="2600" smtClean="0"/>
              <a:t>Datanode</a:t>
            </a:r>
            <a:r>
              <a:rPr lang="zh-CN" altLang="en-US" sz="2600" smtClean="0"/>
              <a:t>能流水线式地从前一个节点接收数据，并在同时转发给下一个节点，数据以流水线的方式从前一个</a:t>
            </a:r>
            <a:r>
              <a:rPr lang="en-US" altLang="zh-CN" sz="2600" smtClean="0"/>
              <a:t>Datanode</a:t>
            </a:r>
            <a:r>
              <a:rPr lang="zh-CN" altLang="en-US" sz="2600" smtClean="0"/>
              <a:t>复制到下一个。</a:t>
            </a:r>
          </a:p>
        </p:txBody>
      </p:sp>
      <p:sp>
        <p:nvSpPr>
          <p:cNvPr id="106500"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文件写入</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9"/>
          <p:cNvSpPr>
            <a:spLocks noGrp="1"/>
          </p:cNvSpPr>
          <p:nvPr>
            <p:ph type="sldNum" sz="quarter" idx="12"/>
          </p:nvPr>
        </p:nvSpPr>
        <p:spPr/>
        <p:txBody>
          <a:bodyPr/>
          <a:lstStyle/>
          <a:p>
            <a:pPr>
              <a:defRPr/>
            </a:pPr>
            <a:fld id="{331E4C87-E111-4484-9EBC-ABAA75528EEC}" type="slidenum">
              <a:rPr lang="zh-CN" altLang="en-US"/>
              <a:pPr>
                <a:defRPr/>
              </a:pPr>
              <a:t>105</a:t>
            </a:fld>
            <a:endParaRPr lang="zh-CN" altLang="en-US"/>
          </a:p>
        </p:txBody>
      </p:sp>
      <p:pic>
        <p:nvPicPr>
          <p:cNvPr id="107523" name="Picture 2" descr="C:\Users\lenovo\Desktop\61f07d1c-4081-3f13-b9a8-2f63149815e3.jpg"/>
          <p:cNvPicPr>
            <a:picLocks noGrp="1" noChangeAspect="1" noChangeArrowheads="1"/>
          </p:cNvPicPr>
          <p:nvPr>
            <p:ph idx="4294967295"/>
          </p:nvPr>
        </p:nvPicPr>
        <p:blipFill>
          <a:blip r:embed="rId2" cstate="print"/>
          <a:srcRect/>
          <a:stretch>
            <a:fillRect/>
          </a:stretch>
        </p:blipFill>
        <p:spPr>
          <a:xfrm>
            <a:off x="0" y="3021013"/>
            <a:ext cx="9144000" cy="665162"/>
          </a:xfr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E0AAE135-8E75-4779-8E5D-FC541A65806F}" type="slidenum">
              <a:rPr lang="zh-CN" altLang="en-US"/>
              <a:pPr>
                <a:defRPr/>
              </a:pPr>
              <a:t>106</a:t>
            </a:fld>
            <a:endParaRPr lang="zh-CN" altLang="en-US"/>
          </a:p>
        </p:txBody>
      </p:sp>
      <p:sp>
        <p:nvSpPr>
          <p:cNvPr id="108547" name="内容占位符 2"/>
          <p:cNvSpPr>
            <a:spLocks noGrp="1"/>
          </p:cNvSpPr>
          <p:nvPr>
            <p:ph idx="4294967295"/>
          </p:nvPr>
        </p:nvSpPr>
        <p:spPr/>
        <p:txBody>
          <a:bodyPr/>
          <a:lstStyle/>
          <a:p>
            <a:pPr marL="447675" indent="-382588" eaLnBrk="1" hangingPunct="1"/>
            <a:r>
              <a:rPr lang="zh-CN" altLang="en-US" smtClean="0"/>
              <a:t>文件复制</a:t>
            </a:r>
          </a:p>
          <a:p>
            <a:pPr marL="742950" lvl="1" indent="-285750" eaLnBrk="1" hangingPunct="1"/>
            <a:r>
              <a:rPr lang="en-US" altLang="zh-CN" smtClean="0"/>
              <a:t>NameNode</a:t>
            </a:r>
            <a:r>
              <a:rPr lang="zh-CN" altLang="en-US" smtClean="0"/>
              <a:t>发现部分文件的</a:t>
            </a:r>
            <a:r>
              <a:rPr lang="en-US" altLang="zh-CN" smtClean="0"/>
              <a:t>Block</a:t>
            </a:r>
            <a:r>
              <a:rPr lang="zh-CN" altLang="en-US" smtClean="0"/>
              <a:t>不符合最小复制数（如缺省为</a:t>
            </a:r>
            <a:r>
              <a:rPr lang="en-US" altLang="zh-CN" smtClean="0"/>
              <a:t>3</a:t>
            </a:r>
            <a:r>
              <a:rPr lang="zh-CN" altLang="en-US" smtClean="0"/>
              <a:t>）或者部分</a:t>
            </a:r>
            <a:r>
              <a:rPr lang="en-US" altLang="zh-CN" smtClean="0"/>
              <a:t>DataNode</a:t>
            </a:r>
            <a:r>
              <a:rPr lang="zh-CN" altLang="en-US" smtClean="0"/>
              <a:t>失效。通知</a:t>
            </a:r>
            <a:r>
              <a:rPr lang="en-US" altLang="zh-CN" smtClean="0"/>
              <a:t>DataNode</a:t>
            </a:r>
            <a:r>
              <a:rPr lang="zh-CN" altLang="en-US" smtClean="0"/>
              <a:t>相互复制</a:t>
            </a:r>
            <a:r>
              <a:rPr lang="en-US" altLang="zh-CN" smtClean="0"/>
              <a:t>Block</a:t>
            </a:r>
            <a:r>
              <a:rPr lang="zh-CN" altLang="en-US" smtClean="0"/>
              <a:t>。 </a:t>
            </a:r>
          </a:p>
        </p:txBody>
      </p:sp>
      <p:sp>
        <p:nvSpPr>
          <p:cNvPr id="108548" name="Rectangle 3"/>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文件操作</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E0F4971E-86EE-4E87-8E4E-96EE6ABC32F7}" type="slidenum">
              <a:rPr lang="zh-CN" altLang="en-US"/>
              <a:pPr>
                <a:defRPr/>
              </a:pPr>
              <a:t>107</a:t>
            </a:fld>
            <a:endParaRPr lang="zh-CN" altLang="en-US"/>
          </a:p>
        </p:txBody>
      </p:sp>
      <p:sp>
        <p:nvSpPr>
          <p:cNvPr id="109571" name="内容占位符 2"/>
          <p:cNvSpPr>
            <a:spLocks noGrp="1"/>
          </p:cNvSpPr>
          <p:nvPr>
            <p:ph idx="4294967295"/>
          </p:nvPr>
        </p:nvSpPr>
        <p:spPr/>
        <p:txBody>
          <a:bodyPr/>
          <a:lstStyle/>
          <a:p>
            <a:pPr marL="447675" indent="-382588" eaLnBrk="1" hangingPunct="1"/>
            <a:r>
              <a:rPr lang="zh-CN" altLang="en-US" smtClean="0"/>
              <a:t>在分布式环境中，意外情况随时发生，数据传输错误，服务器死机，很多平常称为异常的现象，也许都会经常出现。</a:t>
            </a:r>
            <a:endParaRPr lang="en-US" altLang="zh-CN" smtClean="0"/>
          </a:p>
          <a:p>
            <a:pPr marL="447675" indent="-382588" eaLnBrk="1" hangingPunct="1"/>
            <a:r>
              <a:rPr lang="zh-CN" altLang="en-US" smtClean="0"/>
              <a:t>需要保证分布式各种意外场景下健康持续的服务。</a:t>
            </a:r>
          </a:p>
        </p:txBody>
      </p:sp>
      <p:sp>
        <p:nvSpPr>
          <p:cNvPr id="109572"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容错支持</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DD7AAE22-BF15-4480-B090-B0D61F8105E0}" type="slidenum">
              <a:rPr lang="zh-CN" altLang="en-US"/>
              <a:pPr>
                <a:defRPr/>
              </a:pPr>
              <a:t>108</a:t>
            </a:fld>
            <a:endParaRPr lang="zh-CN" altLang="en-US"/>
          </a:p>
        </p:txBody>
      </p:sp>
      <p:sp>
        <p:nvSpPr>
          <p:cNvPr id="110595" name="内容占位符 2"/>
          <p:cNvSpPr>
            <a:spLocks noGrp="1"/>
          </p:cNvSpPr>
          <p:nvPr>
            <p:ph idx="4294967295"/>
          </p:nvPr>
        </p:nvSpPr>
        <p:spPr/>
        <p:txBody>
          <a:bodyPr/>
          <a:lstStyle/>
          <a:p>
            <a:pPr marL="447675" indent="-382588" eaLnBrk="1" hangingPunct="1"/>
            <a:r>
              <a:rPr lang="zh-CN" altLang="en-US" b="1" smtClean="0"/>
              <a:t>客户端</a:t>
            </a:r>
          </a:p>
          <a:p>
            <a:pPr marL="742950" lvl="1" indent="-285750" eaLnBrk="1" hangingPunct="1"/>
            <a:r>
              <a:rPr lang="zh-CN" altLang="en-US" smtClean="0"/>
              <a:t>客户端。做为一个文件系统的使用者，在整个文件系统中的地位较低。大部分时候，牺牲了就牺牲了，并不会对整个系统产生影响。</a:t>
            </a:r>
          </a:p>
          <a:p>
            <a:pPr marL="742950" lvl="1" indent="-285750" eaLnBrk="1" hangingPunct="1"/>
            <a:r>
              <a:rPr lang="zh-CN" altLang="en-US" smtClean="0"/>
              <a:t>但是，万一客户端在写入文件时死掉，情况就不同了。由于该文件被主控服务器上锁，其他客户端都无法使用该文件。</a:t>
            </a:r>
          </a:p>
          <a:p>
            <a:pPr marL="742950" lvl="1" indent="-285750" eaLnBrk="1" hangingPunct="1"/>
            <a:r>
              <a:rPr lang="zh-CN" altLang="en-US" smtClean="0"/>
              <a:t>解决这个问题，办法就是：</a:t>
            </a:r>
            <a:r>
              <a:rPr lang="zh-CN" altLang="en-US" b="1" smtClean="0">
                <a:solidFill>
                  <a:schemeClr val="accent2"/>
                </a:solidFill>
              </a:rPr>
              <a:t>租约</a:t>
            </a:r>
            <a:r>
              <a:rPr lang="zh-CN" altLang="en-US" b="1" smtClean="0"/>
              <a:t>。</a:t>
            </a:r>
            <a:r>
              <a:rPr lang="zh-CN" altLang="en-US" smtClean="0"/>
              <a:t>就是当客户端需要占用某个文件的时候，与主控服务器签订的一个短期合同。这个合同有一个期限，在这个期限内，客户端可以延长合同期限，一旦超过期限，主控服务器会强行终止此租约，将这个文件的享用权，分配给他人。</a:t>
            </a:r>
          </a:p>
        </p:txBody>
      </p:sp>
      <p:sp>
        <p:nvSpPr>
          <p:cNvPr id="110596" name="Rectangle 5"/>
          <p:cNvSpPr>
            <a:spLocks noGrp="1"/>
          </p:cNvSpPr>
          <p:nvPr>
            <p:ph type="title" idx="4294967295"/>
          </p:nvPr>
        </p:nvSpPr>
        <p:spPr>
          <a:noFill/>
        </p:spPr>
        <p:txBody>
          <a:bodyPr/>
          <a:lstStyle/>
          <a:p>
            <a:r>
              <a:rPr lang="zh-CN" altLang="en-US" smtClean="0"/>
              <a:t>容错支持</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02F1EFD0-1997-4567-8B6F-7C652E53C322}" type="slidenum">
              <a:rPr lang="zh-CN" altLang="en-US"/>
              <a:pPr>
                <a:defRPr/>
              </a:pPr>
              <a:t>109</a:t>
            </a:fld>
            <a:endParaRPr lang="zh-CN" altLang="en-US"/>
          </a:p>
        </p:txBody>
      </p:sp>
      <p:sp>
        <p:nvSpPr>
          <p:cNvPr id="111619" name="内容占位符 2"/>
          <p:cNvSpPr>
            <a:spLocks noGrp="1"/>
          </p:cNvSpPr>
          <p:nvPr>
            <p:ph idx="4294967295"/>
          </p:nvPr>
        </p:nvSpPr>
        <p:spPr/>
        <p:txBody>
          <a:bodyPr/>
          <a:lstStyle/>
          <a:p>
            <a:pPr marL="447675" indent="-382588" eaLnBrk="1" hangingPunct="1"/>
            <a:r>
              <a:rPr lang="zh-CN" altLang="en-US" b="1" smtClean="0"/>
              <a:t>数据服务器</a:t>
            </a:r>
            <a:endParaRPr lang="en-US" altLang="zh-CN" b="1" smtClean="0"/>
          </a:p>
          <a:p>
            <a:pPr marL="742950" lvl="1" indent="-285750" eaLnBrk="1" hangingPunct="1"/>
            <a:r>
              <a:rPr lang="zh-CN" altLang="en-US" smtClean="0"/>
              <a:t>大量的数据服务器是一个更不稳定的因素。一旦某数据服务器牺牲了，并且主控服务器还不知道，主控服务器就会不知情地欺骗客户端，给它们无法连接的服务器列表，导致它们处处碰壁。</a:t>
            </a:r>
          </a:p>
          <a:p>
            <a:pPr marL="742950" lvl="1" indent="-285750" eaLnBrk="1" hangingPunct="1"/>
            <a:r>
              <a:rPr lang="zh-CN" altLang="en-US" smtClean="0"/>
              <a:t>因此，为了整个系统的稳定，数据服务器必须时刻向主控服务器汇报，保持主控服务器对其的完全了解，这个机制，就是心跳机制。</a:t>
            </a:r>
          </a:p>
          <a:p>
            <a:pPr marL="447675" indent="-382588" eaLnBrk="1" hangingPunct="1"/>
            <a:endParaRPr lang="zh-CN" altLang="en-US" smtClean="0"/>
          </a:p>
        </p:txBody>
      </p:sp>
      <p:sp>
        <p:nvSpPr>
          <p:cNvPr id="111620"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容错支持</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83868BB-6ADE-4A6D-AB5B-79957CBF79E2}" type="slidenum">
              <a:rPr lang="zh-CN" altLang="en-US"/>
              <a:pPr>
                <a:defRPr/>
              </a:pPr>
              <a:t>110</a:t>
            </a:fld>
            <a:endParaRPr lang="zh-CN" altLang="en-US"/>
          </a:p>
        </p:txBody>
      </p:sp>
      <p:sp>
        <p:nvSpPr>
          <p:cNvPr id="112643" name="内容占位符 2"/>
          <p:cNvSpPr>
            <a:spLocks noGrp="1"/>
          </p:cNvSpPr>
          <p:nvPr>
            <p:ph idx="4294967295"/>
          </p:nvPr>
        </p:nvSpPr>
        <p:spPr/>
        <p:txBody>
          <a:bodyPr/>
          <a:lstStyle/>
          <a:p>
            <a:pPr marL="447675" indent="-382588" eaLnBrk="1" hangingPunct="1"/>
            <a:r>
              <a:rPr lang="zh-CN" altLang="en-US" smtClean="0"/>
              <a:t>主控服务器</a:t>
            </a:r>
            <a:endParaRPr lang="en-US" altLang="zh-CN" smtClean="0"/>
          </a:p>
          <a:p>
            <a:pPr marL="742950" lvl="1" indent="-285750" eaLnBrk="1" hangingPunct="1"/>
            <a:r>
              <a:rPr lang="zh-CN" altLang="en-US" smtClean="0"/>
              <a:t>作为整个系统的核心，主控服务器死掉，整个分布式文件服务集群将彻底瘫痪。</a:t>
            </a:r>
            <a:endParaRPr lang="en-US" altLang="zh-CN" smtClean="0"/>
          </a:p>
          <a:p>
            <a:pPr marL="742950" lvl="1" indent="-285750" eaLnBrk="1" hangingPunct="1"/>
            <a:r>
              <a:rPr lang="zh-CN" altLang="en-US" smtClean="0"/>
              <a:t>解决策略就是：</a:t>
            </a:r>
            <a:r>
              <a:rPr lang="zh-CN" altLang="en-US" b="1" smtClean="0">
                <a:solidFill>
                  <a:schemeClr val="accent2"/>
                </a:solidFill>
              </a:rPr>
              <a:t>日志</a:t>
            </a:r>
            <a:r>
              <a:rPr lang="zh-CN" altLang="en-US" smtClean="0"/>
              <a:t>。在主控服务器上，所有对文件目录操作的关键步骤都会被写入日志。另外，主控服务器会在某些时刻，将当下的文件目录完整的序列化到本地，这称为</a:t>
            </a:r>
            <a:r>
              <a:rPr lang="zh-CN" altLang="en-US" b="1" smtClean="0">
                <a:solidFill>
                  <a:schemeClr val="accent2"/>
                </a:solidFill>
              </a:rPr>
              <a:t>镜像</a:t>
            </a:r>
            <a:r>
              <a:rPr lang="zh-CN" altLang="en-US" smtClean="0"/>
              <a:t>。</a:t>
            </a:r>
          </a:p>
          <a:p>
            <a:pPr marL="742950" lvl="1" indent="-285750" eaLnBrk="1" hangingPunct="1"/>
            <a:r>
              <a:rPr lang="zh-CN" altLang="en-US" smtClean="0"/>
              <a:t>在主控服务器不幸牺牲，重新启动后，主控服务器会根据</a:t>
            </a:r>
            <a:r>
              <a:rPr lang="zh-CN" altLang="en-US" b="1" smtClean="0">
                <a:solidFill>
                  <a:schemeClr val="accent2"/>
                </a:solidFill>
              </a:rPr>
              <a:t>最近的镜像 </a:t>
            </a:r>
            <a:r>
              <a:rPr lang="en-US" altLang="zh-CN" b="1" smtClean="0">
                <a:solidFill>
                  <a:schemeClr val="accent2"/>
                </a:solidFill>
              </a:rPr>
              <a:t>+ </a:t>
            </a:r>
            <a:r>
              <a:rPr lang="zh-CN" altLang="en-US" b="1" smtClean="0">
                <a:solidFill>
                  <a:schemeClr val="accent2"/>
                </a:solidFill>
              </a:rPr>
              <a:t>镜像之后的所有日志</a:t>
            </a:r>
            <a:r>
              <a:rPr lang="zh-CN" altLang="en-US" smtClean="0"/>
              <a:t>，重建整个文件目录，将服务能力恢复到牺牲前的水准。 </a:t>
            </a:r>
            <a:br>
              <a:rPr lang="zh-CN" altLang="en-US" smtClean="0"/>
            </a:br>
            <a:endParaRPr lang="zh-CN" altLang="en-US" smtClean="0"/>
          </a:p>
          <a:p>
            <a:pPr marL="742950" lvl="1" indent="-285750" eaLnBrk="1" hangingPunct="1"/>
            <a:endParaRPr lang="zh-CN" altLang="en-US" smtClean="0"/>
          </a:p>
        </p:txBody>
      </p:sp>
      <p:sp>
        <p:nvSpPr>
          <p:cNvPr id="112644" name="Rectangle 4"/>
          <p:cNvSpPr>
            <a:spLocks/>
          </p:cNvSpPr>
          <p:nvPr/>
        </p:nvSpPr>
        <p:spPr bwMode="auto">
          <a:xfrm>
            <a:off x="395288" y="274638"/>
            <a:ext cx="8539162" cy="1143000"/>
          </a:xfrm>
          <a:prstGeom prst="rect">
            <a:avLst/>
          </a:prstGeom>
          <a:noFill/>
          <a:ln w="9525">
            <a:noFill/>
            <a:miter lim="800000"/>
            <a:headEnd/>
            <a:tailEnd/>
          </a:ln>
        </p:spPr>
        <p:txBody>
          <a:bodyPr anchor="ctr"/>
          <a:lstStyle/>
          <a:p>
            <a:pPr eaLnBrk="0" hangingPunct="0"/>
            <a:r>
              <a:rPr lang="zh-CN" altLang="en-US" sz="4300">
                <a:solidFill>
                  <a:srgbClr val="11488B"/>
                </a:solidFill>
                <a:latin typeface="Gill Sans MT" pitchFamily="34" charset="0"/>
                <a:ea typeface="华文中宋" pitchFamily="2" charset="-122"/>
              </a:rPr>
              <a:t>容错支持</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AFBB3B5A-8A06-483A-884A-FE7EAB32F142}" type="slidenum">
              <a:rPr lang="zh-CN" altLang="en-US"/>
              <a:pPr>
                <a:defRPr/>
              </a:pPr>
              <a:t>111</a:t>
            </a:fld>
            <a:endParaRPr lang="zh-CN" altLang="en-US"/>
          </a:p>
        </p:txBody>
      </p:sp>
      <p:sp>
        <p:nvSpPr>
          <p:cNvPr id="113667" name="内容占位符 2"/>
          <p:cNvSpPr>
            <a:spLocks noGrp="1"/>
          </p:cNvSpPr>
          <p:nvPr>
            <p:ph idx="4294967295"/>
          </p:nvPr>
        </p:nvSpPr>
        <p:spPr/>
        <p:txBody>
          <a:bodyPr/>
          <a:lstStyle/>
          <a:p>
            <a:pPr marL="447675" indent="-382588" eaLnBrk="1" hangingPunct="1"/>
            <a:r>
              <a:rPr lang="zh-CN" altLang="en-US" smtClean="0"/>
              <a:t>数据正确性保证</a:t>
            </a:r>
            <a:endParaRPr lang="en-US" altLang="zh-CN" smtClean="0"/>
          </a:p>
          <a:p>
            <a:pPr marL="742950" lvl="1" indent="-285750" eaLnBrk="1" hangingPunct="1"/>
            <a:r>
              <a:rPr lang="zh-CN" altLang="en-US" smtClean="0"/>
              <a:t>在分布式文件系统中，同一份文件的数据，是存在大量冗余备份的，必须使所有的数据块内容完全同步，否则，不同客户端读同一个文件会读出不同数据。</a:t>
            </a:r>
          </a:p>
          <a:p>
            <a:pPr marL="742950" lvl="1" indent="-285750" eaLnBrk="1" hangingPunct="1"/>
            <a:r>
              <a:rPr lang="zh-CN" altLang="en-US" smtClean="0"/>
              <a:t>首先，每一个数据块，都有一个版本标识，在</a:t>
            </a:r>
            <a:r>
              <a:rPr lang="en-US" altLang="zh-CN" b="1" smtClean="0"/>
              <a:t>Block</a:t>
            </a:r>
            <a:r>
              <a:rPr lang="zh-CN" altLang="en-US" smtClean="0"/>
              <a:t>类中，用一个长整型的数</a:t>
            </a:r>
            <a:r>
              <a:rPr lang="en-US" altLang="zh-CN" b="1" smtClean="0"/>
              <a:t>generationStamp</a:t>
            </a:r>
            <a:r>
              <a:rPr lang="zh-CN" altLang="en-US" smtClean="0"/>
              <a:t>来表示版本信息（</a:t>
            </a:r>
            <a:r>
              <a:rPr lang="en-US" altLang="zh-CN" smtClean="0"/>
              <a:t>Block</a:t>
            </a:r>
            <a:r>
              <a:rPr lang="zh-CN" altLang="en-US" smtClean="0"/>
              <a:t>类是所有表示数据块的数据结构的基类）</a:t>
            </a:r>
          </a:p>
          <a:p>
            <a:pPr marL="742950" lvl="1" indent="-285750" eaLnBrk="1" hangingPunct="1"/>
            <a:r>
              <a:rPr lang="zh-CN" altLang="en-US" smtClean="0"/>
              <a:t>一旦数据块上的数据有所变化，此版本号将</a:t>
            </a:r>
            <a:r>
              <a:rPr lang="zh-CN" altLang="en-US" b="1" smtClean="0">
                <a:solidFill>
                  <a:srgbClr val="0000CC"/>
                </a:solidFill>
              </a:rPr>
              <a:t>增加</a:t>
            </a:r>
            <a:r>
              <a:rPr lang="zh-CN" altLang="en-US" smtClean="0"/>
              <a:t>。这样的机制保证了各个数据服务器上的数据块，在基本大方向上都是一致的。</a:t>
            </a:r>
          </a:p>
          <a:p>
            <a:pPr marL="742950" lvl="1" indent="-285750" eaLnBrk="1" hangingPunct="1"/>
            <a:endParaRPr lang="zh-CN" altLang="en-US" smtClean="0"/>
          </a:p>
        </p:txBody>
      </p:sp>
      <p:sp>
        <p:nvSpPr>
          <p:cNvPr id="113668" name="Rectangle 4"/>
          <p:cNvSpPr>
            <a:spLocks noGrp="1"/>
          </p:cNvSpPr>
          <p:nvPr>
            <p:ph type="title" idx="4294967295"/>
          </p:nvPr>
        </p:nvSpPr>
        <p:spPr>
          <a:noFill/>
        </p:spPr>
        <p:txBody>
          <a:bodyPr/>
          <a:lstStyle/>
          <a:p>
            <a:r>
              <a:rPr lang="zh-CN" altLang="en-US" smtClean="0"/>
              <a:t>容错支持</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4409B67E-67BA-405C-9B66-2AEAA177574D}" type="slidenum">
              <a:rPr lang="zh-CN" altLang="en-US"/>
              <a:pPr>
                <a:defRPr/>
              </a:pPr>
              <a:t>112</a:t>
            </a:fld>
            <a:endParaRPr lang="zh-CN" altLang="en-US"/>
          </a:p>
        </p:txBody>
      </p:sp>
      <p:sp>
        <p:nvSpPr>
          <p:cNvPr id="114691" name="内容占位符 2"/>
          <p:cNvSpPr>
            <a:spLocks noGrp="1"/>
          </p:cNvSpPr>
          <p:nvPr>
            <p:ph idx="4294967295"/>
          </p:nvPr>
        </p:nvSpPr>
        <p:spPr/>
        <p:txBody>
          <a:bodyPr/>
          <a:lstStyle/>
          <a:p>
            <a:pPr marL="447675" indent="-382588" eaLnBrk="1" hangingPunct="1"/>
            <a:r>
              <a:rPr lang="zh-CN" altLang="en-US" smtClean="0"/>
              <a:t>数据正确性保证</a:t>
            </a:r>
          </a:p>
          <a:p>
            <a:pPr marL="742950" lvl="1" indent="-285750" eaLnBrk="1" hangingPunct="1"/>
            <a:r>
              <a:rPr lang="zh-CN" altLang="en-US" smtClean="0"/>
              <a:t>由于网络的复杂性，简单的版本信息无法保证具体内容的一致性（版本信息与内容无关，可能会出现版本相同，但内容不同的状况）。因此，为了保证数据内容上的一致，必须要依照内容，作出</a:t>
            </a:r>
            <a:r>
              <a:rPr lang="zh-CN" altLang="en-US" b="1" smtClean="0"/>
              <a:t>签名</a:t>
            </a:r>
            <a:r>
              <a:rPr lang="zh-CN" altLang="en-US" smtClean="0"/>
              <a:t>。（所谓的签名一般是奇偶校验）</a:t>
            </a:r>
            <a:endParaRPr lang="en-US" altLang="zh-CN" smtClean="0"/>
          </a:p>
          <a:p>
            <a:pPr marL="742950" lvl="1" indent="-285750" eaLnBrk="1" hangingPunct="1"/>
            <a:r>
              <a:rPr lang="zh-CN" altLang="en-US" smtClean="0"/>
              <a:t>当出现写错误时，调用算法租约恢复（</a:t>
            </a:r>
            <a:r>
              <a:rPr lang="en-US" altLang="zh-CN" b="1" smtClean="0"/>
              <a:t>Lease Recover</a:t>
            </a:r>
            <a:r>
              <a:rPr lang="zh-CN" altLang="en-US" b="1" smtClean="0"/>
              <a:t>）</a:t>
            </a:r>
            <a:r>
              <a:rPr lang="zh-CN" altLang="en-US" smtClean="0"/>
              <a:t>重新写。此算法可以由</a:t>
            </a:r>
            <a:r>
              <a:rPr lang="zh-CN" altLang="en-US" b="1" smtClean="0"/>
              <a:t>客户端</a:t>
            </a:r>
            <a:r>
              <a:rPr lang="zh-CN" altLang="en-US" smtClean="0"/>
              <a:t>或者是</a:t>
            </a:r>
            <a:r>
              <a:rPr lang="zh-CN" altLang="en-US" b="1" smtClean="0"/>
              <a:t>主控服务器</a:t>
            </a:r>
            <a:r>
              <a:rPr lang="zh-CN" altLang="en-US" smtClean="0"/>
              <a:t>发起。</a:t>
            </a:r>
            <a:endParaRPr lang="en-US" altLang="zh-CN" smtClean="0"/>
          </a:p>
        </p:txBody>
      </p:sp>
      <p:sp>
        <p:nvSpPr>
          <p:cNvPr id="114692" name="标题 1"/>
          <p:cNvSpPr>
            <a:spLocks/>
          </p:cNvSpPr>
          <p:nvPr/>
        </p:nvSpPr>
        <p:spPr bwMode="auto">
          <a:xfrm>
            <a:off x="395288" y="274638"/>
            <a:ext cx="8539162" cy="1143000"/>
          </a:xfrm>
          <a:prstGeom prst="rect">
            <a:avLst/>
          </a:prstGeom>
          <a:noFill/>
          <a:ln w="9525">
            <a:noFill/>
            <a:miter lim="800000"/>
            <a:headEnd/>
            <a:tailEnd/>
          </a:ln>
        </p:spPr>
        <p:txBody>
          <a:bodyPr anchor="ctr"/>
          <a:lstStyle/>
          <a:p>
            <a:r>
              <a:rPr lang="zh-CN" altLang="en-US" sz="4300">
                <a:solidFill>
                  <a:srgbClr val="11488B"/>
                </a:solidFill>
                <a:latin typeface="Gill Sans MT" pitchFamily="34" charset="0"/>
                <a:ea typeface="华文中宋" pitchFamily="2" charset="-122"/>
              </a:rPr>
              <a:t>容错支持</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D103A6F8-AA3B-4FF5-9D63-AA8C1BC4CA75}" type="slidenum">
              <a:rPr lang="zh-CN" altLang="en-US"/>
              <a:pPr>
                <a:defRPr/>
              </a:pPr>
              <a:t>113</a:t>
            </a:fld>
            <a:endParaRPr lang="zh-CN" altLang="en-US"/>
          </a:p>
        </p:txBody>
      </p:sp>
      <p:sp>
        <p:nvSpPr>
          <p:cNvPr id="115715" name="标题 1"/>
          <p:cNvSpPr>
            <a:spLocks noGrp="1"/>
          </p:cNvSpPr>
          <p:nvPr>
            <p:ph type="title" idx="4294967295"/>
          </p:nvPr>
        </p:nvSpPr>
        <p:spPr/>
        <p:txBody>
          <a:bodyPr/>
          <a:lstStyle/>
          <a:p>
            <a:pPr eaLnBrk="1" hangingPunct="1"/>
            <a:r>
              <a:rPr lang="zh-CN" altLang="en-US" smtClean="0"/>
              <a:t>容错支持</a:t>
            </a:r>
          </a:p>
        </p:txBody>
      </p:sp>
      <p:sp>
        <p:nvSpPr>
          <p:cNvPr id="115716" name="内容占位符 2"/>
          <p:cNvSpPr>
            <a:spLocks noGrp="1"/>
          </p:cNvSpPr>
          <p:nvPr>
            <p:ph idx="4294967295"/>
          </p:nvPr>
        </p:nvSpPr>
        <p:spPr/>
        <p:txBody>
          <a:bodyPr/>
          <a:lstStyle/>
          <a:p>
            <a:pPr marL="447675" indent="-382588" eaLnBrk="1" hangingPunct="1"/>
            <a:r>
              <a:rPr lang="zh-CN" altLang="en-US" smtClean="0"/>
              <a:t>数据正确性保证</a:t>
            </a:r>
          </a:p>
          <a:p>
            <a:pPr marL="742950" lvl="1" indent="-285750" eaLnBrk="1" hangingPunct="1"/>
            <a:r>
              <a:rPr lang="zh-CN" altLang="en-US" smtClean="0">
                <a:solidFill>
                  <a:srgbClr val="0000CC"/>
                </a:solidFill>
              </a:rPr>
              <a:t>客户端发起</a:t>
            </a:r>
            <a:r>
              <a:rPr lang="zh-CN" altLang="en-US" smtClean="0"/>
              <a:t>。当客户端在写入一个数据包失败后，会发起租约恢复。因为，一次写入失败，不论是何种原因，很有可能就会导致流水线上有的服务器写了，有的没写，从而造成不统一。</a:t>
            </a:r>
          </a:p>
          <a:p>
            <a:pPr marL="742950" lvl="1" indent="-285750" eaLnBrk="1" hangingPunct="1"/>
            <a:r>
              <a:rPr lang="zh-CN" altLang="en-US" smtClean="0">
                <a:solidFill>
                  <a:srgbClr val="0000CC"/>
                </a:solidFill>
              </a:rPr>
              <a:t>主控服务器发起</a:t>
            </a:r>
            <a:r>
              <a:rPr lang="zh-CN" altLang="en-US" smtClean="0"/>
              <a:t>。发起的时机，则是在占有租约的客户端超出一定时限没有续签，这说明客户端可能挂了，在临死前可能干过不利于数据块统一的事情，作为监督者，主控服务器需要发起恢复提示，确保数据同步。</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7DE3E217-9E16-4399-9A0B-CBDEB129C605}" type="slidenum">
              <a:rPr lang="zh-CN" altLang="en-US"/>
              <a:pPr>
                <a:defRPr/>
              </a:pPr>
              <a:t>114</a:t>
            </a:fld>
            <a:endParaRPr lang="zh-CN" altLang="en-US"/>
          </a:p>
        </p:txBody>
      </p:sp>
      <p:sp>
        <p:nvSpPr>
          <p:cNvPr id="116739" name="内容占位符 2"/>
          <p:cNvSpPr>
            <a:spLocks noGrp="1"/>
          </p:cNvSpPr>
          <p:nvPr>
            <p:ph idx="4294967295"/>
          </p:nvPr>
        </p:nvSpPr>
        <p:spPr/>
        <p:txBody>
          <a:bodyPr/>
          <a:lstStyle/>
          <a:p>
            <a:pPr marL="447675" indent="-382588"/>
            <a:r>
              <a:rPr lang="zh-CN" altLang="en-US" smtClean="0"/>
              <a:t>副本的存放是</a:t>
            </a:r>
            <a:r>
              <a:rPr lang="en-US" altLang="zh-CN" smtClean="0"/>
              <a:t>HDFS</a:t>
            </a:r>
            <a:r>
              <a:rPr lang="zh-CN" altLang="en-US" smtClean="0"/>
              <a:t>可靠性和性能的关键。优化的副本存放策略是</a:t>
            </a:r>
            <a:r>
              <a:rPr lang="en-US" altLang="zh-CN" smtClean="0"/>
              <a:t>HDFS</a:t>
            </a:r>
            <a:r>
              <a:rPr lang="zh-CN" altLang="en-US" smtClean="0"/>
              <a:t>区分于其他大部分分布式文件系统的重要特性。</a:t>
            </a:r>
          </a:p>
          <a:p>
            <a:pPr marL="447675" indent="-382588"/>
            <a:r>
              <a:rPr lang="en-US" altLang="zh-CN" smtClean="0"/>
              <a:t>HDFS</a:t>
            </a:r>
            <a:r>
              <a:rPr lang="zh-CN" altLang="en-US" smtClean="0"/>
              <a:t>采用一种称为机架感知</a:t>
            </a:r>
            <a:r>
              <a:rPr lang="en-US" altLang="zh-CN" smtClean="0"/>
              <a:t>(rack-aware)</a:t>
            </a:r>
            <a:r>
              <a:rPr lang="zh-CN" altLang="en-US" smtClean="0"/>
              <a:t>的策略改进副本存放。目前刚起步，策略比较简单。</a:t>
            </a:r>
          </a:p>
        </p:txBody>
      </p:sp>
      <p:sp>
        <p:nvSpPr>
          <p:cNvPr id="116740" name="标题 1"/>
          <p:cNvSpPr>
            <a:spLocks/>
          </p:cNvSpPr>
          <p:nvPr/>
        </p:nvSpPr>
        <p:spPr bwMode="auto">
          <a:xfrm>
            <a:off x="395288" y="274638"/>
            <a:ext cx="8539162" cy="1143000"/>
          </a:xfrm>
          <a:prstGeom prst="rect">
            <a:avLst/>
          </a:prstGeom>
          <a:noFill/>
          <a:ln w="9525">
            <a:noFill/>
            <a:miter lim="800000"/>
            <a:headEnd/>
            <a:tailEnd/>
          </a:ln>
        </p:spPr>
        <p:txBody>
          <a:bodyPr anchor="ctr"/>
          <a:lstStyle/>
          <a:p>
            <a:r>
              <a:rPr lang="zh-CN" altLang="en-US" sz="4300">
                <a:solidFill>
                  <a:srgbClr val="11488B"/>
                </a:solidFill>
                <a:latin typeface="Gill Sans MT" pitchFamily="34" charset="0"/>
                <a:ea typeface="华文中宋" pitchFamily="2" charset="-122"/>
              </a:rPr>
              <a:t>与一般分布式文件系统的重要区别</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9"/>
          <p:cNvSpPr>
            <a:spLocks noGrp="1"/>
          </p:cNvSpPr>
          <p:nvPr>
            <p:ph type="sldNum" sz="quarter" idx="12"/>
          </p:nvPr>
        </p:nvSpPr>
        <p:spPr/>
        <p:txBody>
          <a:bodyPr/>
          <a:lstStyle/>
          <a:p>
            <a:pPr>
              <a:defRPr/>
            </a:pPr>
            <a:fld id="{5D5FCC83-BF20-4585-B80E-D0B615BA3844}" type="slidenum">
              <a:rPr lang="zh-CN" altLang="en-US"/>
              <a:pPr>
                <a:defRPr/>
              </a:pPr>
              <a:t>115</a:t>
            </a:fld>
            <a:endParaRPr lang="zh-CN" altLang="en-US"/>
          </a:p>
        </p:txBody>
      </p:sp>
      <p:pic>
        <p:nvPicPr>
          <p:cNvPr id="117763" name="Picture 2" descr="C:\Users\lenovo\Desktop\hdfsarchitecture.gif"/>
          <p:cNvPicPr>
            <a:picLocks noChangeAspect="1" noChangeArrowheads="1"/>
          </p:cNvPicPr>
          <p:nvPr/>
        </p:nvPicPr>
        <p:blipFill>
          <a:blip r:embed="rId2" cstate="print"/>
          <a:srcRect/>
          <a:stretch>
            <a:fillRect/>
          </a:stretch>
        </p:blipFill>
        <p:spPr bwMode="auto">
          <a:xfrm>
            <a:off x="928688" y="928688"/>
            <a:ext cx="7165975" cy="5286375"/>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9"/>
          <p:cNvSpPr>
            <a:spLocks noGrp="1"/>
          </p:cNvSpPr>
          <p:nvPr>
            <p:ph type="sldNum" sz="quarter" idx="12"/>
          </p:nvPr>
        </p:nvSpPr>
        <p:spPr/>
        <p:txBody>
          <a:bodyPr/>
          <a:lstStyle/>
          <a:p>
            <a:pPr>
              <a:defRPr/>
            </a:pPr>
            <a:fld id="{C345162A-BE84-457A-8DDB-9BC23CBBDF29}" type="slidenum">
              <a:rPr lang="zh-CN" altLang="en-US"/>
              <a:pPr>
                <a:defRPr/>
              </a:pPr>
              <a:t>116</a:t>
            </a:fld>
            <a:endParaRPr lang="zh-CN" altLang="en-US"/>
          </a:p>
        </p:txBody>
      </p:sp>
      <p:sp>
        <p:nvSpPr>
          <p:cNvPr id="118787" name="Rectangle 2"/>
          <p:cNvSpPr>
            <a:spLocks noGrp="1"/>
          </p:cNvSpPr>
          <p:nvPr>
            <p:ph type="title"/>
          </p:nvPr>
        </p:nvSpPr>
        <p:spPr/>
        <p:txBody>
          <a:bodyPr/>
          <a:lstStyle/>
          <a:p>
            <a:r>
              <a:rPr lang="en-US" altLang="zh-CN" smtClean="0"/>
              <a:t>Hadoop</a:t>
            </a:r>
            <a:r>
              <a:rPr lang="zh-CN" altLang="en-US" smtClean="0"/>
              <a:t>相关链接</a:t>
            </a:r>
          </a:p>
        </p:txBody>
      </p:sp>
      <p:sp>
        <p:nvSpPr>
          <p:cNvPr id="118788" name="Rectangle 3"/>
          <p:cNvSpPr>
            <a:spLocks noGrp="1"/>
          </p:cNvSpPr>
          <p:nvPr>
            <p:ph type="body" idx="1"/>
          </p:nvPr>
        </p:nvSpPr>
        <p:spPr/>
        <p:txBody>
          <a:bodyPr/>
          <a:lstStyle/>
          <a:p>
            <a:r>
              <a:rPr kumimoji="1" lang="en-US" altLang="zh-CN" smtClean="0"/>
              <a:t>Hadoop</a:t>
            </a:r>
            <a:r>
              <a:rPr kumimoji="1" lang="zh-CN" altLang="en-US" smtClean="0"/>
              <a:t>官方网站：</a:t>
            </a:r>
            <a:r>
              <a:rPr kumimoji="1" lang="en-US" altLang="zh-CN" smtClean="0"/>
              <a:t> </a:t>
            </a:r>
            <a:r>
              <a:rPr kumimoji="1" lang="en-US" altLang="zh-CN" smtClean="0">
                <a:hlinkClick r:id="rId2"/>
              </a:rPr>
              <a:t>http://hadoop.apache.org/</a:t>
            </a:r>
            <a:endParaRPr kumimoji="1" lang="en-US" altLang="zh-CN" smtClean="0"/>
          </a:p>
          <a:p>
            <a:r>
              <a:rPr kumimoji="1" lang="en-US" altLang="zh-CN" smtClean="0"/>
              <a:t>Hadoop In China </a:t>
            </a:r>
            <a:r>
              <a:rPr kumimoji="1" lang="zh-CN" altLang="en-US" smtClean="0"/>
              <a:t>网站：</a:t>
            </a:r>
            <a:r>
              <a:rPr kumimoji="1" lang="en-US" altLang="zh-CN" smtClean="0"/>
              <a:t> </a:t>
            </a:r>
            <a:r>
              <a:rPr kumimoji="1" lang="en-US" altLang="zh-CN" smtClean="0">
                <a:hlinkClick r:id="rId3"/>
              </a:rPr>
              <a:t>http://www.hadooper.cn/dct/</a:t>
            </a:r>
            <a:endParaRPr kumimoji="1" lang="en-US" altLang="zh-CN" smtClean="0"/>
          </a:p>
          <a:p>
            <a:r>
              <a:rPr kumimoji="1" lang="en-US" altLang="zh-CN" smtClean="0"/>
              <a:t>Hadoop</a:t>
            </a:r>
            <a:r>
              <a:rPr kumimoji="1" lang="zh-CN" altLang="en-US" smtClean="0"/>
              <a:t>社区：</a:t>
            </a:r>
            <a:r>
              <a:rPr kumimoji="1" lang="en-US" altLang="zh-CN" smtClean="0">
                <a:hlinkClick r:id="rId4"/>
              </a:rPr>
              <a:t>http://www.hadoopor.com/</a:t>
            </a:r>
            <a:endParaRPr kumimoji="1" lang="en-US" altLang="zh-CN" smtClean="0"/>
          </a:p>
          <a:p>
            <a:r>
              <a:rPr kumimoji="1" lang="en-US" altLang="zh-CN" smtClean="0"/>
              <a:t>Hadoop</a:t>
            </a:r>
            <a:r>
              <a:rPr kumimoji="1" lang="zh-CN" altLang="en-US" smtClean="0"/>
              <a:t>论坛：</a:t>
            </a:r>
            <a:r>
              <a:rPr kumimoji="1" lang="en-US" altLang="zh-CN" smtClean="0">
                <a:hlinkClick r:id="rId4"/>
              </a:rPr>
              <a:t>http://www.hadoopor.com/</a:t>
            </a:r>
            <a:endParaRPr kumimoji="1" lang="en-US" altLang="zh-CN" smtClean="0"/>
          </a:p>
          <a:p>
            <a:r>
              <a:rPr kumimoji="1" lang="en-US" altLang="zh-CN" smtClean="0"/>
              <a:t>Hadoop  Taiwan User Group</a:t>
            </a:r>
            <a:r>
              <a:rPr kumimoji="1" lang="zh-CN" altLang="en-US" smtClean="0"/>
              <a:t>：</a:t>
            </a:r>
            <a:r>
              <a:rPr kumimoji="1" lang="en-US" altLang="zh-CN" smtClean="0">
                <a:hlinkClick r:id="rId5"/>
              </a:rPr>
              <a:t>http://www.hadoop.tw/</a:t>
            </a:r>
            <a:endParaRPr kumimoji="1" lang="en-US" altLang="zh-CN" smtClean="0"/>
          </a:p>
          <a:p>
            <a:endParaRPr kumimoji="1" lang="zh-CN" altLang="en-US" smtClean="0"/>
          </a:p>
          <a:p>
            <a:endParaRPr lang="zh-CN" altLang="en-US" smtClean="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9"/>
          <p:cNvSpPr>
            <a:spLocks noGrp="1"/>
          </p:cNvSpPr>
          <p:nvPr>
            <p:ph type="sldNum" sz="quarter" idx="12"/>
          </p:nvPr>
        </p:nvSpPr>
        <p:spPr/>
        <p:txBody>
          <a:bodyPr/>
          <a:lstStyle/>
          <a:p>
            <a:pPr>
              <a:defRPr/>
            </a:pPr>
            <a:fld id="{189C1266-4DF4-4665-9E8E-7ADFCFC4D593}" type="slidenum">
              <a:rPr lang="zh-CN" altLang="en-US"/>
              <a:pPr>
                <a:defRPr/>
              </a:pPr>
              <a:t>117</a:t>
            </a:fld>
            <a:endParaRPr lang="zh-CN" altLang="en-US"/>
          </a:p>
        </p:txBody>
      </p:sp>
      <p:sp>
        <p:nvSpPr>
          <p:cNvPr id="4" name="日期占位符 3"/>
          <p:cNvSpPr txBox="1">
            <a:spLocks noGrp="1"/>
          </p:cNvSpPr>
          <p:nvPr/>
        </p:nvSpPr>
        <p:spPr>
          <a:xfrm>
            <a:off x="3662363" y="6300788"/>
            <a:ext cx="2133600" cy="476250"/>
          </a:xfrm>
          <a:prstGeom prst="rect">
            <a:avLst/>
          </a:prstGeom>
          <a:noFill/>
        </p:spPr>
        <p:txBody>
          <a:bodyPr anchor="b"/>
          <a:lstStyle/>
          <a:p>
            <a:pPr algn="r" fontAlgn="auto">
              <a:spcBef>
                <a:spcPts val="0"/>
              </a:spcBef>
              <a:spcAft>
                <a:spcPts val="0"/>
              </a:spcAft>
              <a:defRPr/>
            </a:pPr>
            <a:fld id="{348AB485-A12D-4633-84D5-DEFC3EEC4856}" type="datetime5">
              <a:rPr lang="zh-CN" altLang="en-US" sz="1200">
                <a:solidFill>
                  <a:schemeClr val="bg2">
                    <a:shade val="50000"/>
                    <a:satMod val="200000"/>
                  </a:schemeClr>
                </a:solidFill>
                <a:latin typeface="+mn-lt"/>
                <a:ea typeface="+mn-ea"/>
              </a:rPr>
              <a:pPr algn="r" fontAlgn="auto">
                <a:spcBef>
                  <a:spcPts val="0"/>
                </a:spcBef>
                <a:spcAft>
                  <a:spcPts val="0"/>
                </a:spcAft>
                <a:defRPr/>
              </a:pPr>
              <a:t>2017/10/24</a:t>
            </a:fld>
            <a:endParaRPr lang="zh-CN" altLang="en-US" sz="1200">
              <a:solidFill>
                <a:schemeClr val="bg2">
                  <a:shade val="50000"/>
                  <a:satMod val="200000"/>
                </a:schemeClr>
              </a:solidFill>
              <a:latin typeface="+mn-lt"/>
              <a:ea typeface="+mn-ea"/>
            </a:endParaRPr>
          </a:p>
        </p:txBody>
      </p:sp>
      <p:sp>
        <p:nvSpPr>
          <p:cNvPr id="6" name="灯片编号占位符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A90CC6C3-DF12-4FDF-9AE0-E646D5648D29}" type="slidenum">
              <a:rPr lang="zh-CN" altLang="en-US" sz="1200">
                <a:solidFill>
                  <a:schemeClr val="bg2">
                    <a:shade val="50000"/>
                    <a:satMod val="200000"/>
                  </a:schemeClr>
                </a:solidFill>
                <a:latin typeface="+mn-lt"/>
                <a:ea typeface="+mn-ea"/>
              </a:rPr>
              <a:pPr algn="ctr" fontAlgn="auto">
                <a:spcBef>
                  <a:spcPts val="0"/>
                </a:spcBef>
                <a:spcAft>
                  <a:spcPts val="0"/>
                </a:spcAft>
                <a:defRPr/>
              </a:pPr>
              <a:t>117</a:t>
            </a:fld>
            <a:endParaRPr lang="zh-CN" altLang="en-US" sz="1200">
              <a:solidFill>
                <a:schemeClr val="bg2">
                  <a:shade val="50000"/>
                  <a:satMod val="200000"/>
                </a:schemeClr>
              </a:solidFill>
              <a:latin typeface="+mn-lt"/>
              <a:ea typeface="+mn-ea"/>
            </a:endParaRPr>
          </a:p>
        </p:txBody>
      </p:sp>
      <p:sp>
        <p:nvSpPr>
          <p:cNvPr id="119814" name="Rectangle 2"/>
          <p:cNvSpPr>
            <a:spLocks noGrp="1"/>
          </p:cNvSpPr>
          <p:nvPr>
            <p:ph type="title" idx="4294967295"/>
          </p:nvPr>
        </p:nvSpPr>
        <p:spPr>
          <a:noFill/>
        </p:spPr>
        <p:txBody>
          <a:bodyPr/>
          <a:lstStyle/>
          <a:p>
            <a:r>
              <a:rPr lang="zh-CN" altLang="en-US" smtClean="0"/>
              <a:t>总结</a:t>
            </a:r>
          </a:p>
        </p:txBody>
      </p:sp>
      <p:sp>
        <p:nvSpPr>
          <p:cNvPr id="119815" name="Rectangle 3"/>
          <p:cNvSpPr>
            <a:spLocks noGrp="1"/>
          </p:cNvSpPr>
          <p:nvPr>
            <p:ph type="body" idx="4294967295"/>
          </p:nvPr>
        </p:nvSpPr>
        <p:spPr/>
        <p:txBody>
          <a:bodyPr/>
          <a:lstStyle/>
          <a:p>
            <a:r>
              <a:rPr lang="en-US" altLang="zh-CN" sz="3200" smtClean="0"/>
              <a:t>1. </a:t>
            </a:r>
            <a:r>
              <a:rPr lang="zh-CN" altLang="en-US" sz="3200" smtClean="0"/>
              <a:t>文件系统</a:t>
            </a:r>
          </a:p>
          <a:p>
            <a:r>
              <a:rPr lang="en-US" altLang="zh-CN" sz="3200" smtClean="0"/>
              <a:t>2. </a:t>
            </a:r>
            <a:r>
              <a:rPr lang="zh-CN" altLang="en-US" sz="3200" smtClean="0"/>
              <a:t>分布式文件系统</a:t>
            </a:r>
          </a:p>
          <a:p>
            <a:r>
              <a:rPr lang="en-US" altLang="zh-CN" sz="3200" smtClean="0"/>
              <a:t>3. </a:t>
            </a:r>
            <a:r>
              <a:rPr lang="zh-CN" altLang="en-US" sz="3200" smtClean="0"/>
              <a:t>典型分布式文件系统</a:t>
            </a:r>
          </a:p>
          <a:p>
            <a:r>
              <a:rPr lang="en-US" altLang="zh-CN" sz="3200" smtClean="0"/>
              <a:t>4. Goolge File System </a:t>
            </a:r>
            <a:endParaRPr lang="zh-CN" altLang="en-US" sz="3200" smtClean="0"/>
          </a:p>
          <a:p>
            <a:r>
              <a:rPr lang="en-US" altLang="zh-CN" sz="3200" smtClean="0"/>
              <a:t>5. Hadoop Distributed File System</a:t>
            </a:r>
          </a:p>
          <a:p>
            <a:endParaRPr lang="zh-CN" altLang="en-US" sz="320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zhankunlin">
  <a:themeElements>
    <a:clrScheme name="zhankunl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zhankunlin">
      <a:majorFont>
        <a:latin typeface="Gill Sans MT"/>
        <a:ea typeface="华文中宋"/>
        <a:cs typeface=""/>
      </a:majorFont>
      <a:minorFont>
        <a:latin typeface="Gill Sans MT"/>
        <a:ea typeface="华文中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zhankunl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20870</TotalTime>
  <Words>9615</Words>
  <Application>Microsoft Macintosh PowerPoint</Application>
  <PresentationFormat>全屏显示(4:3)</PresentationFormat>
  <Paragraphs>843</Paragraphs>
  <Slides>117</Slides>
  <Notes>27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117</vt:i4>
      </vt:variant>
    </vt:vector>
  </HeadingPairs>
  <TitlesOfParts>
    <vt:vector size="133" baseType="lpstr">
      <vt:lpstr>Arial</vt:lpstr>
      <vt:lpstr>Arial Black</vt:lpstr>
      <vt:lpstr>Calibri</vt:lpstr>
      <vt:lpstr>Courier</vt:lpstr>
      <vt:lpstr>Gill Sans MT</vt:lpstr>
      <vt:lpstr>Times</vt:lpstr>
      <vt:lpstr>Times New Roman</vt:lpstr>
      <vt:lpstr>Verdana</vt:lpstr>
      <vt:lpstr>Wingdings</vt:lpstr>
      <vt:lpstr>Wingdings 2</vt:lpstr>
      <vt:lpstr>黑体</vt:lpstr>
      <vt:lpstr>华文中宋</vt:lpstr>
      <vt:lpstr>楷体_GB2312</vt:lpstr>
      <vt:lpstr>宋体</vt:lpstr>
      <vt:lpstr>幼圆</vt:lpstr>
      <vt:lpstr>zhankunlin</vt:lpstr>
      <vt:lpstr>Cloud Computing</vt:lpstr>
      <vt:lpstr>提纲</vt:lpstr>
      <vt:lpstr>File system</vt:lpstr>
      <vt:lpstr>文件系统</vt:lpstr>
      <vt:lpstr>File system</vt:lpstr>
      <vt:lpstr>Attributes of a file</vt:lpstr>
      <vt:lpstr>File system modules</vt:lpstr>
      <vt:lpstr>File system operation </vt:lpstr>
      <vt:lpstr>UNIX文件系统操作</vt:lpstr>
      <vt:lpstr>文件系统的四个层次</vt:lpstr>
      <vt:lpstr>传统文件系统的缺陷</vt:lpstr>
      <vt:lpstr>提纲</vt:lpstr>
      <vt:lpstr>分布式文件系统的需求</vt:lpstr>
      <vt:lpstr>分布式文件系统的需求</vt:lpstr>
      <vt:lpstr>分布式文件系统的需求</vt:lpstr>
      <vt:lpstr>分布式文件系统的需求</vt:lpstr>
      <vt:lpstr>分布式文件系统的发展</vt:lpstr>
      <vt:lpstr>分布式文件系统的发展</vt:lpstr>
      <vt:lpstr>分布式文件系统的发展</vt:lpstr>
      <vt:lpstr>分布式文件系统的发展</vt:lpstr>
      <vt:lpstr>分布式文件系统的发展</vt:lpstr>
      <vt:lpstr>The definition of Distributed file system</vt:lpstr>
      <vt:lpstr>分布式文件系统的组成</vt:lpstr>
      <vt:lpstr>文件服务</vt:lpstr>
      <vt:lpstr>文件服务</vt:lpstr>
      <vt:lpstr>文件服务</vt:lpstr>
      <vt:lpstr>目录服务</vt:lpstr>
      <vt:lpstr>目录服务</vt:lpstr>
      <vt:lpstr>目录服务</vt:lpstr>
      <vt:lpstr>文件共享语义</vt:lpstr>
      <vt:lpstr>文件共享语义</vt:lpstr>
      <vt:lpstr>文件共享语义</vt:lpstr>
      <vt:lpstr>文件共享语义</vt:lpstr>
      <vt:lpstr>文件共享语义</vt:lpstr>
      <vt:lpstr>提纲</vt:lpstr>
      <vt:lpstr>典型分布式文件系统 </vt:lpstr>
      <vt:lpstr>NFS</vt:lpstr>
      <vt:lpstr>NFS的特点</vt:lpstr>
      <vt:lpstr>NFS Architecture (1)</vt:lpstr>
      <vt:lpstr>NFS Architecture (2)</vt:lpstr>
      <vt:lpstr>Communication</vt:lpstr>
      <vt:lpstr>Andrew File System</vt:lpstr>
      <vt:lpstr>PowerPoint 演示文稿</vt:lpstr>
      <vt:lpstr>PowerPoint 演示文稿</vt:lpstr>
      <vt:lpstr>PowerPoint 演示文稿</vt:lpstr>
      <vt:lpstr>PowerPoint 演示文稿</vt:lpstr>
      <vt:lpstr>PowerPoint 演示文稿</vt:lpstr>
      <vt:lpstr>PowerPoint 演示文稿</vt:lpstr>
      <vt:lpstr>Coda</vt:lpstr>
      <vt:lpstr>xFS</vt:lpstr>
      <vt:lpstr>SpriteFS</vt:lpstr>
      <vt:lpstr>Lustre</vt:lpstr>
      <vt:lpstr>Ceph</vt:lpstr>
      <vt:lpstr>提纲</vt:lpstr>
      <vt:lpstr>Google的各种产品</vt:lpstr>
      <vt:lpstr>Google云计算数据中心</vt:lpstr>
      <vt:lpstr>Google云计算技术</vt:lpstr>
      <vt:lpstr>Motivation</vt:lpstr>
      <vt:lpstr>GFS的技术环境</vt:lpstr>
      <vt:lpstr>GFS的设计背景</vt:lpstr>
      <vt:lpstr>PowerPoint 演示文稿</vt:lpstr>
      <vt:lpstr>GFS架构</vt:lpstr>
      <vt:lpstr>GFS架构</vt:lpstr>
      <vt:lpstr>Master</vt:lpstr>
      <vt:lpstr>Chunkserver</vt:lpstr>
      <vt:lpstr>Chunkserver</vt:lpstr>
      <vt:lpstr>Client</vt:lpstr>
      <vt:lpstr>系统交互</vt:lpstr>
      <vt:lpstr>写操作控制流程图</vt:lpstr>
      <vt:lpstr>数据流</vt:lpstr>
      <vt:lpstr>System Interaction Steps</vt:lpstr>
      <vt:lpstr>System Interaction Steps</vt:lpstr>
      <vt:lpstr>System Interaction Steps</vt:lpstr>
      <vt:lpstr>System Interaction Steps</vt:lpstr>
      <vt:lpstr>Read process</vt:lpstr>
      <vt:lpstr>Read process</vt:lpstr>
      <vt:lpstr>Write process</vt:lpstr>
      <vt:lpstr>Write process</vt:lpstr>
      <vt:lpstr>Write process</vt:lpstr>
      <vt:lpstr>Write process</vt:lpstr>
      <vt:lpstr>PowerPoint 演示文稿</vt:lpstr>
      <vt:lpstr>PowerPoint 演示文稿</vt:lpstr>
      <vt:lpstr>PowerPoint 演示文稿</vt:lpstr>
      <vt:lpstr>High availability</vt:lpstr>
      <vt:lpstr>PowerPoint 演示文稿</vt:lpstr>
      <vt:lpstr>数据完整性</vt:lpstr>
      <vt:lpstr>数据完整性</vt:lpstr>
      <vt:lpstr>提纲</vt:lpstr>
      <vt:lpstr>Hadoop起源</vt:lpstr>
      <vt:lpstr>Hadoop子项目</vt:lpstr>
      <vt:lpstr>Hadoop子项目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文件读取</vt:lpstr>
      <vt:lpstr>PowerPoint 演示文稿</vt:lpstr>
      <vt:lpstr>PowerPoint 演示文稿</vt:lpstr>
      <vt:lpstr>PowerPoint 演示文稿</vt:lpstr>
      <vt:lpstr>PowerPoint 演示文稿</vt:lpstr>
      <vt:lpstr>PowerPoint 演示文稿</vt:lpstr>
      <vt:lpstr>PowerPoint 演示文稿</vt:lpstr>
      <vt:lpstr>容错支持</vt:lpstr>
      <vt:lpstr>PowerPoint 演示文稿</vt:lpstr>
      <vt:lpstr>PowerPoint 演示文稿</vt:lpstr>
      <vt:lpstr>容错支持</vt:lpstr>
      <vt:lpstr>PowerPoint 演示文稿</vt:lpstr>
      <vt:lpstr>容错支持</vt:lpstr>
      <vt:lpstr>PowerPoint 演示文稿</vt:lpstr>
      <vt:lpstr>PowerPoint 演示文稿</vt:lpstr>
      <vt:lpstr>Hadoop相关链接</vt:lpstr>
      <vt:lpstr>总结</vt:lpstr>
    </vt:vector>
  </TitlesOfParts>
  <Company>DB Group, Tsinghua University</Company>
  <LinksUpToDate>false</LinksUpToDate>
  <SharedDoc>false</SharedDoc>
  <HyperlinksChanged>false</HyperlinksChanged>
  <AppVersion>15.0023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Database Systems</dc:title>
  <dc:creator>Hao Wu</dc:creator>
  <cp:lastModifiedBy>luck1674</cp:lastModifiedBy>
  <cp:revision>1298</cp:revision>
  <dcterms:created xsi:type="dcterms:W3CDTF">2007-09-19T09:41:51Z</dcterms:created>
  <dcterms:modified xsi:type="dcterms:W3CDTF">2017-10-24T07:13:02Z</dcterms:modified>
</cp:coreProperties>
</file>